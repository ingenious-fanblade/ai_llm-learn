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40E967C-CD32-4A6A-8B5B-B74BF5F0E3DE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7239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7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LLM Watermarking for</a:t>
            </a:r>
          </a:p>
          <a:p>
            <a:pPr algn="l">
              <a:defRPr sz="42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70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Intellectual Property Protection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0576C7-1F34-4D56-919F-7935D6697BCD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Revised comparative presentation: KGW, EXP, and Combined KGW-EXP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A96FDA-5D34-4CB4-B649-50F24EDAF4E0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Guo Yutai, Zhong Yimin, Wang Yanzhi, Ouyang Zhaohong,</a:t>
            </a:r>
          </a:p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Qin Xiaoyu, Yao Hanbin | June 22, 2026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D0E677-37E8-4F47-BE9B-6C8AD2BC49FC}"/>
              </a:ext>
            </a:extLst>
          </p:cNvPr>
          <p:cNvSpPr>
            <a:spLocks noGrp="1"/>
          </p:cNvSpPr>
          <p:nvPr/>
        </p:nvSpPr>
        <p:spPr>
          <a:xfrm>
            <a:off x="7524750" y="819150"/>
            <a:ext cx="9525" cy="4762500"/>
          </a:xfrm>
          <a:prstGeom prst="rect">
            <a:avLst/>
          </a:prstGeom>
          <a:solidFill>
            <a:srgbClr val="D8D2C8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061838-9A2D-4635-B6AD-E093F4168403}"/>
              </a:ext>
            </a:extLst>
          </p:cNvPr>
          <p:cNvSpPr>
            <a:spLocks noGrp="1"/>
          </p:cNvSpPr>
          <p:nvPr/>
        </p:nvSpPr>
        <p:spPr>
          <a:xfrm>
            <a:off x="7905750" y="8382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Revision focus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0270CC-86BF-4B5B-AAAB-C91A7E4E6828}"/>
              </a:ext>
            </a:extLst>
          </p:cNvPr>
          <p:cNvSpPr>
            <a:spLocks noGrp="1"/>
          </p:cNvSpPr>
          <p:nvPr/>
        </p:nvSpPr>
        <p:spPr>
          <a:xfrm>
            <a:off x="7905750" y="1162050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paper now adds a fusion method that embeds both KGW and EXP signals in one generation pipeline.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41BB3D-B883-4B0F-9139-81D70A04828B}"/>
              </a:ext>
            </a:extLst>
          </p:cNvPr>
          <p:cNvSpPr>
            <a:spLocks noGrp="1"/>
          </p:cNvSpPr>
          <p:nvPr/>
        </p:nvSpPr>
        <p:spPr>
          <a:xfrm>
            <a:off x="7905750" y="2247900"/>
            <a:ext cx="952500" cy="266700"/>
          </a:xfrm>
          <a:prstGeom prst="rect">
            <a:avLst/>
          </a:prstGeom>
          <a:solidFill>
            <a:srgbClr val="DCEBE4"/>
          </a:solidFill>
          <a:ln w="9525">
            <a:solidFill>
              <a:srgbClr val="26705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C64E97-DCAA-40FE-8DB1-AA6365047FD7}"/>
              </a:ext>
            </a:extLst>
          </p:cNvPr>
          <p:cNvSpPr>
            <a:spLocks noGrp="1"/>
          </p:cNvSpPr>
          <p:nvPr/>
        </p:nvSpPr>
        <p:spPr>
          <a:xfrm>
            <a:off x="7981950" y="22955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D5E648-D942-4A37-A867-A1173D4DBC59}"/>
              </a:ext>
            </a:extLst>
          </p:cNvPr>
          <p:cNvSpPr>
            <a:spLocks noGrp="1"/>
          </p:cNvSpPr>
          <p:nvPr/>
        </p:nvSpPr>
        <p:spPr>
          <a:xfrm>
            <a:off x="9067800" y="21812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Green-list</a:t>
            </a:r>
          </a:p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logit bias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66C2D8-6F7B-4598-B372-55928A42AE55}"/>
              </a:ext>
            </a:extLst>
          </p:cNvPr>
          <p:cNvSpPr>
            <a:spLocks noGrp="1"/>
          </p:cNvSpPr>
          <p:nvPr/>
        </p:nvSpPr>
        <p:spPr>
          <a:xfrm>
            <a:off x="7905750" y="289560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4F022F-950B-439D-9676-A8C2E7AA4F6B}"/>
              </a:ext>
            </a:extLst>
          </p:cNvPr>
          <p:cNvSpPr>
            <a:spLocks noGrp="1"/>
          </p:cNvSpPr>
          <p:nvPr/>
        </p:nvSpPr>
        <p:spPr>
          <a:xfrm>
            <a:off x="7905750" y="3257550"/>
            <a:ext cx="952500" cy="26670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B915FA-96EC-48AE-A1C7-F9752CD30DED}"/>
              </a:ext>
            </a:extLst>
          </p:cNvPr>
          <p:cNvSpPr>
            <a:spLocks noGrp="1"/>
          </p:cNvSpPr>
          <p:nvPr/>
        </p:nvSpPr>
        <p:spPr>
          <a:xfrm>
            <a:off x="7981950" y="330517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311345-B059-4426-8BE6-03D9EBF0B87A}"/>
              </a:ext>
            </a:extLst>
          </p:cNvPr>
          <p:cNvSpPr>
            <a:spLocks noGrp="1"/>
          </p:cNvSpPr>
          <p:nvPr/>
        </p:nvSpPr>
        <p:spPr>
          <a:xfrm>
            <a:off x="9067800" y="319087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Exponential</a:t>
            </a:r>
          </a:p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resampling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21CCCF-9E4F-4EAD-9EB6-6751DFD7CF19}"/>
              </a:ext>
            </a:extLst>
          </p:cNvPr>
          <p:cNvSpPr>
            <a:spLocks noGrp="1"/>
          </p:cNvSpPr>
          <p:nvPr/>
        </p:nvSpPr>
        <p:spPr>
          <a:xfrm>
            <a:off x="7905750" y="3905250"/>
            <a:ext cx="3238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6B092B4-E065-4710-B7AE-4A65D6ECBA97}"/>
              </a:ext>
            </a:extLst>
          </p:cNvPr>
          <p:cNvSpPr>
            <a:spLocks noGrp="1"/>
          </p:cNvSpPr>
          <p:nvPr/>
        </p:nvSpPr>
        <p:spPr>
          <a:xfrm>
            <a:off x="7905750" y="4267200"/>
            <a:ext cx="1066800" cy="266700"/>
          </a:xfrm>
          <a:prstGeom prst="rect">
            <a:avLst/>
          </a:prstGeom>
          <a:solidFill>
            <a:srgbClr val="F1E5C8"/>
          </a:solidFill>
          <a:ln w="9525">
            <a:solidFill>
              <a:srgbClr val="B7892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C1DB37-58C2-4BE5-8D04-0160113E5A95}"/>
              </a:ext>
            </a:extLst>
          </p:cNvPr>
          <p:cNvSpPr>
            <a:spLocks noGrp="1"/>
          </p:cNvSpPr>
          <p:nvPr/>
        </p:nvSpPr>
        <p:spPr>
          <a:xfrm>
            <a:off x="7981950" y="4314825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BDC85F-8449-496C-B305-30220872FEC9}"/>
              </a:ext>
            </a:extLst>
          </p:cNvPr>
          <p:cNvSpPr>
            <a:spLocks noGrp="1"/>
          </p:cNvSpPr>
          <p:nvPr/>
        </p:nvSpPr>
        <p:spPr>
          <a:xfrm>
            <a:off x="9144000" y="4181475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Two-stage embedding</a:t>
            </a:r>
          </a:p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+ Fisher detection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9F06F7-CD1A-4403-A267-07E3AF5DCAEB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6191250" cy="14287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C4237-98F7-4B78-9BD8-C4D9144DA5D0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Presentation route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9C8315-5F55-416D-BD4E-CEBC64968552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542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Evaluation metrics first, then experimental result analysis, then summary.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434E27-971E-4944-98F4-B019B1522EE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8CB758-0681-472D-8D76-CBF2F3D1CDD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 title page and introduction.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95A54D-5CC1-48E0-A9F9-8CA78BE9866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191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kicker-2-marker">
            <a:extLst>
              <a:ext uri="{FF2B5EF4-FFF2-40B4-BE49-F238E27FC236}">
                <a16:creationId xmlns:a16="http://schemas.microsoft.com/office/drawing/2014/main" id="{98B3BCDD-AF75-40CB-8821-658D3ED25FE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2-label">
            <a:extLst>
              <a:ext uri="{FF2B5EF4-FFF2-40B4-BE49-F238E27FC236}">
                <a16:creationId xmlns:a16="http://schemas.microsoft.com/office/drawing/2014/main" id="{678F8DCE-88EA-4669-8D50-7CD1E23B6671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REVISION FRAME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A09870-5616-429C-BDAC-53EA6D2DF3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revision turns a two-method comparison into a fusion-method study.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3C3109-02EF-4C9D-A7CF-8811BE77C48D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16B922-4744-4097-A344-F39C54A77818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590550" cy="59055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1F19B3-8315-4E4E-8335-C1A923737803}"/>
              </a:ext>
            </a:extLst>
          </p:cNvPr>
          <p:cNvSpPr>
            <a:spLocks noGrp="1"/>
          </p:cNvSpPr>
          <p:nvPr/>
        </p:nvSpPr>
        <p:spPr>
          <a:xfrm>
            <a:off x="742950" y="212407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829E91-DA29-4BEB-9E8B-3F6F6B6B4542}"/>
              </a:ext>
            </a:extLst>
          </p:cNvPr>
          <p:cNvSpPr>
            <a:spLocks noGrp="1"/>
          </p:cNvSpPr>
          <p:nvPr/>
        </p:nvSpPr>
        <p:spPr>
          <a:xfrm>
            <a:off x="1562100" y="20002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Original baseline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0D03B73-D0C7-4DBC-AD56-B39EE2EB6F91}"/>
              </a:ext>
            </a:extLst>
          </p:cNvPr>
          <p:cNvSpPr>
            <a:spLocks noGrp="1"/>
          </p:cNvSpPr>
          <p:nvPr/>
        </p:nvSpPr>
        <p:spPr>
          <a:xfrm>
            <a:off x="1562100" y="22860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 and EXP are reproduced under unified conditions.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05567D-68D5-487B-AF52-58D10B23F50C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9525" cy="22860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A47304-4051-4BBE-8D22-02ED86D02BBF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590550" cy="590550"/>
          </a:xfrm>
          <a:prstGeom prst="rect">
            <a:avLst/>
          </a:prstGeom>
          <a:solidFill>
            <a:srgbClr val="F5DED7"/>
          </a:solidFill>
          <a:ln w="9525">
            <a:solidFill>
              <a:srgbClr val="C7634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4FB925-3D88-415A-8C2F-6FCAAD7842B4}"/>
              </a:ext>
            </a:extLst>
          </p:cNvPr>
          <p:cNvSpPr>
            <a:spLocks noGrp="1"/>
          </p:cNvSpPr>
          <p:nvPr/>
        </p:nvSpPr>
        <p:spPr>
          <a:xfrm>
            <a:off x="742950" y="298132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3D4F38-2E0E-49C2-97C5-DCD71EBFD517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Observed bottleneck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812DEC-D57F-4B45-9B7C-554C35964BBA}"/>
              </a:ext>
            </a:extLst>
          </p:cNvPr>
          <p:cNvSpPr>
            <a:spLocks noGrp="1"/>
          </p:cNvSpPr>
          <p:nvPr/>
        </p:nvSpPr>
        <p:spPr>
          <a:xfrm>
            <a:off x="1562100" y="31432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Single token-level watermarks degrade under synonym substitution and deletion.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55C97A-6C80-440F-BDCF-C0C4D4AE3AA2}"/>
              </a:ext>
            </a:extLst>
          </p:cNvPr>
          <p:cNvSpPr>
            <a:spLocks noGrp="1"/>
          </p:cNvSpPr>
          <p:nvPr/>
        </p:nvSpPr>
        <p:spPr>
          <a:xfrm>
            <a:off x="1028700" y="3486150"/>
            <a:ext cx="9525" cy="22860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F5B72D-FE41-4127-B5E9-9E39AA12789C}"/>
              </a:ext>
            </a:extLst>
          </p:cNvPr>
          <p:cNvSpPr>
            <a:spLocks noGrp="1"/>
          </p:cNvSpPr>
          <p:nvPr/>
        </p:nvSpPr>
        <p:spPr>
          <a:xfrm>
            <a:off x="742950" y="3714750"/>
            <a:ext cx="590550" cy="590550"/>
          </a:xfrm>
          <a:prstGeom prst="rect">
            <a:avLst/>
          </a:prstGeom>
          <a:solidFill>
            <a:srgbClr val="F1E5C8"/>
          </a:solidFill>
          <a:ln w="9525">
            <a:solidFill>
              <a:srgbClr val="B7892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013161-4291-45D6-B621-FECA53EAF920}"/>
              </a:ext>
            </a:extLst>
          </p:cNvPr>
          <p:cNvSpPr>
            <a:spLocks noGrp="1"/>
          </p:cNvSpPr>
          <p:nvPr/>
        </p:nvSpPr>
        <p:spPr>
          <a:xfrm>
            <a:off x="742950" y="383857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29952F-A8FD-4508-870A-AA7BF4F76C21}"/>
              </a:ext>
            </a:extLst>
          </p:cNvPr>
          <p:cNvSpPr>
            <a:spLocks noGrp="1"/>
          </p:cNvSpPr>
          <p:nvPr/>
        </p:nvSpPr>
        <p:spPr>
          <a:xfrm>
            <a:off x="1562100" y="3714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New contribution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A79130-1E02-4B9D-96FE-B873D6CB65AA}"/>
              </a:ext>
            </a:extLst>
          </p:cNvPr>
          <p:cNvSpPr>
            <a:spLocks noGrp="1"/>
          </p:cNvSpPr>
          <p:nvPr/>
        </p:nvSpPr>
        <p:spPr>
          <a:xfrm>
            <a:off x="1562100" y="40005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KGW-EXP overlays KGW logit bias with EXP resampling.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8DCE11-2976-4891-8193-6E975BAAAE9C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9525" cy="22860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A9B752-9EA2-48AB-A4C1-7FA72EE209C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590550" cy="590550"/>
          </a:xfrm>
          <a:prstGeom prst="rect">
            <a:avLst/>
          </a:prstGeom>
          <a:solidFill>
            <a:srgbClr val="F1E5C8"/>
          </a:solidFill>
          <a:ln w="9525">
            <a:solidFill>
              <a:srgbClr val="B7892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B6EA18-DDD8-46DD-BB78-31651F4DA373}"/>
              </a:ext>
            </a:extLst>
          </p:cNvPr>
          <p:cNvSpPr>
            <a:spLocks noGrp="1"/>
          </p:cNvSpPr>
          <p:nvPr/>
        </p:nvSpPr>
        <p:spPr>
          <a:xfrm>
            <a:off x="742950" y="4695825"/>
            <a:ext cx="590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82BF-2B93-4C77-B75C-95BA9577CD46}"/>
              </a:ext>
            </a:extLst>
          </p:cNvPr>
          <p:cNvSpPr>
            <a:spLocks noGrp="1"/>
          </p:cNvSpPr>
          <p:nvPr/>
        </p:nvSpPr>
        <p:spPr>
          <a:xfrm>
            <a:off x="1562100" y="4572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Joint decision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494DD2-F818-4717-A7F1-9DC83DA225B8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Fisher's method fuses KGW and EXP p-values for the final detector.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312F7E4-9C32-4787-B033-BBEA0ED63568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3524250" cy="22992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053007-36B0-4845-AA57-EB1296242880}"/>
              </a:ext>
            </a:extLst>
          </p:cNvPr>
          <p:cNvSpPr>
            <a:spLocks noGrp="1"/>
          </p:cNvSpPr>
          <p:nvPr/>
        </p:nvSpPr>
        <p:spPr>
          <a:xfrm>
            <a:off x="7000874" y="2095500"/>
            <a:ext cx="95665" cy="2299252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7A5738-B242-4404-9ED3-3CF2083C5BE7}"/>
              </a:ext>
            </a:extLst>
          </p:cNvPr>
          <p:cNvSpPr>
            <a:spLocks noGrp="1"/>
          </p:cNvSpPr>
          <p:nvPr/>
        </p:nvSpPr>
        <p:spPr>
          <a:xfrm>
            <a:off x="7286625" y="23622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changed in the story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78E2CB-41AE-4578-8B92-E3DB465EF944}"/>
              </a:ext>
            </a:extLst>
          </p:cNvPr>
          <p:cNvSpPr>
            <a:spLocks noGrp="1"/>
          </p:cNvSpPr>
          <p:nvPr/>
        </p:nvSpPr>
        <p:spPr>
          <a:xfrm>
            <a:off x="7286625" y="2819400"/>
            <a:ext cx="26193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The central claim is no longer only that EXP beats KGW under benign settings. The updated claim is that complementary token-level signals can materially improve robustness.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E8B0C1-77CF-4CCE-BADD-CB106C346E9F}"/>
              </a:ext>
            </a:extLst>
          </p:cNvPr>
          <p:cNvSpPr>
            <a:spLocks noGrp="1"/>
          </p:cNvSpPr>
          <p:nvPr/>
        </p:nvSpPr>
        <p:spPr>
          <a:xfrm>
            <a:off x="7286625" y="4057650"/>
            <a:ext cx="24765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C569CC4-D9E1-40CE-BE77-4DF428F41B3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C9E35C6-A9F0-4B11-8202-6A7DDA71AAC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Sections 1.3-1.4 and 2.1.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F35A35-50A1-42B6-A6E9-9D804A8BE63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8210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kicker-3-marker">
            <a:extLst>
              <a:ext uri="{FF2B5EF4-FFF2-40B4-BE49-F238E27FC236}">
                <a16:creationId xmlns:a16="http://schemas.microsoft.com/office/drawing/2014/main" id="{5C14439D-7C16-493D-9FC0-A810DA47074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3-label">
            <a:extLst>
              <a:ext uri="{FF2B5EF4-FFF2-40B4-BE49-F238E27FC236}">
                <a16:creationId xmlns:a16="http://schemas.microsoft.com/office/drawing/2014/main" id="{C7FB9937-0228-479D-83AE-1596D88CA278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847592-340D-4298-BD19-EFFA37988F5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One metric lens is used for KGW, EXP, and Combined.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498767-4904-4DDF-A82C-BB313B64A5D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51A29-4D91-498B-84DB-C16733343638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14325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AFF364-779A-4B4D-BA7A-EC33D4509A6F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3143250" cy="7620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796184-FCD2-46DA-B7F5-47E512E18214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495300" cy="495300"/>
          </a:xfrm>
          <a:prstGeom prst="rect">
            <a:avLst/>
          </a:prstGeom>
          <a:solidFill>
            <a:srgbClr val="DCE8FA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BAD7D0-E91C-4E38-B9FA-4EF3A314A29E}"/>
              </a:ext>
            </a:extLst>
          </p:cNvPr>
          <p:cNvSpPr>
            <a:spLocks noGrp="1"/>
          </p:cNvSpPr>
          <p:nvPr/>
        </p:nvSpPr>
        <p:spPr>
          <a:xfrm>
            <a:off x="914400" y="239077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D922C-6116-412A-82E3-6925F8B70D35}"/>
              </a:ext>
            </a:extLst>
          </p:cNvPr>
          <p:cNvSpPr>
            <a:spLocks noGrp="1"/>
          </p:cNvSpPr>
          <p:nvPr/>
        </p:nvSpPr>
        <p:spPr>
          <a:xfrm>
            <a:off x="1562100" y="22955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Effectiveness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2A1958-CF14-4BEB-8017-B4294A3DA1C5}"/>
              </a:ext>
            </a:extLst>
          </p:cNvPr>
          <p:cNvSpPr>
            <a:spLocks noGrp="1"/>
          </p:cNvSpPr>
          <p:nvPr/>
        </p:nvSpPr>
        <p:spPr>
          <a:xfrm>
            <a:off x="1562100" y="25908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Can the detector identify watermarked text while controlling false positives?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281CCB-F9D0-48FB-B51C-39BBB724346B}"/>
              </a:ext>
            </a:extLst>
          </p:cNvPr>
          <p:cNvSpPr>
            <a:spLocks noGrp="1"/>
          </p:cNvSpPr>
          <p:nvPr/>
        </p:nvSpPr>
        <p:spPr>
          <a:xfrm>
            <a:off x="914400" y="32575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1671F0-9C58-4912-BE5D-69132D729AF8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66675" cy="66675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7950A1-B19A-4F73-A49B-4B25E1539EE8}"/>
              </a:ext>
            </a:extLst>
          </p:cNvPr>
          <p:cNvSpPr>
            <a:spLocks noGrp="1"/>
          </p:cNvSpPr>
          <p:nvPr/>
        </p:nvSpPr>
        <p:spPr>
          <a:xfrm>
            <a:off x="1143000" y="34671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under no attack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CB5323-DD10-46A2-AED0-26F4C5DE2B9A}"/>
              </a:ext>
            </a:extLst>
          </p:cNvPr>
          <p:cNvSpPr>
            <a:spLocks noGrp="1"/>
          </p:cNvSpPr>
          <p:nvPr/>
        </p:nvSpPr>
        <p:spPr>
          <a:xfrm>
            <a:off x="952500" y="3981450"/>
            <a:ext cx="66675" cy="66675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CDFBBB-5953-4C4A-8F87-CA83A6150B48}"/>
              </a:ext>
            </a:extLst>
          </p:cNvPr>
          <p:cNvSpPr>
            <a:spLocks noGrp="1"/>
          </p:cNvSpPr>
          <p:nvPr/>
        </p:nvSpPr>
        <p:spPr>
          <a:xfrm>
            <a:off x="1143000" y="39243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FPR on natural text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85085A-3E6B-46B0-A5FF-0B16569DD488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66675" cy="66675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59D6881-FC42-45C7-BBB4-C525FC74BBA1}"/>
              </a:ext>
            </a:extLst>
          </p:cNvPr>
          <p:cNvSpPr>
            <a:spLocks noGrp="1"/>
          </p:cNvSpPr>
          <p:nvPr/>
        </p:nvSpPr>
        <p:spPr>
          <a:xfrm>
            <a:off x="1143000" y="43815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Score separation: z-score or p-value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374AA8-5436-4ABF-83AF-E0D1C77752EA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314325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4877C1-7D04-4BFE-9FC1-CA5884640E65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3143250" cy="7620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4F8D6F-9D67-4BFE-922D-55175A6E82C4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495300" cy="495300"/>
          </a:xfrm>
          <a:prstGeom prst="rect">
            <a:avLst/>
          </a:prstGeom>
          <a:solidFill>
            <a:srgbClr val="F1E5C8"/>
          </a:solidFill>
          <a:ln w="9525">
            <a:solidFill>
              <a:srgbClr val="B7892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3E0604-4244-4B54-A80D-9301004950DB}"/>
              </a:ext>
            </a:extLst>
          </p:cNvPr>
          <p:cNvSpPr>
            <a:spLocks noGrp="1"/>
          </p:cNvSpPr>
          <p:nvPr/>
        </p:nvSpPr>
        <p:spPr>
          <a:xfrm>
            <a:off x="4572000" y="239077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BE68EB-F980-4DEC-90BE-DA82CF4DBAA5}"/>
              </a:ext>
            </a:extLst>
          </p:cNvPr>
          <p:cNvSpPr>
            <a:spLocks noGrp="1"/>
          </p:cNvSpPr>
          <p:nvPr/>
        </p:nvSpPr>
        <p:spPr>
          <a:xfrm>
            <a:off x="5219700" y="22955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Imperceptibility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40617F-A4E5-4527-8800-B5E39A491F5F}"/>
              </a:ext>
            </a:extLst>
          </p:cNvPr>
          <p:cNvSpPr>
            <a:spLocks noGrp="1"/>
          </p:cNvSpPr>
          <p:nvPr/>
        </p:nvSpPr>
        <p:spPr>
          <a:xfrm>
            <a:off x="5219700" y="25908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Does embedding preserve fluency and avoid suspicious statistical drift?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00370F-B8D7-4802-8D5E-131BC025BC9E}"/>
              </a:ext>
            </a:extLst>
          </p:cNvPr>
          <p:cNvSpPr>
            <a:spLocks noGrp="1"/>
          </p:cNvSpPr>
          <p:nvPr/>
        </p:nvSpPr>
        <p:spPr>
          <a:xfrm>
            <a:off x="4572000" y="32575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9A47C6-E6FC-4A94-B468-AB2914490304}"/>
              </a:ext>
            </a:extLst>
          </p:cNvPr>
          <p:cNvSpPr>
            <a:spLocks noGrp="1"/>
          </p:cNvSpPr>
          <p:nvPr/>
        </p:nvSpPr>
        <p:spPr>
          <a:xfrm>
            <a:off x="4610100" y="3524250"/>
            <a:ext cx="66675" cy="66675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D2AD87A-198F-4E4C-AA2F-0B9ADBC80A05}"/>
              </a:ext>
            </a:extLst>
          </p:cNvPr>
          <p:cNvSpPr>
            <a:spLocks noGrp="1"/>
          </p:cNvSpPr>
          <p:nvPr/>
        </p:nvSpPr>
        <p:spPr>
          <a:xfrm>
            <a:off x="4800600" y="34671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by GPT-2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383AB6-3277-4644-85E5-9106D83E01AD}"/>
              </a:ext>
            </a:extLst>
          </p:cNvPr>
          <p:cNvSpPr>
            <a:spLocks noGrp="1"/>
          </p:cNvSpPr>
          <p:nvPr/>
        </p:nvSpPr>
        <p:spPr>
          <a:xfrm>
            <a:off x="4610100" y="3981450"/>
            <a:ext cx="66675" cy="66675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84C470-4A8F-43CE-B3E9-05D279EE9B4E}"/>
              </a:ext>
            </a:extLst>
          </p:cNvPr>
          <p:cNvSpPr>
            <a:spLocks noGrp="1"/>
          </p:cNvSpPr>
          <p:nvPr/>
        </p:nvSpPr>
        <p:spPr>
          <a:xfrm>
            <a:off x="4800600" y="39243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Delta PPL versus natural baseline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CDFAB9-8846-4E14-8D3A-4115E34852A1}"/>
              </a:ext>
            </a:extLst>
          </p:cNvPr>
          <p:cNvSpPr>
            <a:spLocks noGrp="1"/>
          </p:cNvSpPr>
          <p:nvPr/>
        </p:nvSpPr>
        <p:spPr>
          <a:xfrm>
            <a:off x="4610100" y="4438650"/>
            <a:ext cx="66675" cy="66675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8362D4-CA75-43EE-9C58-18FBAE3C59C7}"/>
              </a:ext>
            </a:extLst>
          </p:cNvPr>
          <p:cNvSpPr>
            <a:spLocks noGrp="1"/>
          </p:cNvSpPr>
          <p:nvPr/>
        </p:nvSpPr>
        <p:spPr>
          <a:xfrm>
            <a:off x="4800600" y="43815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Quality stability under parameters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B94AB5-AE87-41E8-BF07-4D7714D4BCDE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3143250" cy="3086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BE82101-AFD2-432D-941C-B4B7C9CA12F2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3143250" cy="76200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1EE8042-ED13-418A-B510-1E3D019142C5}"/>
              </a:ext>
            </a:extLst>
          </p:cNvPr>
          <p:cNvSpPr>
            <a:spLocks noGrp="1"/>
          </p:cNvSpPr>
          <p:nvPr/>
        </p:nvSpPr>
        <p:spPr>
          <a:xfrm>
            <a:off x="8229600" y="2286000"/>
            <a:ext cx="495300" cy="495300"/>
          </a:xfrm>
          <a:prstGeom prst="rect">
            <a:avLst/>
          </a:prstGeom>
          <a:solidFill>
            <a:srgbClr val="F5DED7"/>
          </a:solidFill>
          <a:ln w="9525">
            <a:solidFill>
              <a:srgbClr val="C7634B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1736C75-E981-43A5-9960-4EED3B826D30}"/>
              </a:ext>
            </a:extLst>
          </p:cNvPr>
          <p:cNvSpPr>
            <a:spLocks noGrp="1"/>
          </p:cNvSpPr>
          <p:nvPr/>
        </p:nvSpPr>
        <p:spPr>
          <a:xfrm>
            <a:off x="8229600" y="239077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9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9D1E2DD-F638-486B-8F74-BD01C0525EF0}"/>
              </a:ext>
            </a:extLst>
          </p:cNvPr>
          <p:cNvSpPr>
            <a:spLocks noGrp="1"/>
          </p:cNvSpPr>
          <p:nvPr/>
        </p:nvSpPr>
        <p:spPr>
          <a:xfrm>
            <a:off x="8877300" y="2295525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5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D3BC68-8400-477C-A012-15498EC7A745}"/>
              </a:ext>
            </a:extLst>
          </p:cNvPr>
          <p:cNvSpPr>
            <a:spLocks noGrp="1"/>
          </p:cNvSpPr>
          <p:nvPr/>
        </p:nvSpPr>
        <p:spPr>
          <a:xfrm>
            <a:off x="8877300" y="2590800"/>
            <a:ext cx="200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Does the watermark survive meaning-preserving word-level edits?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DFF6B4-BF96-4703-BC7E-4AF4630FDAEC}"/>
              </a:ext>
            </a:extLst>
          </p:cNvPr>
          <p:cNvSpPr>
            <a:spLocks noGrp="1"/>
          </p:cNvSpPr>
          <p:nvPr/>
        </p:nvSpPr>
        <p:spPr>
          <a:xfrm>
            <a:off x="8229600" y="3257550"/>
            <a:ext cx="26860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D423D4E-2E8E-48BE-8E51-57B6F4071413}"/>
              </a:ext>
            </a:extLst>
          </p:cNvPr>
          <p:cNvSpPr>
            <a:spLocks noGrp="1"/>
          </p:cNvSpPr>
          <p:nvPr/>
        </p:nvSpPr>
        <p:spPr>
          <a:xfrm>
            <a:off x="8267700" y="3524250"/>
            <a:ext cx="66675" cy="66675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63D69D-484D-4281-A1F7-6BCC87BF9866}"/>
              </a:ext>
            </a:extLst>
          </p:cNvPr>
          <p:cNvSpPr>
            <a:spLocks noGrp="1"/>
          </p:cNvSpPr>
          <p:nvPr/>
        </p:nvSpPr>
        <p:spPr>
          <a:xfrm>
            <a:off x="8458200" y="34671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after Word-S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DE11E9E-36B3-41F3-AE60-D64C91F6934B}"/>
              </a:ext>
            </a:extLst>
          </p:cNvPr>
          <p:cNvSpPr>
            <a:spLocks noGrp="1"/>
          </p:cNvSpPr>
          <p:nvPr/>
        </p:nvSpPr>
        <p:spPr>
          <a:xfrm>
            <a:off x="8267700" y="3981450"/>
            <a:ext cx="66675" cy="66675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A3CA9A-80E8-4C23-8F6B-7B575794A6F0}"/>
              </a:ext>
            </a:extLst>
          </p:cNvPr>
          <p:cNvSpPr>
            <a:spLocks noGrp="1"/>
          </p:cNvSpPr>
          <p:nvPr/>
        </p:nvSpPr>
        <p:spPr>
          <a:xfrm>
            <a:off x="8458200" y="39243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after Word-D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BE24DEB-1A99-49D9-AE51-21DF63C40836}"/>
              </a:ext>
            </a:extLst>
          </p:cNvPr>
          <p:cNvSpPr>
            <a:spLocks noGrp="1"/>
          </p:cNvSpPr>
          <p:nvPr/>
        </p:nvSpPr>
        <p:spPr>
          <a:xfrm>
            <a:off x="8267700" y="4438650"/>
            <a:ext cx="66675" cy="66675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2CA1562-179E-4B78-A0A2-951B0CE595AB}"/>
              </a:ext>
            </a:extLst>
          </p:cNvPr>
          <p:cNvSpPr>
            <a:spLocks noGrp="1"/>
          </p:cNvSpPr>
          <p:nvPr/>
        </p:nvSpPr>
        <p:spPr>
          <a:xfrm>
            <a:off x="8458200" y="43815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1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 coefficient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9DBCF6F-54C0-4E01-9897-DAF2EFC69C5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E2177D0-F726-4EC8-9217-B55CC25CD88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Section 2.3.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BA1541E-8DD8-43AD-BF2C-7C759745844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591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-4-marker">
            <a:extLst>
              <a:ext uri="{FF2B5EF4-FFF2-40B4-BE49-F238E27FC236}">
                <a16:creationId xmlns:a16="http://schemas.microsoft.com/office/drawing/2014/main" id="{29F72914-B38E-4103-AFC0-FD80F66636E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4-label">
            <a:extLst>
              <a:ext uri="{FF2B5EF4-FFF2-40B4-BE49-F238E27FC236}">
                <a16:creationId xmlns:a16="http://schemas.microsoft.com/office/drawing/2014/main" id="{5D91E760-7583-4D0B-99B2-66492B536430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METHOD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FB3203-E0CA-4C55-A34A-E773F541B6A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KGW-EXP embeds two token-level signals before making one Fisher decision.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EA7ECC-B905-4404-8C7C-D71E3CADD5A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465753-77E2-402F-9FBF-34E57D88918D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764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F47175-9AA9-454C-BFE7-726EE65F9914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76450" cy="762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6B59B-8E5C-47F8-9641-A1C27C67F2B0}"/>
              </a:ext>
            </a:extLst>
          </p:cNvPr>
          <p:cNvSpPr>
            <a:spLocks noGrp="1"/>
          </p:cNvSpPr>
          <p:nvPr/>
        </p:nvSpPr>
        <p:spPr>
          <a:xfrm>
            <a:off x="933450" y="24955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KGW bias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1972FB-F4E5-410C-A478-39C43B8A8C8C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6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Split vocabulary into green/red lists and add delta = 2.0 to green-list logits.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B2DD88-11E8-4E53-9328-C1D14E3AD753}"/>
              </a:ext>
            </a:extLst>
          </p:cNvPr>
          <p:cNvSpPr>
            <a:spLocks noGrp="1"/>
          </p:cNvSpPr>
          <p:nvPr/>
        </p:nvSpPr>
        <p:spPr>
          <a:xfrm>
            <a:off x="2914650" y="2876550"/>
            <a:ext cx="40005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B06C095-1384-4311-B54D-73B8AF01382B}"/>
              </a:ext>
            </a:extLst>
          </p:cNvPr>
          <p:cNvSpPr>
            <a:spLocks noGrp="1"/>
          </p:cNvSpPr>
          <p:nvPr/>
        </p:nvSpPr>
        <p:spPr>
          <a:xfrm>
            <a:off x="3295650" y="2838450"/>
            <a:ext cx="76200" cy="95250"/>
          </a:xfrm>
          <a:prstGeom prst="rect">
            <a:avLst/>
          </a:prstGeom>
          <a:solidFill>
            <a:srgbClr val="D8D2C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A7022E-CB90-467C-BFE6-C685C48FEAE5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20764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99A734-A953-4677-B67D-B4C6825BBD8B}"/>
              </a:ext>
            </a:extLst>
          </p:cNvPr>
          <p:cNvSpPr>
            <a:spLocks noGrp="1"/>
          </p:cNvSpPr>
          <p:nvPr/>
        </p:nvSpPr>
        <p:spPr>
          <a:xfrm>
            <a:off x="3467100" y="2266950"/>
            <a:ext cx="2076450" cy="7620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49A984-CA65-41B4-BC87-A6F7CB815719}"/>
              </a:ext>
            </a:extLst>
          </p:cNvPr>
          <p:cNvSpPr>
            <a:spLocks noGrp="1"/>
          </p:cNvSpPr>
          <p:nvPr/>
        </p:nvSpPr>
        <p:spPr>
          <a:xfrm>
            <a:off x="3638550" y="24955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Temperature + softmax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C4B10A-0F6F-431A-9A48-E9A417D1FAE1}"/>
              </a:ext>
            </a:extLst>
          </p:cNvPr>
          <p:cNvSpPr>
            <a:spLocks noGrp="1"/>
          </p:cNvSpPr>
          <p:nvPr/>
        </p:nvSpPr>
        <p:spPr>
          <a:xfrm>
            <a:off x="3638550" y="28575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6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Scale biased logits and compute the adjusted candidate distribution.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016AC6-7C02-4F4B-A51A-2776F2082F4E}"/>
              </a:ext>
            </a:extLst>
          </p:cNvPr>
          <p:cNvSpPr>
            <a:spLocks noGrp="1"/>
          </p:cNvSpPr>
          <p:nvPr/>
        </p:nvSpPr>
        <p:spPr>
          <a:xfrm>
            <a:off x="5619750" y="2876550"/>
            <a:ext cx="40005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A2A0FE-63B8-4379-9ECE-482279A8E1BA}"/>
              </a:ext>
            </a:extLst>
          </p:cNvPr>
          <p:cNvSpPr>
            <a:spLocks noGrp="1"/>
          </p:cNvSpPr>
          <p:nvPr/>
        </p:nvSpPr>
        <p:spPr>
          <a:xfrm>
            <a:off x="6000750" y="2838450"/>
            <a:ext cx="76200" cy="95250"/>
          </a:xfrm>
          <a:prstGeom prst="rect">
            <a:avLst/>
          </a:prstGeom>
          <a:solidFill>
            <a:srgbClr val="D8D2C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72B960-0928-48EA-BFE7-74DBDE08E7D7}"/>
              </a:ext>
            </a:extLst>
          </p:cNvPr>
          <p:cNvSpPr>
            <a:spLocks noGrp="1"/>
          </p:cNvSpPr>
          <p:nvPr/>
        </p:nvSpPr>
        <p:spPr>
          <a:xfrm>
            <a:off x="6172200" y="2266950"/>
            <a:ext cx="20764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F86488-39EC-413C-8054-ACAF35264E9B}"/>
              </a:ext>
            </a:extLst>
          </p:cNvPr>
          <p:cNvSpPr>
            <a:spLocks noGrp="1"/>
          </p:cNvSpPr>
          <p:nvPr/>
        </p:nvSpPr>
        <p:spPr>
          <a:xfrm>
            <a:off x="6172200" y="2266950"/>
            <a:ext cx="2076450" cy="7620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F260D9-ACBA-437E-B957-051A68F3ED3F}"/>
              </a:ext>
            </a:extLst>
          </p:cNvPr>
          <p:cNvSpPr>
            <a:spLocks noGrp="1"/>
          </p:cNvSpPr>
          <p:nvPr/>
        </p:nvSpPr>
        <p:spPr>
          <a:xfrm>
            <a:off x="6343650" y="24955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 resampling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65CF06-797B-444D-960A-6FC281A83843}"/>
              </a:ext>
            </a:extLst>
          </p:cNvPr>
          <p:cNvSpPr>
            <a:spLocks noGrp="1"/>
          </p:cNvSpPr>
          <p:nvPr/>
        </p:nvSpPr>
        <p:spPr>
          <a:xfrm>
            <a:off x="6343650" y="28575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6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Sample the token maximizing the prefix-keyed exponential resampling score.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0B9942-2AF2-47F3-BF80-C8369D10F836}"/>
              </a:ext>
            </a:extLst>
          </p:cNvPr>
          <p:cNvSpPr>
            <a:spLocks noGrp="1"/>
          </p:cNvSpPr>
          <p:nvPr/>
        </p:nvSpPr>
        <p:spPr>
          <a:xfrm>
            <a:off x="8324850" y="2876550"/>
            <a:ext cx="40005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145F4-5B25-46D6-A1C9-FE1247910F24}"/>
              </a:ext>
            </a:extLst>
          </p:cNvPr>
          <p:cNvSpPr>
            <a:spLocks noGrp="1"/>
          </p:cNvSpPr>
          <p:nvPr/>
        </p:nvSpPr>
        <p:spPr>
          <a:xfrm>
            <a:off x="8705850" y="2838450"/>
            <a:ext cx="76200" cy="95250"/>
          </a:xfrm>
          <a:prstGeom prst="rect">
            <a:avLst/>
          </a:prstGeom>
          <a:solidFill>
            <a:srgbClr val="D8D2C8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58B9C9-2EA6-4C38-B1CB-9836B94CC310}"/>
              </a:ext>
            </a:extLst>
          </p:cNvPr>
          <p:cNvSpPr>
            <a:spLocks noGrp="1"/>
          </p:cNvSpPr>
          <p:nvPr/>
        </p:nvSpPr>
        <p:spPr>
          <a:xfrm>
            <a:off x="8877300" y="2266950"/>
            <a:ext cx="20764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623E62-D043-4C08-BF7B-F8F6E9C4F2A1}"/>
              </a:ext>
            </a:extLst>
          </p:cNvPr>
          <p:cNvSpPr>
            <a:spLocks noGrp="1"/>
          </p:cNvSpPr>
          <p:nvPr/>
        </p:nvSpPr>
        <p:spPr>
          <a:xfrm>
            <a:off x="8877300" y="2266950"/>
            <a:ext cx="2076450" cy="7620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C19F65-64A0-4BA4-9186-63214B1BE487}"/>
              </a:ext>
            </a:extLst>
          </p:cNvPr>
          <p:cNvSpPr>
            <a:spLocks noGrp="1"/>
          </p:cNvSpPr>
          <p:nvPr/>
        </p:nvSpPr>
        <p:spPr>
          <a:xfrm>
            <a:off x="9048750" y="24955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Fisher detector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2B31D1-EA2E-4EF7-96AA-E9A2A5E2E1FE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1695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6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Convert KGW z-score and EXP statistic to p-values, then combine them.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D5CB17-AC9E-45D5-93FB-DDDDD7538DEA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4095750" cy="10477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671EE3-C33F-43E2-B8DA-28B6EA04DCF9}"/>
              </a:ext>
            </a:extLst>
          </p:cNvPr>
          <p:cNvSpPr>
            <a:spLocks noGrp="1"/>
          </p:cNvSpPr>
          <p:nvPr/>
        </p:nvSpPr>
        <p:spPr>
          <a:xfrm>
            <a:off x="1485900" y="45148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Detection statistic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6278954-A80C-4B77-8E65-1C97B7AD3A6C}"/>
              </a:ext>
            </a:extLst>
          </p:cNvPr>
          <p:cNvSpPr>
            <a:spLocks noGrp="1"/>
          </p:cNvSpPr>
          <p:nvPr/>
        </p:nvSpPr>
        <p:spPr>
          <a:xfrm>
            <a:off x="6267450" y="4305300"/>
            <a:ext cx="3714750" cy="10477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F3941B-D5C7-4BF6-9F31-EF778CB435A0}"/>
              </a:ext>
            </a:extLst>
          </p:cNvPr>
          <p:cNvSpPr>
            <a:spLocks noGrp="1"/>
          </p:cNvSpPr>
          <p:nvPr/>
        </p:nvSpPr>
        <p:spPr>
          <a:xfrm>
            <a:off x="6496050" y="45148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962DB5-5D8D-40AB-B946-114152363BB9}"/>
              </a:ext>
            </a:extLst>
          </p:cNvPr>
          <p:cNvSpPr>
            <a:spLocks noGrp="1"/>
          </p:cNvSpPr>
          <p:nvPr/>
        </p:nvSpPr>
        <p:spPr>
          <a:xfrm>
            <a:off x="6562725" y="5013841"/>
            <a:ext cx="3105150" cy="207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watermarked if score &gt; 2.2</a:t>
            </a:r>
            <a:endParaRPr lang="en-US" sz="1350" b="1" dirty="0">
              <a:solidFill>
                <a:srgbClr val="1721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8E09DE-8FD6-4094-8822-6ECA11DFE2A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83AB9C-B7DB-42FF-8283-6F1A7D426C1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Sections 3.4.1-3.4.4.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98851CA-AF0B-4E7E-ADB1-56CF39F1E91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3EB611F-36C1-DC0D-6AA8-8EB021405118}"/>
                  </a:ext>
                </a:extLst>
              </p:cNvPr>
              <p:cNvSpPr txBox="1"/>
              <p:nvPr/>
            </p:nvSpPr>
            <p:spPr>
              <a:xfrm>
                <a:off x="1485900" y="4673084"/>
                <a:ext cx="2946400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=−2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𝐾𝐺𝑊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𝐸𝑋𝑃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3EB611F-36C1-DC0D-6AA8-8EB021405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4673084"/>
                <a:ext cx="2946400" cy="369332"/>
              </a:xfrm>
              <a:prstGeom prst="rect">
                <a:avLst/>
              </a:prstGeom>
              <a:blipFill>
                <a:blip r:embed="rId3"/>
                <a:stretch>
                  <a:fillRect t="-11667" r="-3106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333BFE5-6A1F-1EC1-FA94-73AF6CE652DD}"/>
                  </a:ext>
                </a:extLst>
              </p:cNvPr>
              <p:cNvSpPr txBox="1"/>
              <p:nvPr/>
            </p:nvSpPr>
            <p:spPr>
              <a:xfrm>
                <a:off x="6460020" y="4644509"/>
                <a:ext cx="2417280" cy="36933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lg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𝑐𝑜𝑚𝑏𝑖𝑛𝑒𝑑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333BFE5-6A1F-1EC1-FA94-73AF6CE6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020" y="4644509"/>
                <a:ext cx="2417280" cy="369332"/>
              </a:xfrm>
              <a:prstGeom prst="rect">
                <a:avLst/>
              </a:prstGeom>
              <a:blipFill>
                <a:blip r:embed="rId4"/>
                <a:stretch>
                  <a:fillRect t="-11667" r="-3788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97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kicker-5-marker">
            <a:extLst>
              <a:ext uri="{FF2B5EF4-FFF2-40B4-BE49-F238E27FC236}">
                <a16:creationId xmlns:a16="http://schemas.microsoft.com/office/drawing/2014/main" id="{C0A242DC-E738-473C-92A6-23D3D13993C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5-label">
            <a:extLst>
              <a:ext uri="{FF2B5EF4-FFF2-40B4-BE49-F238E27FC236}">
                <a16:creationId xmlns:a16="http://schemas.microsoft.com/office/drawing/2014/main" id="{6D8FF8B0-0184-4C3F-BF20-19DB59AF295C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PROTOCOL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364952-2E0D-4A5F-BC15-3E1AA24D52F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revision evaluates three methods under shared metrics but two experiment scales.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B2B103-6750-4FF5-8CB9-074A860F09EA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8F8793-013D-4DB2-88DD-8ABA7F70F146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BC16F7-20D2-428C-9956-5014C88B3E64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676400" cy="5715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3D3001-524F-4FEA-A956-1B7037DCE8FE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9574C8-C1C1-4C28-AD1E-3136BC19FC4A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KGW, EXP, and Combined KGW-EXP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27A2E4-13CB-4AA9-A2DB-BD6C005CD6B3}"/>
              </a:ext>
            </a:extLst>
          </p:cNvPr>
          <p:cNvSpPr>
            <a:spLocks noGrp="1"/>
          </p:cNvSpPr>
          <p:nvPr/>
        </p:nvSpPr>
        <p:spPr>
          <a:xfrm>
            <a:off x="2781300" y="2209800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67368B-6CBD-4686-AD67-D0B11B58A3F9}"/>
              </a:ext>
            </a:extLst>
          </p:cNvPr>
          <p:cNvSpPr>
            <a:spLocks noGrp="1"/>
          </p:cNvSpPr>
          <p:nvPr/>
        </p:nvSpPr>
        <p:spPr>
          <a:xfrm>
            <a:off x="2781300" y="2209800"/>
            <a:ext cx="1676400" cy="571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CB220F-F9AF-4C4E-ABAE-8258BD5E88DC}"/>
              </a:ext>
            </a:extLst>
          </p:cNvPr>
          <p:cNvSpPr>
            <a:spLocks noGrp="1"/>
          </p:cNvSpPr>
          <p:nvPr/>
        </p:nvSpPr>
        <p:spPr>
          <a:xfrm>
            <a:off x="2914650" y="2457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2AF0EF-5C4D-49C0-8115-62A7A92F688B}"/>
              </a:ext>
            </a:extLst>
          </p:cNvPr>
          <p:cNvSpPr>
            <a:spLocks noGrp="1"/>
          </p:cNvSpPr>
          <p:nvPr/>
        </p:nvSpPr>
        <p:spPr>
          <a:xfrm>
            <a:off x="2914650" y="28194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Qwen2.5-1.5B-Instruct via MarkLLM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82CC-57BB-44F1-B596-7F715B51EF08}"/>
              </a:ext>
            </a:extLst>
          </p:cNvPr>
          <p:cNvSpPr>
            <a:spLocks noGrp="1"/>
          </p:cNvSpPr>
          <p:nvPr/>
        </p:nvSpPr>
        <p:spPr>
          <a:xfrm>
            <a:off x="4895850" y="2209800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5E8707-9646-405C-9022-EE5EE4C90F8A}"/>
              </a:ext>
            </a:extLst>
          </p:cNvPr>
          <p:cNvSpPr>
            <a:spLocks noGrp="1"/>
          </p:cNvSpPr>
          <p:nvPr/>
        </p:nvSpPr>
        <p:spPr>
          <a:xfrm>
            <a:off x="4895850" y="2209800"/>
            <a:ext cx="1676400" cy="571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FC9CC2-99E4-41FA-A35D-9BD155E555BC}"/>
              </a:ext>
            </a:extLst>
          </p:cNvPr>
          <p:cNvSpPr>
            <a:spLocks noGrp="1"/>
          </p:cNvSpPr>
          <p:nvPr/>
        </p:nvSpPr>
        <p:spPr>
          <a:xfrm>
            <a:off x="5029200" y="2457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Baseline set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B9578D6-81F6-4897-86DE-B31AE00BC8F5}"/>
              </a:ext>
            </a:extLst>
          </p:cNvPr>
          <p:cNvSpPr>
            <a:spLocks noGrp="1"/>
          </p:cNvSpPr>
          <p:nvPr/>
        </p:nvSpPr>
        <p:spPr>
          <a:xfrm>
            <a:off x="5029200" y="28194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20 news prompts, 200-token generations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D97C97-A9EA-46C3-AAB1-4B17F906C3D5}"/>
              </a:ext>
            </a:extLst>
          </p:cNvPr>
          <p:cNvSpPr>
            <a:spLocks noGrp="1"/>
          </p:cNvSpPr>
          <p:nvPr/>
        </p:nvSpPr>
        <p:spPr>
          <a:xfrm>
            <a:off x="7010400" y="2209800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5451D0-2E27-4F33-947B-FAB52E81B8B4}"/>
              </a:ext>
            </a:extLst>
          </p:cNvPr>
          <p:cNvSpPr>
            <a:spLocks noGrp="1"/>
          </p:cNvSpPr>
          <p:nvPr/>
        </p:nvSpPr>
        <p:spPr>
          <a:xfrm>
            <a:off x="7010400" y="2209800"/>
            <a:ext cx="1676400" cy="571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C13AFA-DFBF-46CE-AC5B-4F962AF72D03}"/>
              </a:ext>
            </a:extLst>
          </p:cNvPr>
          <p:cNvSpPr>
            <a:spLocks noGrp="1"/>
          </p:cNvSpPr>
          <p:nvPr/>
        </p:nvSpPr>
        <p:spPr>
          <a:xfrm>
            <a:off x="7143750" y="2457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Robustness set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DFB0BE-A6FD-45AD-89CE-8FE9ECA872FD}"/>
              </a:ext>
            </a:extLst>
          </p:cNvPr>
          <p:cNvSpPr>
            <a:spLocks noGrp="1"/>
          </p:cNvSpPr>
          <p:nvPr/>
        </p:nvSpPr>
        <p:spPr>
          <a:xfrm>
            <a:off x="7143750" y="28194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50 C4 prompts, 100-token generations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ECCD61-5222-4248-99B3-952CAE73DCBA}"/>
              </a:ext>
            </a:extLst>
          </p:cNvPr>
          <p:cNvSpPr>
            <a:spLocks noGrp="1"/>
          </p:cNvSpPr>
          <p:nvPr/>
        </p:nvSpPr>
        <p:spPr>
          <a:xfrm>
            <a:off x="9124950" y="2209800"/>
            <a:ext cx="167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485C0B-1FA8-41E8-AE68-FD0AFCC324BE}"/>
              </a:ext>
            </a:extLst>
          </p:cNvPr>
          <p:cNvSpPr>
            <a:spLocks noGrp="1"/>
          </p:cNvSpPr>
          <p:nvPr/>
        </p:nvSpPr>
        <p:spPr>
          <a:xfrm>
            <a:off x="9124950" y="2209800"/>
            <a:ext cx="1676400" cy="57150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6F1A27-8181-4E87-B8E5-E2CF373AFE1D}"/>
              </a:ext>
            </a:extLst>
          </p:cNvPr>
          <p:cNvSpPr>
            <a:spLocks noGrp="1"/>
          </p:cNvSpPr>
          <p:nvPr/>
        </p:nvSpPr>
        <p:spPr>
          <a:xfrm>
            <a:off x="9258300" y="2457450"/>
            <a:ext cx="1390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Attacks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817F1-1622-4121-849F-5994B930182B}"/>
              </a:ext>
            </a:extLst>
          </p:cNvPr>
          <p:cNvSpPr>
            <a:spLocks noGrp="1"/>
          </p:cNvSpPr>
          <p:nvPr/>
        </p:nvSpPr>
        <p:spPr>
          <a:xfrm>
            <a:off x="9258300" y="2819400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Word-S 20% substitution; Word-D 30% deletion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41F4A5C-BECC-4804-A36F-773B73EDB2FC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4095750" cy="1104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97484B-813C-4CB0-850D-9C0E1E300B12}"/>
              </a:ext>
            </a:extLst>
          </p:cNvPr>
          <p:cNvSpPr>
            <a:spLocks noGrp="1"/>
          </p:cNvSpPr>
          <p:nvPr/>
        </p:nvSpPr>
        <p:spPr>
          <a:xfrm>
            <a:off x="1390650" y="4305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Combined configuration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FE4179-3530-4677-A573-31068C4EB013}"/>
              </a:ext>
            </a:extLst>
          </p:cNvPr>
          <p:cNvSpPr>
            <a:spLocks noGrp="1"/>
          </p:cNvSpPr>
          <p:nvPr/>
        </p:nvSpPr>
        <p:spPr>
          <a:xfrm>
            <a:off x="1390650" y="46482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 </a:t>
            </a:r>
            <a:r>
              <a:rPr lang="en-US" altLang="zh-CN" sz="1088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γ</a:t>
            </a:r>
            <a:r>
              <a:rPr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 0.5, </a:t>
            </a:r>
            <a:r>
              <a:rPr lang="en-US" altLang="zh-CN"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δ</a:t>
            </a:r>
            <a:r>
              <a:rPr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 2.0; EXP prefix k=4, threshold 1e-4; Fisher </a:t>
            </a:r>
            <a:r>
              <a:rPr lang="en-US" altLang="zh-CN" sz="1088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θ</a:t>
            </a:r>
            <a:r>
              <a:rPr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 2.2; shared hash key 15485863.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A93F43-8321-4AEF-9E87-F42632B8F2AB}"/>
              </a:ext>
            </a:extLst>
          </p:cNvPr>
          <p:cNvSpPr>
            <a:spLocks noGrp="1"/>
          </p:cNvSpPr>
          <p:nvPr/>
        </p:nvSpPr>
        <p:spPr>
          <a:xfrm>
            <a:off x="6153150" y="4095750"/>
            <a:ext cx="3905250" cy="11049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CB295B-F1F9-4144-898C-E761AAD12D4F}"/>
              </a:ext>
            </a:extLst>
          </p:cNvPr>
          <p:cNvSpPr>
            <a:spLocks noGrp="1"/>
          </p:cNvSpPr>
          <p:nvPr/>
        </p:nvSpPr>
        <p:spPr>
          <a:xfrm>
            <a:off x="6400800" y="4305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Interpretation guardrail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531D677-DE75-4009-BCB3-E5393F91C5D8}"/>
              </a:ext>
            </a:extLst>
          </p:cNvPr>
          <p:cNvSpPr>
            <a:spLocks noGrp="1"/>
          </p:cNvSpPr>
          <p:nvPr/>
        </p:nvSpPr>
        <p:spPr>
          <a:xfrm>
            <a:off x="6400800" y="46482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The n=50 C4 robustness table is the main evidence for Combined; the n=20 news table explains why fusion was needed.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FBDCD0-7F69-405D-8A70-976E4CB3CD7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3D1031-7969-4C38-BDA7-172C68DC90F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Sections 4.1 and Table 2.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BBC693-832C-4915-93C5-129E7161FD8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897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kicker-6-marker">
            <a:extLst>
              <a:ext uri="{FF2B5EF4-FFF2-40B4-BE49-F238E27FC236}">
                <a16:creationId xmlns:a16="http://schemas.microsoft.com/office/drawing/2014/main" id="{43CC0DFA-7DDE-43D7-9573-47FFB698652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6-label">
            <a:extLst>
              <a:ext uri="{FF2B5EF4-FFF2-40B4-BE49-F238E27FC236}">
                <a16:creationId xmlns:a16="http://schemas.microsoft.com/office/drawing/2014/main" id="{BEA0A9F8-AEEA-46D4-9372-CA0D880E710F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9369F1-3194-4BC4-BF41-78964EAA19B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EXP and Combined reach perfect benign detection; KGW remains weaker.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1684E-B7D8-4DED-B85F-ED52EF4188F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B2BF71-090E-4603-B997-312D9E55243E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TPR under no attack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4C74FD-DBDD-4A4D-983E-6FC946227FC9}"/>
              </a:ext>
            </a:extLst>
          </p:cNvPr>
          <p:cNvSpPr>
            <a:spLocks noGrp="1"/>
          </p:cNvSpPr>
          <p:nvPr/>
        </p:nvSpPr>
        <p:spPr>
          <a:xfrm>
            <a:off x="1047750" y="4686300"/>
            <a:ext cx="4095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31F9AF-138C-44D9-B5F7-673E31E949E5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1098550" cy="20002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5D3A22-C8D7-4FEB-A9C0-ED9F85D560A8}"/>
              </a:ext>
            </a:extLst>
          </p:cNvPr>
          <p:cNvSpPr>
            <a:spLocks noGrp="1"/>
          </p:cNvSpPr>
          <p:nvPr/>
        </p:nvSpPr>
        <p:spPr>
          <a:xfrm>
            <a:off x="1047750" y="2447925"/>
            <a:ext cx="1098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18A16B-8540-416F-8710-3F101030A620}"/>
              </a:ext>
            </a:extLst>
          </p:cNvPr>
          <p:cNvSpPr>
            <a:spLocks noGrp="1"/>
          </p:cNvSpPr>
          <p:nvPr/>
        </p:nvSpPr>
        <p:spPr>
          <a:xfrm>
            <a:off x="990600" y="4781550"/>
            <a:ext cx="121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0E2B41-89F6-4A51-9060-A2BCA84BAAB0}"/>
              </a:ext>
            </a:extLst>
          </p:cNvPr>
          <p:cNvSpPr>
            <a:spLocks noGrp="1"/>
          </p:cNvSpPr>
          <p:nvPr/>
        </p:nvSpPr>
        <p:spPr>
          <a:xfrm>
            <a:off x="2546350" y="3086100"/>
            <a:ext cx="1098550" cy="16002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E08957-B4E1-41C5-A905-1A029E5B177F}"/>
              </a:ext>
            </a:extLst>
          </p:cNvPr>
          <p:cNvSpPr>
            <a:spLocks noGrp="1"/>
          </p:cNvSpPr>
          <p:nvPr/>
        </p:nvSpPr>
        <p:spPr>
          <a:xfrm>
            <a:off x="2546350" y="2847975"/>
            <a:ext cx="1098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27167F-2703-4A82-A2D9-E1795E96C6D1}"/>
              </a:ext>
            </a:extLst>
          </p:cNvPr>
          <p:cNvSpPr>
            <a:spLocks noGrp="1"/>
          </p:cNvSpPr>
          <p:nvPr/>
        </p:nvSpPr>
        <p:spPr>
          <a:xfrm>
            <a:off x="2489200" y="4781550"/>
            <a:ext cx="121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A11021-6576-4304-9273-473CDD10A42F}"/>
              </a:ext>
            </a:extLst>
          </p:cNvPr>
          <p:cNvSpPr>
            <a:spLocks noGrp="1"/>
          </p:cNvSpPr>
          <p:nvPr/>
        </p:nvSpPr>
        <p:spPr>
          <a:xfrm>
            <a:off x="4044950" y="2686050"/>
            <a:ext cx="1098550" cy="200025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9FD15B-27A3-4C07-B30C-7BDA42842817}"/>
              </a:ext>
            </a:extLst>
          </p:cNvPr>
          <p:cNvSpPr>
            <a:spLocks noGrp="1"/>
          </p:cNvSpPr>
          <p:nvPr/>
        </p:nvSpPr>
        <p:spPr>
          <a:xfrm>
            <a:off x="4044950" y="2447925"/>
            <a:ext cx="1098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073EA7-073A-428C-97FE-CDFFF03E3C42}"/>
              </a:ext>
            </a:extLst>
          </p:cNvPr>
          <p:cNvSpPr>
            <a:spLocks noGrp="1"/>
          </p:cNvSpPr>
          <p:nvPr/>
        </p:nvSpPr>
        <p:spPr>
          <a:xfrm>
            <a:off x="3987800" y="4781550"/>
            <a:ext cx="121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E5506B-4CDC-46C3-9AC4-95766670F393}"/>
              </a:ext>
            </a:extLst>
          </p:cNvPr>
          <p:cNvSpPr>
            <a:spLocks noGrp="1"/>
          </p:cNvSpPr>
          <p:nvPr/>
        </p:nvSpPr>
        <p:spPr>
          <a:xfrm>
            <a:off x="5829300" y="2305050"/>
            <a:ext cx="1676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457A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5D73CD-9967-47C2-97E6-B4BA14AA93C6}"/>
              </a:ext>
            </a:extLst>
          </p:cNvPr>
          <p:cNvSpPr>
            <a:spLocks noGrp="1"/>
          </p:cNvSpPr>
          <p:nvPr/>
        </p:nvSpPr>
        <p:spPr>
          <a:xfrm>
            <a:off x="5981700" y="2438400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ALL FPR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E1334-DED9-40E9-A723-02F131407A98}"/>
              </a:ext>
            </a:extLst>
          </p:cNvPr>
          <p:cNvSpPr>
            <a:spLocks noGrp="1"/>
          </p:cNvSpPr>
          <p:nvPr/>
        </p:nvSpPr>
        <p:spPr>
          <a:xfrm>
            <a:off x="5981700" y="2667000"/>
            <a:ext cx="1371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0.000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A4DD16-BAD9-4E5F-A7B4-52AE3D1FA13B}"/>
              </a:ext>
            </a:extLst>
          </p:cNvPr>
          <p:cNvSpPr>
            <a:spLocks noGrp="1"/>
          </p:cNvSpPr>
          <p:nvPr/>
        </p:nvSpPr>
        <p:spPr>
          <a:xfrm>
            <a:off x="8096250" y="2305050"/>
            <a:ext cx="38100" cy="8763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34201F8-E14C-49E6-BE6E-5851132A92C5}"/>
              </a:ext>
            </a:extLst>
          </p:cNvPr>
          <p:cNvSpPr>
            <a:spLocks noGrp="1"/>
          </p:cNvSpPr>
          <p:nvPr/>
        </p:nvSpPr>
        <p:spPr>
          <a:xfrm>
            <a:off x="8248650" y="2381250"/>
            <a:ext cx="2628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EXP separation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6B30B20-5778-4110-9948-EF6BC2B88341}"/>
              </a:ext>
            </a:extLst>
          </p:cNvPr>
          <p:cNvSpPr>
            <a:spLocks noGrp="1"/>
          </p:cNvSpPr>
          <p:nvPr/>
        </p:nvSpPr>
        <p:spPr>
          <a:xfrm>
            <a:off x="8248650" y="26289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Watermarked p-values cluster near zero; natural p-values remain approximately uniform.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E2849A7-42BD-4F63-AD5C-3DD0EE513F93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38100" cy="876300"/>
          </a:xfrm>
          <a:prstGeom prst="rect">
            <a:avLst/>
          </a:prstGeom>
          <a:solidFill>
            <a:srgbClr val="B7892F"/>
          </a:solidFill>
          <a:ln w="0">
            <a:solidFill>
              <a:srgbClr val="B7892F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5F8DAB9-3557-4B8C-9213-BDBAC42BDFC2}"/>
              </a:ext>
            </a:extLst>
          </p:cNvPr>
          <p:cNvSpPr>
            <a:spLocks noGrp="1"/>
          </p:cNvSpPr>
          <p:nvPr/>
        </p:nvSpPr>
        <p:spPr>
          <a:xfrm>
            <a:off x="8248650" y="3619500"/>
            <a:ext cx="2628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Combined detector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44A3C1-9A27-4C3F-86F7-09BD9E1EFCEB}"/>
              </a:ext>
            </a:extLst>
          </p:cNvPr>
          <p:cNvSpPr>
            <a:spLocks noGrp="1"/>
          </p:cNvSpPr>
          <p:nvPr/>
        </p:nvSpPr>
        <p:spPr>
          <a:xfrm>
            <a:off x="8248650" y="386715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Fisher fusion lets two weaker p-value signals become one stronger decision statistic.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5E0F1A-B2A3-47A7-A517-0DC7DFED6D32}"/>
              </a:ext>
            </a:extLst>
          </p:cNvPr>
          <p:cNvSpPr>
            <a:spLocks noGrp="1"/>
          </p:cNvSpPr>
          <p:nvPr/>
        </p:nvSpPr>
        <p:spPr>
          <a:xfrm>
            <a:off x="5829300" y="4876800"/>
            <a:ext cx="495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Caveat: Combined benign detection is reported through the revised all-method comparison and robustness experiment, while baseline EXP/KGW detection uses the n=20 news setup.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5E1D8-70B7-4B33-8182-0F3F3A37395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6DA6FE-9AB6-4CFE-964A-FF87AF7A1C3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Tables 3, 8, and 9.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F20EF03-8C53-40F9-BF09-0EE8B38D4B6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171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kicker-7-marker">
            <a:extLst>
              <a:ext uri="{FF2B5EF4-FFF2-40B4-BE49-F238E27FC236}">
                <a16:creationId xmlns:a16="http://schemas.microsoft.com/office/drawing/2014/main" id="{F390DBAF-18C4-48BB-82E8-E946402CD33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7-label">
            <a:extLst>
              <a:ext uri="{FF2B5EF4-FFF2-40B4-BE49-F238E27FC236}">
                <a16:creationId xmlns:a16="http://schemas.microsoft.com/office/drawing/2014/main" id="{833AE66A-184B-43FB-8ED4-35D7B79FB634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86F6A2-2E05-4179-B2C6-123448C948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Combined sits closest to natural text quality instead of drifting high or low.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B3A4D5-47E2-45FE-A9F8-AC525917D14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17049E-6682-4D6B-8697-0999537D1416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Mean PPL by GPT-2; natural baseline = 19.63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51D376-F015-481F-B1A2-74FC69E3CF9A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F1512F-EEA3-4507-B0F1-D7265CBFBCE2}"/>
              </a:ext>
            </a:extLst>
          </p:cNvPr>
          <p:cNvSpPr>
            <a:spLocks noGrp="1"/>
          </p:cNvSpPr>
          <p:nvPr/>
        </p:nvSpPr>
        <p:spPr>
          <a:xfrm>
            <a:off x="2095500" y="2752725"/>
            <a:ext cx="4095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043D5F-AAF2-4705-959A-107C775B8999}"/>
              </a:ext>
            </a:extLst>
          </p:cNvPr>
          <p:cNvSpPr>
            <a:spLocks noGrp="1"/>
          </p:cNvSpPr>
          <p:nvPr/>
        </p:nvSpPr>
        <p:spPr>
          <a:xfrm>
            <a:off x="2095500" y="2647950"/>
            <a:ext cx="1759597" cy="2095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402AAF-ADFD-4661-BE34-231020609773}"/>
              </a:ext>
            </a:extLst>
          </p:cNvPr>
          <p:cNvSpPr>
            <a:spLocks noGrp="1"/>
          </p:cNvSpPr>
          <p:nvPr/>
        </p:nvSpPr>
        <p:spPr>
          <a:xfrm>
            <a:off x="3931297" y="26574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11.17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32D16D-D274-46CD-A80B-D1420BC94A98}"/>
              </a:ext>
            </a:extLst>
          </p:cNvPr>
          <p:cNvSpPr>
            <a:spLocks noGrp="1"/>
          </p:cNvSpPr>
          <p:nvPr/>
        </p:nvSpPr>
        <p:spPr>
          <a:xfrm>
            <a:off x="4324442" y="265747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-8.46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B38595-C7F0-4346-9E1C-95D0E3C0E406}"/>
              </a:ext>
            </a:extLst>
          </p:cNvPr>
          <p:cNvSpPr>
            <a:spLocks noGrp="1"/>
          </p:cNvSpPr>
          <p:nvPr/>
        </p:nvSpPr>
        <p:spPr>
          <a:xfrm>
            <a:off x="857250" y="33051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A944F7-B8E9-4CB4-A9FA-1DB7DB7A2E4C}"/>
              </a:ext>
            </a:extLst>
          </p:cNvPr>
          <p:cNvSpPr>
            <a:spLocks noGrp="1"/>
          </p:cNvSpPr>
          <p:nvPr/>
        </p:nvSpPr>
        <p:spPr>
          <a:xfrm>
            <a:off x="2095500" y="3419475"/>
            <a:ext cx="4095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417F7A-50A1-4E1E-AC93-32E970EE59F5}"/>
              </a:ext>
            </a:extLst>
          </p:cNvPr>
          <p:cNvSpPr>
            <a:spLocks noGrp="1"/>
          </p:cNvSpPr>
          <p:nvPr/>
        </p:nvSpPr>
        <p:spPr>
          <a:xfrm>
            <a:off x="2095500" y="3314700"/>
            <a:ext cx="3946098" cy="20955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10DB9A-E804-4A3A-89D8-BC554D821DA7}"/>
              </a:ext>
            </a:extLst>
          </p:cNvPr>
          <p:cNvSpPr>
            <a:spLocks noGrp="1"/>
          </p:cNvSpPr>
          <p:nvPr/>
        </p:nvSpPr>
        <p:spPr>
          <a:xfrm>
            <a:off x="6117798" y="332422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25.05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9676F46-780C-434E-8745-A672345D7074}"/>
              </a:ext>
            </a:extLst>
          </p:cNvPr>
          <p:cNvSpPr>
            <a:spLocks noGrp="1"/>
          </p:cNvSpPr>
          <p:nvPr/>
        </p:nvSpPr>
        <p:spPr>
          <a:xfrm>
            <a:off x="6530010" y="33337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+5.42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11F70B-52F1-4FCB-8B1B-137A8766CFCE}"/>
              </a:ext>
            </a:extLst>
          </p:cNvPr>
          <p:cNvSpPr>
            <a:spLocks noGrp="1"/>
          </p:cNvSpPr>
          <p:nvPr/>
        </p:nvSpPr>
        <p:spPr>
          <a:xfrm>
            <a:off x="857250" y="397192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DDB2AD-6C28-41AC-A3D0-515F0EEBA53B}"/>
              </a:ext>
            </a:extLst>
          </p:cNvPr>
          <p:cNvSpPr>
            <a:spLocks noGrp="1"/>
          </p:cNvSpPr>
          <p:nvPr/>
        </p:nvSpPr>
        <p:spPr>
          <a:xfrm>
            <a:off x="2095500" y="4086225"/>
            <a:ext cx="4095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64233A-74D6-4119-BC4E-813A4F5C85B5}"/>
              </a:ext>
            </a:extLst>
          </p:cNvPr>
          <p:cNvSpPr>
            <a:spLocks noGrp="1"/>
          </p:cNvSpPr>
          <p:nvPr/>
        </p:nvSpPr>
        <p:spPr>
          <a:xfrm>
            <a:off x="2095500" y="3981450"/>
            <a:ext cx="2718948" cy="20955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A55E77-60A8-41BF-857F-8E260927FE81}"/>
              </a:ext>
            </a:extLst>
          </p:cNvPr>
          <p:cNvSpPr>
            <a:spLocks noGrp="1"/>
          </p:cNvSpPr>
          <p:nvPr/>
        </p:nvSpPr>
        <p:spPr>
          <a:xfrm>
            <a:off x="4890648" y="39909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17.26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0F83C7-3A41-4CC7-B8C6-C6CC650CCABE}"/>
              </a:ext>
            </a:extLst>
          </p:cNvPr>
          <p:cNvSpPr>
            <a:spLocks noGrp="1"/>
          </p:cNvSpPr>
          <p:nvPr/>
        </p:nvSpPr>
        <p:spPr>
          <a:xfrm>
            <a:off x="5298996" y="40005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-2.37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7E83BE-7FA2-4F34-955C-CB65A22FBDB4}"/>
              </a:ext>
            </a:extLst>
          </p:cNvPr>
          <p:cNvSpPr>
            <a:spLocks noGrp="1"/>
          </p:cNvSpPr>
          <p:nvPr/>
        </p:nvSpPr>
        <p:spPr>
          <a:xfrm>
            <a:off x="857250" y="4638675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Natural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E01B4A5-12C8-408F-99B8-D99BEEFA00BB}"/>
              </a:ext>
            </a:extLst>
          </p:cNvPr>
          <p:cNvSpPr>
            <a:spLocks noGrp="1"/>
          </p:cNvSpPr>
          <p:nvPr/>
        </p:nvSpPr>
        <p:spPr>
          <a:xfrm>
            <a:off x="2095500" y="4752975"/>
            <a:ext cx="40957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4A00E0A-6296-4CEB-9A31-A0EFAA5E2502}"/>
              </a:ext>
            </a:extLst>
          </p:cNvPr>
          <p:cNvSpPr>
            <a:spLocks noGrp="1"/>
          </p:cNvSpPr>
          <p:nvPr/>
        </p:nvSpPr>
        <p:spPr>
          <a:xfrm>
            <a:off x="2095500" y="4648200"/>
            <a:ext cx="3092291" cy="209550"/>
          </a:xfrm>
          <a:prstGeom prst="rect">
            <a:avLst/>
          </a:prstGeom>
          <a:solidFill>
            <a:srgbClr val="5A6470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C62CD41-8382-4A76-A5F2-9D5A0401B222}"/>
              </a:ext>
            </a:extLst>
          </p:cNvPr>
          <p:cNvSpPr>
            <a:spLocks noGrp="1"/>
          </p:cNvSpPr>
          <p:nvPr/>
        </p:nvSpPr>
        <p:spPr>
          <a:xfrm>
            <a:off x="5263991" y="465772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19.63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A7B58B-3A7D-440F-9E9B-41FDBC51EA3A}"/>
              </a:ext>
            </a:extLst>
          </p:cNvPr>
          <p:cNvSpPr>
            <a:spLocks noGrp="1"/>
          </p:cNvSpPr>
          <p:nvPr/>
        </p:nvSpPr>
        <p:spPr>
          <a:xfrm>
            <a:off x="5686425" y="4657725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1D4BF33-84D4-4A48-B2D5-C46436C31853}"/>
              </a:ext>
            </a:extLst>
          </p:cNvPr>
          <p:cNvSpPr>
            <a:spLocks noGrp="1"/>
          </p:cNvSpPr>
          <p:nvPr/>
        </p:nvSpPr>
        <p:spPr>
          <a:xfrm>
            <a:off x="5187791" y="2381250"/>
            <a:ext cx="9525" cy="2476500"/>
          </a:xfrm>
          <a:prstGeom prst="rect">
            <a:avLst/>
          </a:prstGeom>
          <a:solidFill>
            <a:srgbClr val="B7892F"/>
          </a:solidFill>
          <a:ln w="0">
            <a:solidFill>
              <a:srgbClr val="B7892F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DA5135-E37D-4CF2-87A1-6EC0182067D5}"/>
              </a:ext>
            </a:extLst>
          </p:cNvPr>
          <p:cNvSpPr>
            <a:spLocks noGrp="1"/>
          </p:cNvSpPr>
          <p:nvPr/>
        </p:nvSpPr>
        <p:spPr>
          <a:xfrm>
            <a:off x="5263991" y="2343150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88" b="0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7892F"/>
                </a:solidFill>
                <a:latin typeface="Aptos"/>
                <a:ea typeface="Aptos"/>
                <a:cs typeface="Aptos"/>
              </a:rPr>
              <a:t>natural</a:t>
            </a:r>
          </a:p>
          <a:p>
            <a:pPr algn="l">
              <a:defRPr sz="788" b="0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7892F"/>
                </a:solidFill>
                <a:latin typeface="Aptos"/>
                <a:ea typeface="Aptos"/>
                <a:cs typeface="Aptos"/>
              </a:rPr>
              <a:t>19.63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8D6974-D336-49E9-90E3-68091FF87193}"/>
              </a:ext>
            </a:extLst>
          </p:cNvPr>
          <p:cNvSpPr>
            <a:spLocks noGrp="1"/>
          </p:cNvSpPr>
          <p:nvPr/>
        </p:nvSpPr>
        <p:spPr>
          <a:xfrm>
            <a:off x="7067550" y="2285999"/>
            <a:ext cx="3238500" cy="2683565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E85BFC-9419-4993-8AB5-1BCFF4E345A7}"/>
              </a:ext>
            </a:extLst>
          </p:cNvPr>
          <p:cNvSpPr>
            <a:spLocks noGrp="1"/>
          </p:cNvSpPr>
          <p:nvPr/>
        </p:nvSpPr>
        <p:spPr>
          <a:xfrm>
            <a:off x="7067550" y="2286000"/>
            <a:ext cx="64001" cy="2683564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CEF959-6F54-4A79-8E6A-3FDAB5C8F093}"/>
              </a:ext>
            </a:extLst>
          </p:cNvPr>
          <p:cNvSpPr>
            <a:spLocks noGrp="1"/>
          </p:cNvSpPr>
          <p:nvPr/>
        </p:nvSpPr>
        <p:spPr>
          <a:xfrm>
            <a:off x="7334250" y="2552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Quality interpretation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459B7E5-A56E-4AF8-9E6C-A43208F51A1A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23622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KGW raises PPL above baseline, suggesting visible distribution distortion. EXP pushes PPL far below baseline, suggesting reduced lexical diversity.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A59820E-B3BD-43DB-BD68-960152A7473C}"/>
              </a:ext>
            </a:extLst>
          </p:cNvPr>
          <p:cNvSpPr>
            <a:spLocks noGrp="1"/>
          </p:cNvSpPr>
          <p:nvPr/>
        </p:nvSpPr>
        <p:spPr>
          <a:xfrm>
            <a:off x="7334250" y="3943350"/>
            <a:ext cx="226695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3331AAD-D079-41CB-B173-0792AE7E2326}"/>
              </a:ext>
            </a:extLst>
          </p:cNvPr>
          <p:cNvSpPr>
            <a:spLocks noGrp="1"/>
          </p:cNvSpPr>
          <p:nvPr/>
        </p:nvSpPr>
        <p:spPr>
          <a:xfrm>
            <a:off x="7334250" y="4171950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PPL = 17.26, with delta PPL = -2.37, making it closest to natural output in this table.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027A4B-8044-4488-B590-410ED0FC871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5054B58-F1DA-40E5-89A2-D7183F864CC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 4 and Section 5.3.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45C58D3-091B-408D-9FB7-117036CF9C1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4689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kicker-8-marker">
            <a:extLst>
              <a:ext uri="{FF2B5EF4-FFF2-40B4-BE49-F238E27FC236}">
                <a16:creationId xmlns:a16="http://schemas.microsoft.com/office/drawing/2014/main" id="{30E610FC-D444-47C7-89ED-9EFFB86F35B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8-label">
            <a:extLst>
              <a:ext uri="{FF2B5EF4-FFF2-40B4-BE49-F238E27FC236}">
                <a16:creationId xmlns:a16="http://schemas.microsoft.com/office/drawing/2014/main" id="{46C09912-9E20-43D5-A365-D2450489CE4D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FDE076-DD78-40C3-8380-E6C4E0A5B4F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Baseline sensitivity explains why neither single method is the final answer.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9E4AE7-8222-4B5C-A71D-2B482B79E52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9F64D5-C3C8-4477-ACC4-5D399A4F6EE0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5720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D43A9-194B-479D-8F2E-3ADD7814537F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KGW strength delta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EA7445-D85D-4BB7-BDFE-15B74A8FF651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TPR rises only when delta becomes aggressive, which can distort quality.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1A8508-CE27-43CF-B8FC-D3B851AB6F71}"/>
              </a:ext>
            </a:extLst>
          </p:cNvPr>
          <p:cNvSpPr>
            <a:spLocks noGrp="1"/>
          </p:cNvSpPr>
          <p:nvPr/>
        </p:nvSpPr>
        <p:spPr>
          <a:xfrm>
            <a:off x="1123950" y="4495800"/>
            <a:ext cx="3429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A01B3C-2391-4BEA-A0EA-38076D98B096}"/>
              </a:ext>
            </a:extLst>
          </p:cNvPr>
          <p:cNvSpPr>
            <a:spLocks noGrp="1"/>
          </p:cNvSpPr>
          <p:nvPr/>
        </p:nvSpPr>
        <p:spPr>
          <a:xfrm>
            <a:off x="1123950" y="4476750"/>
            <a:ext cx="533400" cy="1905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ED112B-5452-4107-85B7-4D411D84AE6E}"/>
              </a:ext>
            </a:extLst>
          </p:cNvPr>
          <p:cNvSpPr>
            <a:spLocks noGrp="1"/>
          </p:cNvSpPr>
          <p:nvPr/>
        </p:nvSpPr>
        <p:spPr>
          <a:xfrm>
            <a:off x="1123950" y="42386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499390-AB4D-4C0D-A3BC-17E2047E78B4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4F1676-DA1C-4376-9BCA-A97E403EEF6A}"/>
              </a:ext>
            </a:extLst>
          </p:cNvPr>
          <p:cNvSpPr>
            <a:spLocks noGrp="1"/>
          </p:cNvSpPr>
          <p:nvPr/>
        </p:nvSpPr>
        <p:spPr>
          <a:xfrm>
            <a:off x="1847850" y="4476750"/>
            <a:ext cx="533400" cy="1905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A27272-BFD0-4BB0-8F28-D70B55AC1E1C}"/>
              </a:ext>
            </a:extLst>
          </p:cNvPr>
          <p:cNvSpPr>
            <a:spLocks noGrp="1"/>
          </p:cNvSpPr>
          <p:nvPr/>
        </p:nvSpPr>
        <p:spPr>
          <a:xfrm>
            <a:off x="1847850" y="42386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08CFC5-3FDE-4DC2-ADD5-1B0D7438360D}"/>
              </a:ext>
            </a:extLst>
          </p:cNvPr>
          <p:cNvSpPr>
            <a:spLocks noGrp="1"/>
          </p:cNvSpPr>
          <p:nvPr/>
        </p:nvSpPr>
        <p:spPr>
          <a:xfrm>
            <a:off x="1790700" y="45910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2A9332-743C-4B3B-9540-4D064083A3CE}"/>
              </a:ext>
            </a:extLst>
          </p:cNvPr>
          <p:cNvSpPr>
            <a:spLocks noGrp="1"/>
          </p:cNvSpPr>
          <p:nvPr/>
        </p:nvSpPr>
        <p:spPr>
          <a:xfrm>
            <a:off x="2571750" y="4282440"/>
            <a:ext cx="533400" cy="21336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C5D5A6-A3FC-4BDB-943D-457F22EB0A86}"/>
              </a:ext>
            </a:extLst>
          </p:cNvPr>
          <p:cNvSpPr>
            <a:spLocks noGrp="1"/>
          </p:cNvSpPr>
          <p:nvPr/>
        </p:nvSpPr>
        <p:spPr>
          <a:xfrm>
            <a:off x="2571750" y="404431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75DB87-18D1-42C7-A51F-A168867CD9F0}"/>
              </a:ext>
            </a:extLst>
          </p:cNvPr>
          <p:cNvSpPr>
            <a:spLocks noGrp="1"/>
          </p:cNvSpPr>
          <p:nvPr/>
        </p:nvSpPr>
        <p:spPr>
          <a:xfrm>
            <a:off x="2514600" y="45910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0.5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9F5A59-E1E7-4F06-B826-FEC4179D3195}"/>
              </a:ext>
            </a:extLst>
          </p:cNvPr>
          <p:cNvSpPr>
            <a:spLocks noGrp="1"/>
          </p:cNvSpPr>
          <p:nvPr/>
        </p:nvSpPr>
        <p:spPr>
          <a:xfrm>
            <a:off x="3295650" y="3855720"/>
            <a:ext cx="533400" cy="64008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CFBFCE-F3CC-460E-8D62-9DC03F2C1BDF}"/>
              </a:ext>
            </a:extLst>
          </p:cNvPr>
          <p:cNvSpPr>
            <a:spLocks noGrp="1"/>
          </p:cNvSpPr>
          <p:nvPr/>
        </p:nvSpPr>
        <p:spPr>
          <a:xfrm>
            <a:off x="3295650" y="361759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555B1E-CE54-45F8-A693-B1DA23F4FB73}"/>
              </a:ext>
            </a:extLst>
          </p:cNvPr>
          <p:cNvSpPr>
            <a:spLocks noGrp="1"/>
          </p:cNvSpPr>
          <p:nvPr/>
        </p:nvSpPr>
        <p:spPr>
          <a:xfrm>
            <a:off x="3238500" y="45910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082B09-3BBD-47E4-93CA-CD534A8F773E}"/>
              </a:ext>
            </a:extLst>
          </p:cNvPr>
          <p:cNvSpPr>
            <a:spLocks noGrp="1"/>
          </p:cNvSpPr>
          <p:nvPr/>
        </p:nvSpPr>
        <p:spPr>
          <a:xfrm>
            <a:off x="4019550" y="3429000"/>
            <a:ext cx="533400" cy="1066800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756339-2A57-4A4D-A753-40434AE01731}"/>
              </a:ext>
            </a:extLst>
          </p:cNvPr>
          <p:cNvSpPr>
            <a:spLocks noGrp="1"/>
          </p:cNvSpPr>
          <p:nvPr/>
        </p:nvSpPr>
        <p:spPr>
          <a:xfrm>
            <a:off x="4019550" y="31908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FC3F50-8778-4F31-A198-610F7D820B64}"/>
              </a:ext>
            </a:extLst>
          </p:cNvPr>
          <p:cNvSpPr>
            <a:spLocks noGrp="1"/>
          </p:cNvSpPr>
          <p:nvPr/>
        </p:nvSpPr>
        <p:spPr>
          <a:xfrm>
            <a:off x="3962400" y="459105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2.0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D8C3DD-C620-40BD-8D68-B4F2EAC45544}"/>
              </a:ext>
            </a:extLst>
          </p:cNvPr>
          <p:cNvSpPr>
            <a:spLocks noGrp="1"/>
          </p:cNvSpPr>
          <p:nvPr/>
        </p:nvSpPr>
        <p:spPr>
          <a:xfrm>
            <a:off x="6096000" y="2076450"/>
            <a:ext cx="4572000" cy="3105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4EFEF7-92B7-44A6-976A-C99CBEF4B957}"/>
              </a:ext>
            </a:extLst>
          </p:cNvPr>
          <p:cNvSpPr>
            <a:spLocks noGrp="1"/>
          </p:cNvSpPr>
          <p:nvPr/>
        </p:nvSpPr>
        <p:spPr>
          <a:xfrm>
            <a:off x="6381750" y="23241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 threshold tau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ACBF57-B514-4456-B132-2C570EB3FAFA}"/>
              </a:ext>
            </a:extLst>
          </p:cNvPr>
          <p:cNvSpPr>
            <a:spLocks noGrp="1"/>
          </p:cNvSpPr>
          <p:nvPr/>
        </p:nvSpPr>
        <p:spPr>
          <a:xfrm>
            <a:off x="6381750" y="2628900"/>
            <a:ext cx="3286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88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 is stable over threshold choices, but still degrades when token positions are deleted.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DD5ABA-4278-48DE-9C00-FBEC34B4ABCC}"/>
              </a:ext>
            </a:extLst>
          </p:cNvPr>
          <p:cNvSpPr>
            <a:spLocks noGrp="1"/>
          </p:cNvSpPr>
          <p:nvPr/>
        </p:nvSpPr>
        <p:spPr>
          <a:xfrm>
            <a:off x="6496050" y="4495800"/>
            <a:ext cx="3048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BFBBA6-AE2E-44EE-9AEE-93E9B2976D5F}"/>
              </a:ext>
            </a:extLst>
          </p:cNvPr>
          <p:cNvSpPr>
            <a:spLocks noGrp="1"/>
          </p:cNvSpPr>
          <p:nvPr/>
        </p:nvSpPr>
        <p:spPr>
          <a:xfrm>
            <a:off x="6496050" y="3535680"/>
            <a:ext cx="774700" cy="96012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15581E-CCBE-4AEA-A292-3759A7F54D32}"/>
              </a:ext>
            </a:extLst>
          </p:cNvPr>
          <p:cNvSpPr>
            <a:spLocks noGrp="1"/>
          </p:cNvSpPr>
          <p:nvPr/>
        </p:nvSpPr>
        <p:spPr>
          <a:xfrm>
            <a:off x="6496050" y="3297555"/>
            <a:ext cx="77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400FF2-A202-4D33-8CA9-B3944AA813F9}"/>
              </a:ext>
            </a:extLst>
          </p:cNvPr>
          <p:cNvSpPr>
            <a:spLocks noGrp="1"/>
          </p:cNvSpPr>
          <p:nvPr/>
        </p:nvSpPr>
        <p:spPr>
          <a:xfrm>
            <a:off x="6438900" y="4591050"/>
            <a:ext cx="88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1e-6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D45E9A-AFEC-4FC3-BCCB-706C84B622D4}"/>
              </a:ext>
            </a:extLst>
          </p:cNvPr>
          <p:cNvSpPr>
            <a:spLocks noGrp="1"/>
          </p:cNvSpPr>
          <p:nvPr/>
        </p:nvSpPr>
        <p:spPr>
          <a:xfrm>
            <a:off x="7632700" y="3482340"/>
            <a:ext cx="774700" cy="101346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A90221E-A376-4313-A08C-B3682C6A68A0}"/>
              </a:ext>
            </a:extLst>
          </p:cNvPr>
          <p:cNvSpPr>
            <a:spLocks noGrp="1"/>
          </p:cNvSpPr>
          <p:nvPr/>
        </p:nvSpPr>
        <p:spPr>
          <a:xfrm>
            <a:off x="7632700" y="3244215"/>
            <a:ext cx="77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A4C7B74-15BC-43EB-A186-60C8361F2415}"/>
              </a:ext>
            </a:extLst>
          </p:cNvPr>
          <p:cNvSpPr>
            <a:spLocks noGrp="1"/>
          </p:cNvSpPr>
          <p:nvPr/>
        </p:nvSpPr>
        <p:spPr>
          <a:xfrm>
            <a:off x="7575550" y="4591050"/>
            <a:ext cx="88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E1BDB8-A2A8-4118-8D9A-21606FC0057F}"/>
              </a:ext>
            </a:extLst>
          </p:cNvPr>
          <p:cNvSpPr>
            <a:spLocks noGrp="1"/>
          </p:cNvSpPr>
          <p:nvPr/>
        </p:nvSpPr>
        <p:spPr>
          <a:xfrm>
            <a:off x="8769350" y="3482340"/>
            <a:ext cx="774700" cy="101346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4F637BE-B609-4476-928A-291D847F3D1F}"/>
              </a:ext>
            </a:extLst>
          </p:cNvPr>
          <p:cNvSpPr>
            <a:spLocks noGrp="1"/>
          </p:cNvSpPr>
          <p:nvPr/>
        </p:nvSpPr>
        <p:spPr>
          <a:xfrm>
            <a:off x="8769350" y="3244215"/>
            <a:ext cx="77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D91074B-CB13-48F3-8DF3-4E79AA3DFDE5}"/>
              </a:ext>
            </a:extLst>
          </p:cNvPr>
          <p:cNvSpPr>
            <a:spLocks noGrp="1"/>
          </p:cNvSpPr>
          <p:nvPr/>
        </p:nvSpPr>
        <p:spPr>
          <a:xfrm>
            <a:off x="8712200" y="4591050"/>
            <a:ext cx="88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00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1e-2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6E472DE-C4DA-4682-9010-5D40190620BB}"/>
              </a:ext>
            </a:extLst>
          </p:cNvPr>
          <p:cNvSpPr>
            <a:spLocks noGrp="1"/>
          </p:cNvSpPr>
          <p:nvPr/>
        </p:nvSpPr>
        <p:spPr>
          <a:xfrm>
            <a:off x="3962400" y="5391150"/>
            <a:ext cx="38100" cy="552450"/>
          </a:xfrm>
          <a:prstGeom prst="rect">
            <a:avLst/>
          </a:prstGeom>
          <a:solidFill>
            <a:srgbClr val="B7892F"/>
          </a:solidFill>
          <a:ln w="0">
            <a:solidFill>
              <a:srgbClr val="B7892F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9C39FE-D8B5-44D0-AAED-D86711244A0D}"/>
              </a:ext>
            </a:extLst>
          </p:cNvPr>
          <p:cNvSpPr>
            <a:spLocks noGrp="1"/>
          </p:cNvSpPr>
          <p:nvPr/>
        </p:nvSpPr>
        <p:spPr>
          <a:xfrm>
            <a:off x="4114800" y="5467350"/>
            <a:ext cx="3867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Fusion logic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96D78C2-E0EB-4F85-8162-AE9B1D340B3F}"/>
              </a:ext>
            </a:extLst>
          </p:cNvPr>
          <p:cNvSpPr>
            <a:spLocks noGrp="1"/>
          </p:cNvSpPr>
          <p:nvPr/>
        </p:nvSpPr>
        <p:spPr>
          <a:xfrm>
            <a:off x="4114800" y="5715000"/>
            <a:ext cx="3867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does not replace the baselines; it exploits their complementary failure modes.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A1F5FD4-F1F0-4085-8B1D-81ECB40991C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BB5A9BC-A961-4B0B-A666-C0985F712DD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Tables 5-6 and Section 4.4.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1F522F-F077-4389-8CC7-F8D9502E289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705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kicker-9-marker">
            <a:extLst>
              <a:ext uri="{FF2B5EF4-FFF2-40B4-BE49-F238E27FC236}">
                <a16:creationId xmlns:a16="http://schemas.microsoft.com/office/drawing/2014/main" id="{443A3EAB-B7E4-45B8-9A23-A1908345C83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9-label">
            <a:extLst>
              <a:ext uri="{FF2B5EF4-FFF2-40B4-BE49-F238E27FC236}">
                <a16:creationId xmlns:a16="http://schemas.microsoft.com/office/drawing/2014/main" id="{0776EAC5-A5D9-4A1B-9F09-E78EFC2E2AD0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51FE0-3148-4E7C-90A0-82B353A7153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Single-method attacks expose the robustness gap that motivated fusion.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688B07-E01C-4904-A76D-1A1BA20C62C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F52FEE-477A-4D21-9B3D-A9DE65C03857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Baseline n=20 attack TPR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8FA839-04CE-47D9-B4BD-2DA0E8A3663F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6477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E65634-6906-401C-88AC-0E9B78D8B005}"/>
              </a:ext>
            </a:extLst>
          </p:cNvPr>
          <p:cNvSpPr>
            <a:spLocks noGrp="1"/>
          </p:cNvSpPr>
          <p:nvPr/>
        </p:nvSpPr>
        <p:spPr>
          <a:xfrm>
            <a:off x="1565275" y="2857500"/>
            <a:ext cx="457200" cy="18097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A5B98-7625-4547-B238-578A2D51275D}"/>
              </a:ext>
            </a:extLst>
          </p:cNvPr>
          <p:cNvSpPr>
            <a:spLocks noGrp="1"/>
          </p:cNvSpPr>
          <p:nvPr/>
        </p:nvSpPr>
        <p:spPr>
          <a:xfrm>
            <a:off x="1527175" y="26479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1DEB4F-1E06-4793-92B4-9AEFC8ADC7CC}"/>
              </a:ext>
            </a:extLst>
          </p:cNvPr>
          <p:cNvSpPr>
            <a:spLocks noGrp="1"/>
          </p:cNvSpPr>
          <p:nvPr/>
        </p:nvSpPr>
        <p:spPr>
          <a:xfrm>
            <a:off x="2117725" y="3219450"/>
            <a:ext cx="457200" cy="14478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35B448-0B9E-4188-80E9-DFBC3222FF2A}"/>
              </a:ext>
            </a:extLst>
          </p:cNvPr>
          <p:cNvSpPr>
            <a:spLocks noGrp="1"/>
          </p:cNvSpPr>
          <p:nvPr/>
        </p:nvSpPr>
        <p:spPr>
          <a:xfrm>
            <a:off x="2079625" y="300990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0.80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1F54A0-1ECE-4A55-8F71-17820A584155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2006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attack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016F6B-4A27-48ED-8B93-1604B050E8CE}"/>
              </a:ext>
            </a:extLst>
          </p:cNvPr>
          <p:cNvSpPr>
            <a:spLocks noGrp="1"/>
          </p:cNvSpPr>
          <p:nvPr/>
        </p:nvSpPr>
        <p:spPr>
          <a:xfrm>
            <a:off x="3724275" y="4576763"/>
            <a:ext cx="457200" cy="90488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DD13D5-8975-4246-91B3-E2A6D7F66503}"/>
              </a:ext>
            </a:extLst>
          </p:cNvPr>
          <p:cNvSpPr>
            <a:spLocks noGrp="1"/>
          </p:cNvSpPr>
          <p:nvPr/>
        </p:nvSpPr>
        <p:spPr>
          <a:xfrm>
            <a:off x="3686175" y="4367213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7DCC7F-EAAA-489F-B319-50460EE4D3E8}"/>
              </a:ext>
            </a:extLst>
          </p:cNvPr>
          <p:cNvSpPr>
            <a:spLocks noGrp="1"/>
          </p:cNvSpPr>
          <p:nvPr/>
        </p:nvSpPr>
        <p:spPr>
          <a:xfrm>
            <a:off x="4276725" y="4576763"/>
            <a:ext cx="457200" cy="90488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5CC470-B038-4336-A22C-387556A1AF5D}"/>
              </a:ext>
            </a:extLst>
          </p:cNvPr>
          <p:cNvSpPr>
            <a:spLocks noGrp="1"/>
          </p:cNvSpPr>
          <p:nvPr/>
        </p:nvSpPr>
        <p:spPr>
          <a:xfrm>
            <a:off x="4238625" y="4367213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0.05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9D136C-C196-4F36-9BF5-856141700A40}"/>
              </a:ext>
            </a:extLst>
          </p:cNvPr>
          <p:cNvSpPr>
            <a:spLocks noGrp="1"/>
          </p:cNvSpPr>
          <p:nvPr/>
        </p:nvSpPr>
        <p:spPr>
          <a:xfrm>
            <a:off x="3225800" y="4781550"/>
            <a:ext cx="2006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86C1DF-DD15-417C-A6F8-62A6C20CD686}"/>
              </a:ext>
            </a:extLst>
          </p:cNvPr>
          <p:cNvSpPr>
            <a:spLocks noGrp="1"/>
          </p:cNvSpPr>
          <p:nvPr/>
        </p:nvSpPr>
        <p:spPr>
          <a:xfrm>
            <a:off x="5883275" y="4648200"/>
            <a:ext cx="457200" cy="1905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152554-1147-4B18-8064-44A065B7A94C}"/>
              </a:ext>
            </a:extLst>
          </p:cNvPr>
          <p:cNvSpPr>
            <a:spLocks noGrp="1"/>
          </p:cNvSpPr>
          <p:nvPr/>
        </p:nvSpPr>
        <p:spPr>
          <a:xfrm>
            <a:off x="5845175" y="4438650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729CD6-7235-4186-98F0-8DB7C88EE159}"/>
              </a:ext>
            </a:extLst>
          </p:cNvPr>
          <p:cNvSpPr>
            <a:spLocks noGrp="1"/>
          </p:cNvSpPr>
          <p:nvPr/>
        </p:nvSpPr>
        <p:spPr>
          <a:xfrm>
            <a:off x="6435725" y="4486275"/>
            <a:ext cx="457200" cy="180975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8D37C3-F762-436B-8694-21340D137E60}"/>
              </a:ext>
            </a:extLst>
          </p:cNvPr>
          <p:cNvSpPr>
            <a:spLocks noGrp="1"/>
          </p:cNvSpPr>
          <p:nvPr/>
        </p:nvSpPr>
        <p:spPr>
          <a:xfrm>
            <a:off x="6397625" y="4276725"/>
            <a:ext cx="533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0.10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B8BEE9-2D71-4EB5-89DC-71F16F573044}"/>
              </a:ext>
            </a:extLst>
          </p:cNvPr>
          <p:cNvSpPr>
            <a:spLocks noGrp="1"/>
          </p:cNvSpPr>
          <p:nvPr/>
        </p:nvSpPr>
        <p:spPr>
          <a:xfrm>
            <a:off x="5384800" y="4781550"/>
            <a:ext cx="2006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E7BB22-FB6F-40D3-8D7A-5196DF93F93A}"/>
              </a:ext>
            </a:extLst>
          </p:cNvPr>
          <p:cNvSpPr>
            <a:spLocks noGrp="1"/>
          </p:cNvSpPr>
          <p:nvPr/>
        </p:nvSpPr>
        <p:spPr>
          <a:xfrm>
            <a:off x="5848350" y="2438400"/>
            <a:ext cx="114300" cy="11430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3A8CD4F-51EF-4898-9044-8F3493EA5487}"/>
              </a:ext>
            </a:extLst>
          </p:cNvPr>
          <p:cNvSpPr>
            <a:spLocks noGrp="1"/>
          </p:cNvSpPr>
          <p:nvPr/>
        </p:nvSpPr>
        <p:spPr>
          <a:xfrm>
            <a:off x="6019800" y="24003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6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BB17FA-032B-44FB-BB01-FF7EB5F2DCED}"/>
              </a:ext>
            </a:extLst>
          </p:cNvPr>
          <p:cNvSpPr>
            <a:spLocks noGrp="1"/>
          </p:cNvSpPr>
          <p:nvPr/>
        </p:nvSpPr>
        <p:spPr>
          <a:xfrm>
            <a:off x="6667500" y="2438400"/>
            <a:ext cx="114300" cy="1143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C035F2B-89E0-41FD-95C3-A46A06E053D9}"/>
              </a:ext>
            </a:extLst>
          </p:cNvPr>
          <p:cNvSpPr>
            <a:spLocks noGrp="1"/>
          </p:cNvSpPr>
          <p:nvPr/>
        </p:nvSpPr>
        <p:spPr>
          <a:xfrm>
            <a:off x="6838950" y="24003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6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65D03F-685B-45DD-9B4E-E09B2451E510}"/>
              </a:ext>
            </a:extLst>
          </p:cNvPr>
          <p:cNvSpPr>
            <a:spLocks noGrp="1"/>
          </p:cNvSpPr>
          <p:nvPr/>
        </p:nvSpPr>
        <p:spPr>
          <a:xfrm>
            <a:off x="8239125" y="2266950"/>
            <a:ext cx="2667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5CE063-4944-4289-B39B-30BA74B1A749}"/>
              </a:ext>
            </a:extLst>
          </p:cNvPr>
          <p:cNvSpPr>
            <a:spLocks noGrp="1"/>
          </p:cNvSpPr>
          <p:nvPr/>
        </p:nvSpPr>
        <p:spPr>
          <a:xfrm>
            <a:off x="8239125" y="2266950"/>
            <a:ext cx="45719" cy="1809750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632130-3E0C-4598-99BC-3A28717D7F37}"/>
              </a:ext>
            </a:extLst>
          </p:cNvPr>
          <p:cNvSpPr>
            <a:spLocks noGrp="1"/>
          </p:cNvSpPr>
          <p:nvPr/>
        </p:nvSpPr>
        <p:spPr>
          <a:xfrm>
            <a:off x="8524875" y="25336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A8EEEB-24A2-4E86-9C00-7E0C8A3F18B3}"/>
              </a:ext>
            </a:extLst>
          </p:cNvPr>
          <p:cNvSpPr>
            <a:spLocks noGrp="1"/>
          </p:cNvSpPr>
          <p:nvPr/>
        </p:nvSpPr>
        <p:spPr>
          <a:xfrm>
            <a:off x="8524875" y="2990850"/>
            <a:ext cx="1952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Both KGW and EXP are token-level watermarks. Word-S changes token identities; Word-D removes scored positions.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F046B9-77C0-45AA-B65A-04A495689031}"/>
              </a:ext>
            </a:extLst>
          </p:cNvPr>
          <p:cNvSpPr>
            <a:spLocks noGrp="1"/>
          </p:cNvSpPr>
          <p:nvPr/>
        </p:nvSpPr>
        <p:spPr>
          <a:xfrm>
            <a:off x="990600" y="5334000"/>
            <a:ext cx="38100" cy="609600"/>
          </a:xfrm>
          <a:prstGeom prst="rect">
            <a:avLst/>
          </a:prstGeom>
          <a:solidFill>
            <a:srgbClr val="C7634B"/>
          </a:solidFill>
          <a:ln w="0">
            <a:solidFill>
              <a:srgbClr val="C7634B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3BD49B-AE35-4B70-9CD5-CADB5D232C88}"/>
              </a:ext>
            </a:extLst>
          </p:cNvPr>
          <p:cNvSpPr>
            <a:spLocks noGrp="1"/>
          </p:cNvSpPr>
          <p:nvPr/>
        </p:nvSpPr>
        <p:spPr>
          <a:xfrm>
            <a:off x="1143000" y="5410200"/>
            <a:ext cx="6343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C763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634B"/>
                </a:solidFill>
                <a:latin typeface="Aptos"/>
                <a:ea typeface="Aptos"/>
                <a:cs typeface="Aptos"/>
              </a:rPr>
              <a:t>Baseline result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05436B-0F57-4C3F-A25F-96AD15027D28}"/>
              </a:ext>
            </a:extLst>
          </p:cNvPr>
          <p:cNvSpPr>
            <a:spLocks noGrp="1"/>
          </p:cNvSpPr>
          <p:nvPr/>
        </p:nvSpPr>
        <p:spPr>
          <a:xfrm>
            <a:off x="1143000" y="5657850"/>
            <a:ext cx="634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Word-S reduces both EXP and KGW to 0.050 TPR; Word-D leaves EXP at 0.000 and KGW at 0.100.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51E10BA-B464-47BB-B1A0-0B35193E393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90157D5-E81A-4FC3-B7E9-E515EEFE283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 7 and Section 4.5.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69B9ED2-6299-4452-B7A9-F310496B23F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039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kicker-10-marker">
            <a:extLst>
              <a:ext uri="{FF2B5EF4-FFF2-40B4-BE49-F238E27FC236}">
                <a16:creationId xmlns:a16="http://schemas.microsoft.com/office/drawing/2014/main" id="{33DA1886-1F11-4A36-99C4-81AFC95E23F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10-label">
            <a:extLst>
              <a:ext uri="{FF2B5EF4-FFF2-40B4-BE49-F238E27FC236}">
                <a16:creationId xmlns:a16="http://schemas.microsoft.com/office/drawing/2014/main" id="{56CE9879-8DC8-4C66-9B0D-107285C0DAEC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85B37E-EBEA-42EC-A2A7-AAC054F6E31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Combined improves robustness most where deletion weakens EXP.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B7CC22-E88A-49D8-9515-3FB3176D0D18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60CB33-953C-4C24-A7E4-FEE0F822F499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n=50 C4 robustness TPR; FPR = 0.000 in all conditions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2F0F92-6B7F-477F-A7C6-53EDC96EDFC2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72390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3E548F-DF96-4CF7-8927-639A7938C4E7}"/>
              </a:ext>
            </a:extLst>
          </p:cNvPr>
          <p:cNvSpPr>
            <a:spLocks noGrp="1"/>
          </p:cNvSpPr>
          <p:nvPr/>
        </p:nvSpPr>
        <p:spPr>
          <a:xfrm>
            <a:off x="1473200" y="3034665"/>
            <a:ext cx="342900" cy="1880235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EFD455-675A-4848-9845-04AF286EB838}"/>
              </a:ext>
            </a:extLst>
          </p:cNvPr>
          <p:cNvSpPr>
            <a:spLocks noGrp="1"/>
          </p:cNvSpPr>
          <p:nvPr/>
        </p:nvSpPr>
        <p:spPr>
          <a:xfrm>
            <a:off x="1435100" y="2825115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7123EA-C36F-479F-80B6-ADD6BBB26B60}"/>
              </a:ext>
            </a:extLst>
          </p:cNvPr>
          <p:cNvSpPr>
            <a:spLocks noGrp="1"/>
          </p:cNvSpPr>
          <p:nvPr/>
        </p:nvSpPr>
        <p:spPr>
          <a:xfrm>
            <a:off x="1911350" y="2954655"/>
            <a:ext cx="342900" cy="1960245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C23719-D5D8-402A-B41A-DFE68C117D45}"/>
              </a:ext>
            </a:extLst>
          </p:cNvPr>
          <p:cNvSpPr>
            <a:spLocks noGrp="1"/>
          </p:cNvSpPr>
          <p:nvPr/>
        </p:nvSpPr>
        <p:spPr>
          <a:xfrm>
            <a:off x="1873250" y="2745105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0.98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18E91C-66ED-41F4-A698-83869AFA3609}"/>
              </a:ext>
            </a:extLst>
          </p:cNvPr>
          <p:cNvSpPr>
            <a:spLocks noGrp="1"/>
          </p:cNvSpPr>
          <p:nvPr/>
        </p:nvSpPr>
        <p:spPr>
          <a:xfrm>
            <a:off x="2349500" y="2914650"/>
            <a:ext cx="342900" cy="200025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D2CB49-8940-4EF7-95F0-FDD3441F10D0}"/>
              </a:ext>
            </a:extLst>
          </p:cNvPr>
          <p:cNvSpPr>
            <a:spLocks noGrp="1"/>
          </p:cNvSpPr>
          <p:nvPr/>
        </p:nvSpPr>
        <p:spPr>
          <a:xfrm>
            <a:off x="2311400" y="2705100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1.00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549482-B884-4D56-A8ED-21070B70E1F1}"/>
              </a:ext>
            </a:extLst>
          </p:cNvPr>
          <p:cNvSpPr>
            <a:spLocks noGrp="1"/>
          </p:cNvSpPr>
          <p:nvPr/>
        </p:nvSpPr>
        <p:spPr>
          <a:xfrm>
            <a:off x="952500" y="5029200"/>
            <a:ext cx="226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attack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287C53-3A40-46C3-A7ED-5F8345CCD5C7}"/>
              </a:ext>
            </a:extLst>
          </p:cNvPr>
          <p:cNvSpPr>
            <a:spLocks noGrp="1"/>
          </p:cNvSpPr>
          <p:nvPr/>
        </p:nvSpPr>
        <p:spPr>
          <a:xfrm>
            <a:off x="3886200" y="4514850"/>
            <a:ext cx="342900" cy="40005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4A5B3D-5A6F-4A6E-B910-4F16F2655753}"/>
              </a:ext>
            </a:extLst>
          </p:cNvPr>
          <p:cNvSpPr>
            <a:spLocks noGrp="1"/>
          </p:cNvSpPr>
          <p:nvPr/>
        </p:nvSpPr>
        <p:spPr>
          <a:xfrm>
            <a:off x="3848100" y="4305300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0.20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BB1106-399D-4EE6-B754-1380D06D513F}"/>
              </a:ext>
            </a:extLst>
          </p:cNvPr>
          <p:cNvSpPr>
            <a:spLocks noGrp="1"/>
          </p:cNvSpPr>
          <p:nvPr/>
        </p:nvSpPr>
        <p:spPr>
          <a:xfrm>
            <a:off x="4324350" y="3194685"/>
            <a:ext cx="342900" cy="1720215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F47CF89-056A-464B-9DBE-BE30C234BD77}"/>
              </a:ext>
            </a:extLst>
          </p:cNvPr>
          <p:cNvSpPr>
            <a:spLocks noGrp="1"/>
          </p:cNvSpPr>
          <p:nvPr/>
        </p:nvSpPr>
        <p:spPr>
          <a:xfrm>
            <a:off x="4286250" y="2985135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0.86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387A53-D859-4199-8A2E-C69435AF8963}"/>
              </a:ext>
            </a:extLst>
          </p:cNvPr>
          <p:cNvSpPr>
            <a:spLocks noGrp="1"/>
          </p:cNvSpPr>
          <p:nvPr/>
        </p:nvSpPr>
        <p:spPr>
          <a:xfrm>
            <a:off x="4762500" y="3114675"/>
            <a:ext cx="342900" cy="1800225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09E199-135F-4D37-B11D-545C36855399}"/>
              </a:ext>
            </a:extLst>
          </p:cNvPr>
          <p:cNvSpPr>
            <a:spLocks noGrp="1"/>
          </p:cNvSpPr>
          <p:nvPr/>
        </p:nvSpPr>
        <p:spPr>
          <a:xfrm>
            <a:off x="4724400" y="2905125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0.90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FAF81F-30E2-40A8-9C00-910B92E0738C}"/>
              </a:ext>
            </a:extLst>
          </p:cNvPr>
          <p:cNvSpPr>
            <a:spLocks noGrp="1"/>
          </p:cNvSpPr>
          <p:nvPr/>
        </p:nvSpPr>
        <p:spPr>
          <a:xfrm>
            <a:off x="3365500" y="5029200"/>
            <a:ext cx="226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Word-S 20%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2703EE-29F7-429F-A0AB-9389AF934737}"/>
              </a:ext>
            </a:extLst>
          </p:cNvPr>
          <p:cNvSpPr>
            <a:spLocks noGrp="1"/>
          </p:cNvSpPr>
          <p:nvPr/>
        </p:nvSpPr>
        <p:spPr>
          <a:xfrm>
            <a:off x="6299200" y="4674870"/>
            <a:ext cx="342900" cy="24003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01336C-EB2F-4882-9770-028363BC3955}"/>
              </a:ext>
            </a:extLst>
          </p:cNvPr>
          <p:cNvSpPr>
            <a:spLocks noGrp="1"/>
          </p:cNvSpPr>
          <p:nvPr/>
        </p:nvSpPr>
        <p:spPr>
          <a:xfrm>
            <a:off x="6261100" y="4465320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670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705A"/>
                </a:solidFill>
                <a:latin typeface="Aptos"/>
                <a:ea typeface="Aptos"/>
                <a:cs typeface="Aptos"/>
              </a:rPr>
              <a:t>0.12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65AD6C-1BDF-42F2-B814-62078E7C1309}"/>
              </a:ext>
            </a:extLst>
          </p:cNvPr>
          <p:cNvSpPr>
            <a:spLocks noGrp="1"/>
          </p:cNvSpPr>
          <p:nvPr/>
        </p:nvSpPr>
        <p:spPr>
          <a:xfrm>
            <a:off x="6737350" y="4194810"/>
            <a:ext cx="342900" cy="72009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422B580-5BA5-45F2-8ED8-EE061890E8B1}"/>
              </a:ext>
            </a:extLst>
          </p:cNvPr>
          <p:cNvSpPr>
            <a:spLocks noGrp="1"/>
          </p:cNvSpPr>
          <p:nvPr/>
        </p:nvSpPr>
        <p:spPr>
          <a:xfrm>
            <a:off x="6699250" y="3985260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245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57A6"/>
                </a:solidFill>
                <a:latin typeface="Aptos"/>
                <a:ea typeface="Aptos"/>
                <a:cs typeface="Aptos"/>
              </a:rPr>
              <a:t>0.36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0F9D71-46B2-4D7A-A997-58902F6505E6}"/>
              </a:ext>
            </a:extLst>
          </p:cNvPr>
          <p:cNvSpPr>
            <a:spLocks noGrp="1"/>
          </p:cNvSpPr>
          <p:nvPr/>
        </p:nvSpPr>
        <p:spPr>
          <a:xfrm>
            <a:off x="7175500" y="3554730"/>
            <a:ext cx="342900" cy="136017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3221F6-ECE9-41F1-89D6-A5B418DF4FF2}"/>
              </a:ext>
            </a:extLst>
          </p:cNvPr>
          <p:cNvSpPr>
            <a:spLocks noGrp="1"/>
          </p:cNvSpPr>
          <p:nvPr/>
        </p:nvSpPr>
        <p:spPr>
          <a:xfrm>
            <a:off x="7137400" y="3345180"/>
            <a:ext cx="419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825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0.68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6DC037-D50D-4AA9-B30C-62AE8FC76E54}"/>
              </a:ext>
            </a:extLst>
          </p:cNvPr>
          <p:cNvSpPr>
            <a:spLocks noGrp="1"/>
          </p:cNvSpPr>
          <p:nvPr/>
        </p:nvSpPr>
        <p:spPr>
          <a:xfrm>
            <a:off x="5778500" y="5029200"/>
            <a:ext cx="226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93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Word-D 30%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BC3793-A312-47F4-8098-3DADAB7E117D}"/>
              </a:ext>
            </a:extLst>
          </p:cNvPr>
          <p:cNvSpPr>
            <a:spLocks noGrp="1"/>
          </p:cNvSpPr>
          <p:nvPr/>
        </p:nvSpPr>
        <p:spPr>
          <a:xfrm>
            <a:off x="5686425" y="2495550"/>
            <a:ext cx="114300" cy="1143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92A4BC-EDA6-4712-8AA4-44016331BFE7}"/>
              </a:ext>
            </a:extLst>
          </p:cNvPr>
          <p:cNvSpPr>
            <a:spLocks noGrp="1"/>
          </p:cNvSpPr>
          <p:nvPr/>
        </p:nvSpPr>
        <p:spPr>
          <a:xfrm>
            <a:off x="5857875" y="24574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6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54525E2-8F52-451B-B976-0DA9191D3150}"/>
              </a:ext>
            </a:extLst>
          </p:cNvPr>
          <p:cNvSpPr>
            <a:spLocks noGrp="1"/>
          </p:cNvSpPr>
          <p:nvPr/>
        </p:nvSpPr>
        <p:spPr>
          <a:xfrm>
            <a:off x="6505575" y="2495550"/>
            <a:ext cx="114300" cy="11430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3A5F0B2-EF22-435D-8A3D-8B5443D716E9}"/>
              </a:ext>
            </a:extLst>
          </p:cNvPr>
          <p:cNvSpPr>
            <a:spLocks noGrp="1"/>
          </p:cNvSpPr>
          <p:nvPr/>
        </p:nvSpPr>
        <p:spPr>
          <a:xfrm>
            <a:off x="6677025" y="24574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6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E26EE9-9B88-4A73-B41E-AB1B406ADDC4}"/>
              </a:ext>
            </a:extLst>
          </p:cNvPr>
          <p:cNvSpPr>
            <a:spLocks noGrp="1"/>
          </p:cNvSpPr>
          <p:nvPr/>
        </p:nvSpPr>
        <p:spPr>
          <a:xfrm>
            <a:off x="7324725" y="2495550"/>
            <a:ext cx="114300" cy="11430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D39C77-FB8D-405B-B8AE-E955418957C1}"/>
              </a:ext>
            </a:extLst>
          </p:cNvPr>
          <p:cNvSpPr>
            <a:spLocks noGrp="1"/>
          </p:cNvSpPr>
          <p:nvPr/>
        </p:nvSpPr>
        <p:spPr>
          <a:xfrm>
            <a:off x="7496175" y="24574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86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C75C08E-2080-4567-89D8-A86FA0021780}"/>
              </a:ext>
            </a:extLst>
          </p:cNvPr>
          <p:cNvSpPr>
            <a:spLocks noGrp="1"/>
          </p:cNvSpPr>
          <p:nvPr/>
        </p:nvSpPr>
        <p:spPr>
          <a:xfrm>
            <a:off x="8667750" y="2286000"/>
            <a:ext cx="20002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B7892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A76719-755C-4BE8-88FE-D5FA6C5308B0}"/>
              </a:ext>
            </a:extLst>
          </p:cNvPr>
          <p:cNvSpPr>
            <a:spLocks noGrp="1"/>
          </p:cNvSpPr>
          <p:nvPr/>
        </p:nvSpPr>
        <p:spPr>
          <a:xfrm>
            <a:off x="8820150" y="2419350"/>
            <a:ext cx="1695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WORD-S GAIN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17E570-C9D9-4AB8-947E-FED236BF78A9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7892F"/>
                </a:solidFill>
                <a:latin typeface="Aptos Display"/>
                <a:ea typeface="Aptos Display"/>
                <a:cs typeface="Aptos Display"/>
              </a:rPr>
              <a:t>+4 pp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B672649-B651-4500-9A07-FCFFCEDC2CD3}"/>
              </a:ext>
            </a:extLst>
          </p:cNvPr>
          <p:cNvSpPr>
            <a:spLocks noGrp="1"/>
          </p:cNvSpPr>
          <p:nvPr/>
        </p:nvSpPr>
        <p:spPr>
          <a:xfrm>
            <a:off x="8820150" y="306705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over EXP: 0.90 vs. 0.86.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D03BDF0-82B9-4B73-98D0-5120853D6A6B}"/>
              </a:ext>
            </a:extLst>
          </p:cNvPr>
          <p:cNvSpPr>
            <a:spLocks noGrp="1"/>
          </p:cNvSpPr>
          <p:nvPr/>
        </p:nvSpPr>
        <p:spPr>
          <a:xfrm>
            <a:off x="8667750" y="3790950"/>
            <a:ext cx="20002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C7634B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8C70DC3-9D12-451E-8567-D84C699A0178}"/>
              </a:ext>
            </a:extLst>
          </p:cNvPr>
          <p:cNvSpPr>
            <a:spLocks noGrp="1"/>
          </p:cNvSpPr>
          <p:nvPr/>
        </p:nvSpPr>
        <p:spPr>
          <a:xfrm>
            <a:off x="8820150" y="3924300"/>
            <a:ext cx="1695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88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WORD-D GAIN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5FC23CF-17C2-4E7D-B683-625B3F633E8F}"/>
              </a:ext>
            </a:extLst>
          </p:cNvPr>
          <p:cNvSpPr>
            <a:spLocks noGrp="1"/>
          </p:cNvSpPr>
          <p:nvPr/>
        </p:nvSpPr>
        <p:spPr>
          <a:xfrm>
            <a:off x="8820150" y="415290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2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634B"/>
                </a:solidFill>
                <a:latin typeface="Aptos Display"/>
                <a:ea typeface="Aptos Display"/>
                <a:cs typeface="Aptos Display"/>
              </a:rPr>
              <a:t>+32 pp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181F99A-BD8E-42F1-9CC9-690C586F2747}"/>
              </a:ext>
            </a:extLst>
          </p:cNvPr>
          <p:cNvSpPr>
            <a:spLocks noGrp="1"/>
          </p:cNvSpPr>
          <p:nvPr/>
        </p:nvSpPr>
        <p:spPr>
          <a:xfrm>
            <a:off x="8820150" y="4572000"/>
            <a:ext cx="1695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97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Combined over EXP: 0.68 vs. 0.36.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7F17187-87A6-459D-9CE0-4636E4D9A71F}"/>
              </a:ext>
            </a:extLst>
          </p:cNvPr>
          <p:cNvSpPr>
            <a:spLocks noGrp="1"/>
          </p:cNvSpPr>
          <p:nvPr/>
        </p:nvSpPr>
        <p:spPr>
          <a:xfrm>
            <a:off x="914400" y="53911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Why the gain is asymmetric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160B117-D9D1-4CF5-BEA7-A0BC22D63B50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7334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2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Deletion shortens the sequence and hurts EXP's joint p-value. KGW still scores surviving tokens, and Fisher fusion can lift marginal cases above the threshold.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9CB1981-F0C7-49DC-ABD3-00D8C7F03D4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78508AB-9813-4E50-B2B0-C915A2B5830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 8 and Sections 4.6, 5.4.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F0FF98-7199-4BE8-BB46-B925BA20A94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636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kicker-11-marker">
            <a:extLst>
              <a:ext uri="{FF2B5EF4-FFF2-40B4-BE49-F238E27FC236}">
                <a16:creationId xmlns:a16="http://schemas.microsoft.com/office/drawing/2014/main" id="{BBD8A302-902A-4CC1-9A28-542D06AF1264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47625" cy="152400"/>
          </a:xfrm>
          <a:prstGeom prst="rect">
            <a:avLst/>
          </a:prstGeom>
          <a:solidFill>
            <a:srgbClr val="2457A6"/>
          </a:solidFill>
          <a:ln w="0">
            <a:solidFill>
              <a:srgbClr val="2457A6"/>
            </a:solidFill>
            <a:prstDash val="solid"/>
          </a:ln>
        </p:spPr>
      </p:sp>
      <p:sp>
        <p:nvSpPr>
          <p:cNvPr id="2" name="kicker-11-label">
            <a:extLst>
              <a:ext uri="{FF2B5EF4-FFF2-40B4-BE49-F238E27FC236}">
                <a16:creationId xmlns:a16="http://schemas.microsoft.com/office/drawing/2014/main" id="{4675EDBC-2B36-43C7-A1C7-DBC49AA2DD5B}"/>
              </a:ext>
            </a:extLst>
          </p:cNvPr>
          <p:cNvSpPr>
            <a:spLocks noGrp="1"/>
          </p:cNvSpPr>
          <p:nvPr/>
        </p:nvSpPr>
        <p:spPr>
          <a:xfrm>
            <a:off x="742950" y="447675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82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EXPERIMENTAL RESULT ANALYSIS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817D0F-F62C-4D4F-9866-562165FDEE2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57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Combined is the recommended adversarial-deployment option.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733FE4-3E2C-4684-BFA7-F9DC2257029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714500" cy="19050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1EAA7D-D3E3-4071-8E60-4BC1484A2F7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809750" cy="49530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3CEC0C-ADE6-4D96-A141-60117031B3F0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BB8B82-E0C9-4498-B811-BA393DD178D6}"/>
              </a:ext>
            </a:extLst>
          </p:cNvPr>
          <p:cNvSpPr>
            <a:spLocks noGrp="1"/>
          </p:cNvSpPr>
          <p:nvPr/>
        </p:nvSpPr>
        <p:spPr>
          <a:xfrm>
            <a:off x="2419350" y="2095500"/>
            <a:ext cx="1952625" cy="49530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3A664-6940-4C22-872E-D80D8E003AB2}"/>
              </a:ext>
            </a:extLst>
          </p:cNvPr>
          <p:cNvSpPr>
            <a:spLocks noGrp="1"/>
          </p:cNvSpPr>
          <p:nvPr/>
        </p:nvSpPr>
        <p:spPr>
          <a:xfrm>
            <a:off x="2514600" y="21717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EXP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F8CFC4-E286-4CD3-B163-A529209D8035}"/>
              </a:ext>
            </a:extLst>
          </p:cNvPr>
          <p:cNvSpPr>
            <a:spLocks noGrp="1"/>
          </p:cNvSpPr>
          <p:nvPr/>
        </p:nvSpPr>
        <p:spPr>
          <a:xfrm>
            <a:off x="4371975" y="2095500"/>
            <a:ext cx="1952625" cy="49530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AF8069-0A03-4EAF-91C8-D6AA9CA5F1D1}"/>
              </a:ext>
            </a:extLst>
          </p:cNvPr>
          <p:cNvSpPr>
            <a:spLocks noGrp="1"/>
          </p:cNvSpPr>
          <p:nvPr/>
        </p:nvSpPr>
        <p:spPr>
          <a:xfrm>
            <a:off x="4467225" y="21717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KGW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2C60CA-35C1-447B-9184-DE1A6E83DE28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2190750" cy="49530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945D5F-5786-4577-B146-649080882C6F}"/>
              </a:ext>
            </a:extLst>
          </p:cNvPr>
          <p:cNvSpPr>
            <a:spLocks noGrp="1"/>
          </p:cNvSpPr>
          <p:nvPr/>
        </p:nvSpPr>
        <p:spPr>
          <a:xfrm>
            <a:off x="6419850" y="21717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4A764C-64B9-4A62-ACCB-E4694F6F07EA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1809750" cy="495300"/>
          </a:xfrm>
          <a:prstGeom prst="rect">
            <a:avLst/>
          </a:prstGeom>
          <a:solidFill>
            <a:srgbClr val="17212B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9716BB-42E6-4463-AD27-FBD8A8FAD3A4}"/>
              </a:ext>
            </a:extLst>
          </p:cNvPr>
          <p:cNvSpPr>
            <a:spLocks noGrp="1"/>
          </p:cNvSpPr>
          <p:nvPr/>
        </p:nvSpPr>
        <p:spPr>
          <a:xfrm>
            <a:off x="8610600" y="21717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0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Verdict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A74A03-E563-41DB-BDB5-E7AE136E8BE7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DC1542-C4B8-4880-A289-E0B98327F34F}"/>
              </a:ext>
            </a:extLst>
          </p:cNvPr>
          <p:cNvSpPr>
            <a:spLocks noGrp="1"/>
          </p:cNvSpPr>
          <p:nvPr/>
        </p:nvSpPr>
        <p:spPr>
          <a:xfrm>
            <a:off x="704850" y="26670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No-attack detection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C1B31B-A9F0-460A-887B-7F4EB65FCBD5}"/>
              </a:ext>
            </a:extLst>
          </p:cNvPr>
          <p:cNvSpPr>
            <a:spLocks noGrp="1"/>
          </p:cNvSpPr>
          <p:nvPr/>
        </p:nvSpPr>
        <p:spPr>
          <a:xfrm>
            <a:off x="2419350" y="25908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1D6EE3-9C00-4761-86BF-D998AF4F8DB7}"/>
              </a:ext>
            </a:extLst>
          </p:cNvPr>
          <p:cNvSpPr>
            <a:spLocks noGrp="1"/>
          </p:cNvSpPr>
          <p:nvPr/>
        </p:nvSpPr>
        <p:spPr>
          <a:xfrm>
            <a:off x="2514600" y="26670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1.00, FPR 0.00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E7A414-4C95-4376-8BAD-14E717074302}"/>
              </a:ext>
            </a:extLst>
          </p:cNvPr>
          <p:cNvSpPr>
            <a:spLocks noGrp="1"/>
          </p:cNvSpPr>
          <p:nvPr/>
        </p:nvSpPr>
        <p:spPr>
          <a:xfrm>
            <a:off x="4371975" y="25908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07B37C-C8B7-42C2-912D-787840298778}"/>
              </a:ext>
            </a:extLst>
          </p:cNvPr>
          <p:cNvSpPr>
            <a:spLocks noGrp="1"/>
          </p:cNvSpPr>
          <p:nvPr/>
        </p:nvSpPr>
        <p:spPr>
          <a:xfrm>
            <a:off x="4467225" y="26670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0.80, FPR 0.00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E01D36-C8C4-4A3F-8D2A-6825B0452C1A}"/>
              </a:ext>
            </a:extLst>
          </p:cNvPr>
          <p:cNvSpPr>
            <a:spLocks noGrp="1"/>
          </p:cNvSpPr>
          <p:nvPr/>
        </p:nvSpPr>
        <p:spPr>
          <a:xfrm>
            <a:off x="6324600" y="2590800"/>
            <a:ext cx="219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2B4550-AB7F-49FD-A965-05EE730EE6B4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1.00, FPR 0.00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0A1A7E4-A1D7-4456-8686-920843642483}"/>
              </a:ext>
            </a:extLst>
          </p:cNvPr>
          <p:cNvSpPr>
            <a:spLocks noGrp="1"/>
          </p:cNvSpPr>
          <p:nvPr/>
        </p:nvSpPr>
        <p:spPr>
          <a:xfrm>
            <a:off x="8515350" y="25908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EECFF96-E3C8-4556-A206-33F5A94B163E}"/>
              </a:ext>
            </a:extLst>
          </p:cNvPr>
          <p:cNvSpPr>
            <a:spLocks noGrp="1"/>
          </p:cNvSpPr>
          <p:nvPr/>
        </p:nvSpPr>
        <p:spPr>
          <a:xfrm>
            <a:off x="8610600" y="26670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 / Combined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8AC6FF-57AC-4314-9656-59B6ED07125E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809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DDACD8-6A00-4067-9012-686693FED0DB}"/>
              </a:ext>
            </a:extLst>
          </p:cNvPr>
          <p:cNvSpPr>
            <a:spLocks noGrp="1"/>
          </p:cNvSpPr>
          <p:nvPr/>
        </p:nvSpPr>
        <p:spPr>
          <a:xfrm>
            <a:off x="704850" y="31623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Text quality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575090-8FA2-49CF-9EB4-3EF28515EDD1}"/>
              </a:ext>
            </a:extLst>
          </p:cNvPr>
          <p:cNvSpPr>
            <a:spLocks noGrp="1"/>
          </p:cNvSpPr>
          <p:nvPr/>
        </p:nvSpPr>
        <p:spPr>
          <a:xfrm>
            <a:off x="2419350" y="3086100"/>
            <a:ext cx="1952625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4FD330-1BC6-488C-8E93-E416D4EB6E17}"/>
              </a:ext>
            </a:extLst>
          </p:cNvPr>
          <p:cNvSpPr>
            <a:spLocks noGrp="1"/>
          </p:cNvSpPr>
          <p:nvPr/>
        </p:nvSpPr>
        <p:spPr>
          <a:xfrm>
            <a:off x="2514600" y="31623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11.17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67D26AA-2119-4A71-9F80-B9FA36A703E9}"/>
              </a:ext>
            </a:extLst>
          </p:cNvPr>
          <p:cNvSpPr>
            <a:spLocks noGrp="1"/>
          </p:cNvSpPr>
          <p:nvPr/>
        </p:nvSpPr>
        <p:spPr>
          <a:xfrm>
            <a:off x="4371975" y="3086100"/>
            <a:ext cx="1952625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E496D-CFD9-406E-B1BF-0C9A419A9C3E}"/>
              </a:ext>
            </a:extLst>
          </p:cNvPr>
          <p:cNvSpPr>
            <a:spLocks noGrp="1"/>
          </p:cNvSpPr>
          <p:nvPr/>
        </p:nvSpPr>
        <p:spPr>
          <a:xfrm>
            <a:off x="4467225" y="31623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25.05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CF9338-694A-4DAC-BEA4-8B911BC24F1D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2190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E60DB4-D6D3-4586-B130-B5BCC43EF535}"/>
              </a:ext>
            </a:extLst>
          </p:cNvPr>
          <p:cNvSpPr>
            <a:spLocks noGrp="1"/>
          </p:cNvSpPr>
          <p:nvPr/>
        </p:nvSpPr>
        <p:spPr>
          <a:xfrm>
            <a:off x="6419850" y="31623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PPL 17.26, near baseline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60FFFC-7DC7-47DB-9388-3E6A2C912D83}"/>
              </a:ext>
            </a:extLst>
          </p:cNvPr>
          <p:cNvSpPr>
            <a:spLocks noGrp="1"/>
          </p:cNvSpPr>
          <p:nvPr/>
        </p:nvSpPr>
        <p:spPr>
          <a:xfrm>
            <a:off x="8515350" y="3086100"/>
            <a:ext cx="1809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E65A59F-4345-4801-95C4-DE7A615A9B5D}"/>
              </a:ext>
            </a:extLst>
          </p:cNvPr>
          <p:cNvSpPr>
            <a:spLocks noGrp="1"/>
          </p:cNvSpPr>
          <p:nvPr/>
        </p:nvSpPr>
        <p:spPr>
          <a:xfrm>
            <a:off x="8610600" y="31623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3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448E81-08C4-47F5-99A9-2F4CAB0AC5AF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4B219F8-E697-4802-9E0C-3E7C8EB4BA3B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Word-S robustness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4DB38D-56A5-4DC5-B95D-31072D245AB1}"/>
              </a:ext>
            </a:extLst>
          </p:cNvPr>
          <p:cNvSpPr>
            <a:spLocks noGrp="1"/>
          </p:cNvSpPr>
          <p:nvPr/>
        </p:nvSpPr>
        <p:spPr>
          <a:xfrm>
            <a:off x="2419350" y="35814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193ADFE-17D4-40E6-82F9-9FD206CE3AC7}"/>
              </a:ext>
            </a:extLst>
          </p:cNvPr>
          <p:cNvSpPr>
            <a:spLocks noGrp="1"/>
          </p:cNvSpPr>
          <p:nvPr/>
        </p:nvSpPr>
        <p:spPr>
          <a:xfrm>
            <a:off x="2514600" y="36576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0.86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B9EE2C1-E2BD-43FC-BE3A-5CAC00D7E8E8}"/>
              </a:ext>
            </a:extLst>
          </p:cNvPr>
          <p:cNvSpPr>
            <a:spLocks noGrp="1"/>
          </p:cNvSpPr>
          <p:nvPr/>
        </p:nvSpPr>
        <p:spPr>
          <a:xfrm>
            <a:off x="4371975" y="35814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07B7A99-C460-4CEB-99DC-0931DC603F5A}"/>
              </a:ext>
            </a:extLst>
          </p:cNvPr>
          <p:cNvSpPr>
            <a:spLocks noGrp="1"/>
          </p:cNvSpPr>
          <p:nvPr/>
        </p:nvSpPr>
        <p:spPr>
          <a:xfrm>
            <a:off x="4467225" y="36576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0.20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CDD3C65-EF76-4ABB-9CBF-FCB5D9063A5B}"/>
              </a:ext>
            </a:extLst>
          </p:cNvPr>
          <p:cNvSpPr>
            <a:spLocks noGrp="1"/>
          </p:cNvSpPr>
          <p:nvPr/>
        </p:nvSpPr>
        <p:spPr>
          <a:xfrm>
            <a:off x="6324600" y="3581400"/>
            <a:ext cx="219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06ACC78-352F-4D37-A23B-9125D87F40DB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0.90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60B9DEF-5C20-49D8-809F-A4144576280E}"/>
              </a:ext>
            </a:extLst>
          </p:cNvPr>
          <p:cNvSpPr>
            <a:spLocks noGrp="1"/>
          </p:cNvSpPr>
          <p:nvPr/>
        </p:nvSpPr>
        <p:spPr>
          <a:xfrm>
            <a:off x="8515350" y="35814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B25E4A0-A7D1-408C-8C23-7F4D8A4887BE}"/>
              </a:ext>
            </a:extLst>
          </p:cNvPr>
          <p:cNvSpPr>
            <a:spLocks noGrp="1"/>
          </p:cNvSpPr>
          <p:nvPr/>
        </p:nvSpPr>
        <p:spPr>
          <a:xfrm>
            <a:off x="8610600" y="36576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3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E68CC48-F7AC-4CCE-89C9-8F56AD84F66C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1809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CEE8548-410B-4269-B7B0-4789C7D8F2B0}"/>
              </a:ext>
            </a:extLst>
          </p:cNvPr>
          <p:cNvSpPr>
            <a:spLocks noGrp="1"/>
          </p:cNvSpPr>
          <p:nvPr/>
        </p:nvSpPr>
        <p:spPr>
          <a:xfrm>
            <a:off x="704850" y="41529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Word-D robustness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DE5514D-96F0-4C62-8357-78EC741B311E}"/>
              </a:ext>
            </a:extLst>
          </p:cNvPr>
          <p:cNvSpPr>
            <a:spLocks noGrp="1"/>
          </p:cNvSpPr>
          <p:nvPr/>
        </p:nvSpPr>
        <p:spPr>
          <a:xfrm>
            <a:off x="2419350" y="4076700"/>
            <a:ext cx="1952625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E76C4D-1D2B-4ADE-A275-419DEF42F02B}"/>
              </a:ext>
            </a:extLst>
          </p:cNvPr>
          <p:cNvSpPr>
            <a:spLocks noGrp="1"/>
          </p:cNvSpPr>
          <p:nvPr/>
        </p:nvSpPr>
        <p:spPr>
          <a:xfrm>
            <a:off x="2514600" y="41529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0.36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5169FDF-335C-41D8-977F-C9D219F27D0A}"/>
              </a:ext>
            </a:extLst>
          </p:cNvPr>
          <p:cNvSpPr>
            <a:spLocks noGrp="1"/>
          </p:cNvSpPr>
          <p:nvPr/>
        </p:nvSpPr>
        <p:spPr>
          <a:xfrm>
            <a:off x="4371975" y="4076700"/>
            <a:ext cx="1952625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6CCAAE9-5FBE-4C02-8A63-2EBD28D22836}"/>
              </a:ext>
            </a:extLst>
          </p:cNvPr>
          <p:cNvSpPr>
            <a:spLocks noGrp="1"/>
          </p:cNvSpPr>
          <p:nvPr/>
        </p:nvSpPr>
        <p:spPr>
          <a:xfrm>
            <a:off x="4467225" y="41529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0.12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0C0B6FA-1FB0-413D-BC2E-87A21AC33FEE}"/>
              </a:ext>
            </a:extLst>
          </p:cNvPr>
          <p:cNvSpPr>
            <a:spLocks noGrp="1"/>
          </p:cNvSpPr>
          <p:nvPr/>
        </p:nvSpPr>
        <p:spPr>
          <a:xfrm>
            <a:off x="6324600" y="4076700"/>
            <a:ext cx="2190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5BC47C8-AEE9-4E61-AA0D-7DD469BA79DB}"/>
              </a:ext>
            </a:extLst>
          </p:cNvPr>
          <p:cNvSpPr>
            <a:spLocks noGrp="1"/>
          </p:cNvSpPr>
          <p:nvPr/>
        </p:nvSpPr>
        <p:spPr>
          <a:xfrm>
            <a:off x="6419850" y="41529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TPR 0.68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46612BF-2455-437D-B9D4-8D082A2AC21C}"/>
              </a:ext>
            </a:extLst>
          </p:cNvPr>
          <p:cNvSpPr>
            <a:spLocks noGrp="1"/>
          </p:cNvSpPr>
          <p:nvPr/>
        </p:nvSpPr>
        <p:spPr>
          <a:xfrm>
            <a:off x="8515350" y="4076700"/>
            <a:ext cx="1809750" cy="4953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E3B93DC-5768-4D18-8358-3CE650B59A5B}"/>
              </a:ext>
            </a:extLst>
          </p:cNvPr>
          <p:cNvSpPr>
            <a:spLocks noGrp="1"/>
          </p:cNvSpPr>
          <p:nvPr/>
        </p:nvSpPr>
        <p:spPr>
          <a:xfrm>
            <a:off x="8610600" y="41529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3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3D31B29-604B-48C6-8722-E9D0DE184D19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13E9EEA-DAE0-4E1E-9A6F-6C3C06A79809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Complexity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D2F62AD-2EE6-4B66-A10D-90070DEE2D6E}"/>
              </a:ext>
            </a:extLst>
          </p:cNvPr>
          <p:cNvSpPr>
            <a:spLocks noGrp="1"/>
          </p:cNvSpPr>
          <p:nvPr/>
        </p:nvSpPr>
        <p:spPr>
          <a:xfrm>
            <a:off x="2419350" y="45720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4E7E44B-1FED-4E45-B2F2-2DCFE7A0B33D}"/>
              </a:ext>
            </a:extLst>
          </p:cNvPr>
          <p:cNvSpPr>
            <a:spLocks noGrp="1"/>
          </p:cNvSpPr>
          <p:nvPr/>
        </p:nvSpPr>
        <p:spPr>
          <a:xfrm>
            <a:off x="2514600" y="46482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Moderate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E04AC02-67A5-40D0-8BCC-2C1B6AFD6CC6}"/>
              </a:ext>
            </a:extLst>
          </p:cNvPr>
          <p:cNvSpPr>
            <a:spLocks noGrp="1"/>
          </p:cNvSpPr>
          <p:nvPr/>
        </p:nvSpPr>
        <p:spPr>
          <a:xfrm>
            <a:off x="4371975" y="4572000"/>
            <a:ext cx="19526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B2A452C-B21E-47FF-A718-01CB7397CBB3}"/>
              </a:ext>
            </a:extLst>
          </p:cNvPr>
          <p:cNvSpPr>
            <a:spLocks noGrp="1"/>
          </p:cNvSpPr>
          <p:nvPr/>
        </p:nvSpPr>
        <p:spPr>
          <a:xfrm>
            <a:off x="4467225" y="4648200"/>
            <a:ext cx="1762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5D3B526-2EB4-4B67-9F79-35CBD537620D}"/>
              </a:ext>
            </a:extLst>
          </p:cNvPr>
          <p:cNvSpPr>
            <a:spLocks noGrp="1"/>
          </p:cNvSpPr>
          <p:nvPr/>
        </p:nvSpPr>
        <p:spPr>
          <a:xfrm>
            <a:off x="6324600" y="4572000"/>
            <a:ext cx="219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3326E74-A808-42BD-92AA-B617F1604848}"/>
              </a:ext>
            </a:extLst>
          </p:cNvPr>
          <p:cNvSpPr>
            <a:spLocks noGrp="1"/>
          </p:cNvSpPr>
          <p:nvPr/>
        </p:nvSpPr>
        <p:spPr>
          <a:xfrm>
            <a:off x="6419850" y="46482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defRPr sz="93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Highest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6D7E140-0497-4FB8-A24A-F28488638F20}"/>
              </a:ext>
            </a:extLst>
          </p:cNvPr>
          <p:cNvSpPr>
            <a:spLocks noGrp="1"/>
          </p:cNvSpPr>
          <p:nvPr/>
        </p:nvSpPr>
        <p:spPr>
          <a:xfrm>
            <a:off x="8515350" y="45720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60A3B5B-F588-4CAB-BC79-860D541A291C}"/>
              </a:ext>
            </a:extLst>
          </p:cNvPr>
          <p:cNvSpPr>
            <a:spLocks noGrp="1"/>
          </p:cNvSpPr>
          <p:nvPr/>
        </p:nvSpPr>
        <p:spPr>
          <a:xfrm>
            <a:off x="8610600" y="46482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defRPr sz="93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3131640-02FC-4E7D-8FCA-91AF92B42AF8}"/>
              </a:ext>
            </a:extLst>
          </p:cNvPr>
          <p:cNvSpPr>
            <a:spLocks noGrp="1"/>
          </p:cNvSpPr>
          <p:nvPr/>
        </p:nvSpPr>
        <p:spPr>
          <a:xfrm>
            <a:off x="9429750" y="5238750"/>
            <a:ext cx="38100" cy="666750"/>
          </a:xfrm>
          <a:prstGeom prst="rect">
            <a:avLst/>
          </a:prstGeom>
          <a:solidFill>
            <a:srgbClr val="B7892F"/>
          </a:solidFill>
          <a:ln w="0">
            <a:solidFill>
              <a:srgbClr val="B7892F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0D445D8-7273-4C0D-A284-79839FB28989}"/>
              </a:ext>
            </a:extLst>
          </p:cNvPr>
          <p:cNvSpPr>
            <a:spLocks noGrp="1"/>
          </p:cNvSpPr>
          <p:nvPr/>
        </p:nvSpPr>
        <p:spPr>
          <a:xfrm>
            <a:off x="9582150" y="53149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B789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7892F"/>
                </a:solidFill>
                <a:latin typeface="Aptos"/>
                <a:ea typeface="Aptos"/>
                <a:cs typeface="Aptos"/>
              </a:rPr>
              <a:t>Deployment read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3E7B4A9-9306-47F4-8E8A-97B6366189F4}"/>
              </a:ext>
            </a:extLst>
          </p:cNvPr>
          <p:cNvSpPr>
            <a:spLocks noGrp="1"/>
          </p:cNvSpPr>
          <p:nvPr/>
        </p:nvSpPr>
        <p:spPr>
          <a:xfrm>
            <a:off x="9582150" y="5562600"/>
            <a:ext cx="1485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25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Use Combined when paraphrasing or deletion attacks are realistic.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2ECFB5B-3595-47AE-A6F8-4C7A609B3BC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D8D2C8"/>
          </a:solidFill>
          <a:ln w="0">
            <a:solidFill>
              <a:srgbClr val="D8D2C8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E54B727-C9B3-4A7C-A21F-FC8F7E698B6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A6470"/>
                </a:solidFill>
                <a:latin typeface="Aptos"/>
                <a:ea typeface="Aptos"/>
                <a:cs typeface="Aptos"/>
              </a:rPr>
              <a:t>Source: revised paper, Table 9 and Section 5.5.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CE558C3-58AC-46CB-ACCE-2289454AFD0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5A64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4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067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77981BF0-D5E5-4997-94D7-FBBEFF0AE214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360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rPr>
              <a:t>Summary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87C2D1-7687-42BB-91A5-11D54817438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725" b="0">
                <a:solidFill>
                  <a:srgbClr val="DDE3E8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3E8"/>
                </a:solidFill>
                <a:latin typeface="Aptos"/>
                <a:ea typeface="Aptos"/>
                <a:cs typeface="Aptos"/>
              </a:rPr>
              <a:t>The revised contribution is statistical fusion: two token-level signals, one stronger detector.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CFC706-881D-4218-8E36-76D57FCF7BC2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714500" cy="19050"/>
          </a:xfrm>
          <a:prstGeom prst="rect">
            <a:avLst/>
          </a:prstGeom>
          <a:solidFill>
            <a:srgbClr val="B7892F"/>
          </a:solidFill>
          <a:ln w="0">
            <a:solidFill>
              <a:srgbClr val="B7892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C600D-4C51-4DFC-A78C-4A6B55065804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495300" cy="495300"/>
          </a:xfrm>
          <a:prstGeom prst="rect">
            <a:avLst/>
          </a:prstGeom>
          <a:solidFill>
            <a:srgbClr val="2457A6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F3A690-D923-41B7-98F2-5AB8E572E70A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85A4AC-A318-4D4D-BCC0-405C747C90CB}"/>
              </a:ext>
            </a:extLst>
          </p:cNvPr>
          <p:cNvSpPr>
            <a:spLocks noGrp="1"/>
          </p:cNvSpPr>
          <p:nvPr/>
        </p:nvSpPr>
        <p:spPr>
          <a:xfrm>
            <a:off x="1466850" y="22479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EXP remains the stronger standalone baseline.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CEE2B5-BBA0-4D54-B406-A146C6F27D8F}"/>
              </a:ext>
            </a:extLst>
          </p:cNvPr>
          <p:cNvSpPr>
            <a:spLocks noGrp="1"/>
          </p:cNvSpPr>
          <p:nvPr/>
        </p:nvSpPr>
        <p:spPr>
          <a:xfrm>
            <a:off x="1466850" y="25908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It keeps perfect benign detection and low PPL, but deletion still reduces TPR to 0.36 in the larger robustness table.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71D246-51C6-4346-B346-4FE2F3B62D6A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495300" cy="495300"/>
          </a:xfrm>
          <a:prstGeom prst="rect">
            <a:avLst/>
          </a:prstGeom>
          <a:solidFill>
            <a:srgbClr val="26705A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3CBD74-9AD9-403D-A747-9508FA92C954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E01554-1D21-496D-86B0-B3EA721237D2}"/>
              </a:ext>
            </a:extLst>
          </p:cNvPr>
          <p:cNvSpPr>
            <a:spLocks noGrp="1"/>
          </p:cNvSpPr>
          <p:nvPr/>
        </p:nvSpPr>
        <p:spPr>
          <a:xfrm>
            <a:off x="1466850" y="31242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KGW provides interpretable residual signal.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F44068-0F4E-41FD-983D-CFCDE27981CB}"/>
              </a:ext>
            </a:extLst>
          </p:cNvPr>
          <p:cNvSpPr>
            <a:spLocks noGrp="1"/>
          </p:cNvSpPr>
          <p:nvPr/>
        </p:nvSpPr>
        <p:spPr>
          <a:xfrm>
            <a:off x="1466850" y="34671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Its green-list z-score is fragile alone, yet surviving tokens can still contribute under deletion.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2615B0-254F-4FDC-8969-E03D9D461425}"/>
              </a:ext>
            </a:extLst>
          </p:cNvPr>
          <p:cNvSpPr>
            <a:spLocks noGrp="1"/>
          </p:cNvSpPr>
          <p:nvPr/>
        </p:nvSpPr>
        <p:spPr>
          <a:xfrm>
            <a:off x="723900" y="4019550"/>
            <a:ext cx="495300" cy="495300"/>
          </a:xfrm>
          <a:prstGeom prst="rect">
            <a:avLst/>
          </a:prstGeom>
          <a:solidFill>
            <a:srgbClr val="B7892F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01F7E8-C3EE-4CA8-9252-BF96AF1A528C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9580B2-2676-48EF-8951-7022C666F30D}"/>
              </a:ext>
            </a:extLst>
          </p:cNvPr>
          <p:cNvSpPr>
            <a:spLocks noGrp="1"/>
          </p:cNvSpPr>
          <p:nvPr/>
        </p:nvSpPr>
        <p:spPr>
          <a:xfrm>
            <a:off x="1466850" y="40005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Combined delivers the best overall balance.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4877D1-B599-4EB6-8EF1-C7F3CA0629A9}"/>
              </a:ext>
            </a:extLst>
          </p:cNvPr>
          <p:cNvSpPr>
            <a:spLocks noGrp="1"/>
          </p:cNvSpPr>
          <p:nvPr/>
        </p:nvSpPr>
        <p:spPr>
          <a:xfrm>
            <a:off x="1466850" y="4343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TPR reaches 1.00 without attack, 0.90 under Word-S, 0.68 under Word-D, and PPL stays close to natural baseline.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3D801E-2C0A-4CE2-ACF6-0228063048C9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495300" cy="495300"/>
          </a:xfrm>
          <a:prstGeom prst="rect">
            <a:avLst/>
          </a:prstGeom>
          <a:solidFill>
            <a:srgbClr val="C7634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D53079-B4DA-4A41-84C2-70B6ACB31148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defRPr sz="13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46A857-07D0-414D-82A0-895B946F527E}"/>
              </a:ext>
            </a:extLst>
          </p:cNvPr>
          <p:cNvSpPr>
            <a:spLocks noGrp="1"/>
          </p:cNvSpPr>
          <p:nvPr/>
        </p:nvSpPr>
        <p:spPr>
          <a:xfrm>
            <a:off x="1466850" y="48768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F7F4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4EE"/>
                </a:solidFill>
                <a:latin typeface="Aptos"/>
                <a:ea typeface="Aptos"/>
                <a:cs typeface="Aptos"/>
              </a:rPr>
              <a:t>The open problem is not solved completely.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07D995-10B5-42B2-8ED8-60A707B49CBE}"/>
              </a:ext>
            </a:extLst>
          </p:cNvPr>
          <p:cNvSpPr>
            <a:spLocks noGrp="1"/>
          </p:cNvSpPr>
          <p:nvPr/>
        </p:nvSpPr>
        <p:spPr>
          <a:xfrm>
            <a:off x="1466850" y="52197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BFC7CE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FC7CE"/>
                </a:solidFill>
                <a:latin typeface="Aptos"/>
                <a:ea typeface="Aptos"/>
                <a:cs typeface="Aptos"/>
              </a:rPr>
              <a:t>Combined raises the robustness bar, but Word-D TPR of 0.68 leaves room for semantic-level watermarking.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139CFC-EB14-40A2-A347-D761B65860F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20300" cy="9525"/>
          </a:xfrm>
          <a:prstGeom prst="rect">
            <a:avLst/>
          </a:prstGeom>
          <a:solidFill>
            <a:srgbClr val="36414C"/>
          </a:solidFill>
          <a:ln w="0">
            <a:solidFill>
              <a:srgbClr val="36414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AF5D2E-C00D-498F-B08F-F91CBADBB0D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defRPr sz="713" b="0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EB7BE"/>
                </a:solidFill>
                <a:latin typeface="Aptos"/>
                <a:ea typeface="Aptos"/>
                <a:cs typeface="Aptos"/>
              </a:rPr>
              <a:t>Source: revised paper, Conclusion.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35189D-EA52-48B2-B2E0-89F27115FB1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defRPr sz="975" b="1">
                <a:solidFill>
                  <a:srgbClr val="AEB7B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7B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77745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1246</Words>
  <Application>Microsoft Office PowerPoint</Application>
  <DocSecurity>0</DocSecurity>
  <PresentationFormat>宽屏</PresentationFormat>
  <Paragraphs>261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Calibri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 .</cp:lastModifiedBy>
  <cp:revision>2</cp:revision>
  <dcterms:created xsi:type="dcterms:W3CDTF">2026-06-22T15:51:26Z</dcterms:created>
  <dcterms:modified xsi:type="dcterms:W3CDTF">2026-06-28T14:48:19Z</dcterms:modified>
</cp:coreProperties>
</file>