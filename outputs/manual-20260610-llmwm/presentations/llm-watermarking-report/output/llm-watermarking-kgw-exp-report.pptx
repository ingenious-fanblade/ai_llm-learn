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A6F33416-6ACF-487F-82B9-09DDD3FB8B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E33C46-A8EF-43B5-8E8C-C4C302D28E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8F9B92-1B6E-4E3C-8E48-146E26EEFE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A0EEB1-460E-4EAB-92EE-FC2B65B689A6}"/>
              </a:ext>
            </a:extLst>
          </p:cNvPr>
          <p:cNvSpPr>
            <a:spLocks noGrp="1"/>
          </p:cNvSpPr>
          <p:nvPr/>
        </p:nvSpPr>
        <p:spPr>
          <a:xfrm>
            <a:off x="8715375" y="0"/>
            <a:ext cx="3476625" cy="1333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5" name="kicker-1-marker">
            <a:extLst>
              <a:ext uri="{FF2B5EF4-FFF2-40B4-BE49-F238E27FC236}">
                <a16:creationId xmlns:a16="http://schemas.microsoft.com/office/drawing/2014/main" id="{A3969CE7-7A29-4F78-8F37-CA4898951B81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6" name="kicker-1-label">
            <a:extLst>
              <a:ext uri="{FF2B5EF4-FFF2-40B4-BE49-F238E27FC236}">
                <a16:creationId xmlns:a16="http://schemas.microsoft.com/office/drawing/2014/main" id="{E32E526F-D3D9-49AD-9865-A70D9165B85A}"/>
              </a:ext>
            </a:extLst>
          </p:cNvPr>
          <p:cNvSpPr>
            <a:spLocks noGrp="1"/>
          </p:cNvSpPr>
          <p:nvPr/>
        </p:nvSpPr>
        <p:spPr>
          <a:xfrm>
            <a:off x="723900" y="390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LLM WATERMARKING REPORT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111F3F-8CF7-45A6-B8B9-4DA08260C228}"/>
              </a:ext>
            </a:extLst>
          </p:cNvPr>
          <p:cNvSpPr>
            <a:spLocks noGrp="1"/>
          </p:cNvSpPr>
          <p:nvPr/>
        </p:nvSpPr>
        <p:spPr>
          <a:xfrm>
            <a:off x="533400" y="990600"/>
            <a:ext cx="93345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Token-Level LLM Watermarks: Effective Detection, Fragile Protection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4329EF-0FB5-4398-B067-A345BAAAFA42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7239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A comparative study of KGW and EXP for intellectual property protection in AI-generated text.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1AFD1E-C55D-4D0E-AB57-83C28A85BE41}"/>
              </a:ext>
            </a:extLst>
          </p:cNvPr>
          <p:cNvSpPr>
            <a:spLocks noGrp="1"/>
          </p:cNvSpPr>
          <p:nvPr/>
        </p:nvSpPr>
        <p:spPr>
          <a:xfrm>
            <a:off x="571500" y="3286125"/>
            <a:ext cx="819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Paper date: June 8, 2026  |  Model: Qwen2.5-1.5B-Instruct  |  Toolkit: MarkLLM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4E280F-726A-497C-8C60-EAB833D003F1}"/>
              </a:ext>
            </a:extLst>
          </p:cNvPr>
          <p:cNvSpPr>
            <a:spLocks noGrp="1"/>
          </p:cNvSpPr>
          <p:nvPr/>
        </p:nvSpPr>
        <p:spPr>
          <a:xfrm>
            <a:off x="571500" y="3886200"/>
            <a:ext cx="9906000" cy="9525"/>
          </a:xfrm>
          <a:prstGeom prst="rect">
            <a:avLst/>
          </a:prstGeom>
          <a:solidFill>
            <a:srgbClr val="33434D"/>
          </a:solidFill>
          <a:ln w="0">
            <a:solidFill>
              <a:srgbClr val="33434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8DE7EF-0295-4650-BEDF-29DBEEBF5F9D}"/>
              </a:ext>
            </a:extLst>
          </p:cNvPr>
          <p:cNvSpPr>
            <a:spLocks noGrp="1"/>
          </p:cNvSpPr>
          <p:nvPr/>
        </p:nvSpPr>
        <p:spPr>
          <a:xfrm>
            <a:off x="571500" y="4267200"/>
            <a:ext cx="2381250" cy="1200150"/>
          </a:xfrm>
          <a:prstGeom prst="rect">
            <a:avLst/>
          </a:prstGeom>
          <a:solidFill>
            <a:srgbClr val="17242D"/>
          </a:solidFill>
          <a:ln w="9525">
            <a:solidFill>
              <a:srgbClr val="2A394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087998-26BB-4E1D-A9FB-BA5621DABF40}"/>
              </a:ext>
            </a:extLst>
          </p:cNvPr>
          <p:cNvSpPr>
            <a:spLocks noGrp="1"/>
          </p:cNvSpPr>
          <p:nvPr/>
        </p:nvSpPr>
        <p:spPr>
          <a:xfrm>
            <a:off x="571500" y="4267200"/>
            <a:ext cx="2381250" cy="3810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C209A6-5B93-4F76-82D9-578092CBE5FD}"/>
              </a:ext>
            </a:extLst>
          </p:cNvPr>
          <p:cNvSpPr>
            <a:spLocks noGrp="1"/>
          </p:cNvSpPr>
          <p:nvPr/>
        </p:nvSpPr>
        <p:spPr>
          <a:xfrm>
            <a:off x="723900" y="4410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1.000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4FB813-8071-4D0C-A337-68DC48399431}"/>
              </a:ext>
            </a:extLst>
          </p:cNvPr>
          <p:cNvSpPr>
            <a:spLocks noGrp="1"/>
          </p:cNvSpPr>
          <p:nvPr/>
        </p:nvSpPr>
        <p:spPr>
          <a:xfrm>
            <a:off x="723900" y="4791075"/>
            <a:ext cx="2076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EXP TPR, no attack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4A8C6F-B666-4116-AEE5-961BE37617E2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2076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Perfect detection in default setting.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B4BA0A-28E2-4725-A3ED-EFBE61084C0B}"/>
              </a:ext>
            </a:extLst>
          </p:cNvPr>
          <p:cNvSpPr>
            <a:spLocks noGrp="1"/>
          </p:cNvSpPr>
          <p:nvPr/>
        </p:nvSpPr>
        <p:spPr>
          <a:xfrm>
            <a:off x="3143250" y="4267200"/>
            <a:ext cx="2381250" cy="1200150"/>
          </a:xfrm>
          <a:prstGeom prst="rect">
            <a:avLst/>
          </a:prstGeom>
          <a:solidFill>
            <a:srgbClr val="17242D"/>
          </a:solidFill>
          <a:ln w="9525">
            <a:solidFill>
              <a:srgbClr val="2A394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5D2B7F-69E3-4521-A931-10FD687A3266}"/>
              </a:ext>
            </a:extLst>
          </p:cNvPr>
          <p:cNvSpPr>
            <a:spLocks noGrp="1"/>
          </p:cNvSpPr>
          <p:nvPr/>
        </p:nvSpPr>
        <p:spPr>
          <a:xfrm>
            <a:off x="3143250" y="4267200"/>
            <a:ext cx="2381250" cy="3810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6FE7F3-7DE4-40CF-8B4A-7BBD78BA6368}"/>
              </a:ext>
            </a:extLst>
          </p:cNvPr>
          <p:cNvSpPr>
            <a:spLocks noGrp="1"/>
          </p:cNvSpPr>
          <p:nvPr/>
        </p:nvSpPr>
        <p:spPr>
          <a:xfrm>
            <a:off x="3295650" y="4410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0.800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A197DA-B48F-4B76-9A9E-A671831794C0}"/>
              </a:ext>
            </a:extLst>
          </p:cNvPr>
          <p:cNvSpPr>
            <a:spLocks noGrp="1"/>
          </p:cNvSpPr>
          <p:nvPr/>
        </p:nvSpPr>
        <p:spPr>
          <a:xfrm>
            <a:off x="3295650" y="4791075"/>
            <a:ext cx="2076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KGW TPR, no attack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92F5C9-CE8D-4946-BBDD-1DE492F2CE82}"/>
              </a:ext>
            </a:extLst>
          </p:cNvPr>
          <p:cNvSpPr>
            <a:spLocks noGrp="1"/>
          </p:cNvSpPr>
          <p:nvPr/>
        </p:nvSpPr>
        <p:spPr>
          <a:xfrm>
            <a:off x="3295650" y="5048250"/>
            <a:ext cx="2076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Four missed detections at threshold 4.0.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4D693F-4C77-405B-83E8-52719747DC7D}"/>
              </a:ext>
            </a:extLst>
          </p:cNvPr>
          <p:cNvSpPr>
            <a:spLocks noGrp="1"/>
          </p:cNvSpPr>
          <p:nvPr/>
        </p:nvSpPr>
        <p:spPr>
          <a:xfrm>
            <a:off x="5715000" y="4267200"/>
            <a:ext cx="2381250" cy="1200150"/>
          </a:xfrm>
          <a:prstGeom prst="rect">
            <a:avLst/>
          </a:prstGeom>
          <a:solidFill>
            <a:srgbClr val="17242D"/>
          </a:solidFill>
          <a:ln w="9525">
            <a:solidFill>
              <a:srgbClr val="2A394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7D2DF3-05B0-47D2-BD6B-731112E96A56}"/>
              </a:ext>
            </a:extLst>
          </p:cNvPr>
          <p:cNvSpPr>
            <a:spLocks noGrp="1"/>
          </p:cNvSpPr>
          <p:nvPr/>
        </p:nvSpPr>
        <p:spPr>
          <a:xfrm>
            <a:off x="5715000" y="4267200"/>
            <a:ext cx="2381250" cy="38100"/>
          </a:xfrm>
          <a:prstGeom prst="rect">
            <a:avLst/>
          </a:prstGeom>
          <a:solidFill>
            <a:srgbClr val="D85C55"/>
          </a:solidFill>
          <a:ln w="0">
            <a:solidFill>
              <a:srgbClr val="D85C5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0E0476-356C-4A91-B4BA-21FFF319826B}"/>
              </a:ext>
            </a:extLst>
          </p:cNvPr>
          <p:cNvSpPr>
            <a:spLocks noGrp="1"/>
          </p:cNvSpPr>
          <p:nvPr/>
        </p:nvSpPr>
        <p:spPr>
          <a:xfrm>
            <a:off x="5867400" y="4410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0.050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065B297-8307-42C3-B594-37222483BBDA}"/>
              </a:ext>
            </a:extLst>
          </p:cNvPr>
          <p:cNvSpPr>
            <a:spLocks noGrp="1"/>
          </p:cNvSpPr>
          <p:nvPr/>
        </p:nvSpPr>
        <p:spPr>
          <a:xfrm>
            <a:off x="5867400" y="4791075"/>
            <a:ext cx="2076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Word-S TPR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CA1D6C2-EEB7-41CA-B347-DD64736B6B45}"/>
              </a:ext>
            </a:extLst>
          </p:cNvPr>
          <p:cNvSpPr>
            <a:spLocks noGrp="1"/>
          </p:cNvSpPr>
          <p:nvPr/>
        </p:nvSpPr>
        <p:spPr>
          <a:xfrm>
            <a:off x="5867400" y="5048250"/>
            <a:ext cx="2076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Synonym substitution nearly erases both.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082EE79-EFDE-4D69-BEAD-BF9433BB6B94}"/>
              </a:ext>
            </a:extLst>
          </p:cNvPr>
          <p:cNvSpPr>
            <a:spLocks noGrp="1"/>
          </p:cNvSpPr>
          <p:nvPr/>
        </p:nvSpPr>
        <p:spPr>
          <a:xfrm>
            <a:off x="8286750" y="4267200"/>
            <a:ext cx="2381250" cy="1200150"/>
          </a:xfrm>
          <a:prstGeom prst="rect">
            <a:avLst/>
          </a:prstGeom>
          <a:solidFill>
            <a:srgbClr val="17242D"/>
          </a:solidFill>
          <a:ln w="9525">
            <a:solidFill>
              <a:srgbClr val="2A394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CF83D4-D060-4952-A26B-ACEA83CFA827}"/>
              </a:ext>
            </a:extLst>
          </p:cNvPr>
          <p:cNvSpPr>
            <a:spLocks noGrp="1"/>
          </p:cNvSpPr>
          <p:nvPr/>
        </p:nvSpPr>
        <p:spPr>
          <a:xfrm>
            <a:off x="8286750" y="4267200"/>
            <a:ext cx="2381250" cy="3810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1D15ECE-B664-4A78-8240-87F121DD874A}"/>
              </a:ext>
            </a:extLst>
          </p:cNvPr>
          <p:cNvSpPr>
            <a:spLocks noGrp="1"/>
          </p:cNvSpPr>
          <p:nvPr/>
        </p:nvSpPr>
        <p:spPr>
          <a:xfrm>
            <a:off x="8439150" y="4410075"/>
            <a:ext cx="2076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5.36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8F68386-E421-4AA5-B88E-952AA348EAB7}"/>
              </a:ext>
            </a:extLst>
          </p:cNvPr>
          <p:cNvSpPr>
            <a:spLocks noGrp="1"/>
          </p:cNvSpPr>
          <p:nvPr/>
        </p:nvSpPr>
        <p:spPr>
          <a:xfrm>
            <a:off x="8439150" y="4791075"/>
            <a:ext cx="2076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EXP PPL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64A751F-D12D-4A54-BBB0-2F28149B3427}"/>
              </a:ext>
            </a:extLst>
          </p:cNvPr>
          <p:cNvSpPr>
            <a:spLocks noGrp="1"/>
          </p:cNvSpPr>
          <p:nvPr/>
        </p:nvSpPr>
        <p:spPr>
          <a:xfrm>
            <a:off x="8439150" y="5048250"/>
            <a:ext cx="2076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Lower than KGW and natural baseline.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C55E3FE-8B8A-428D-834E-E8CD31CD26F0}"/>
              </a:ext>
            </a:extLst>
          </p:cNvPr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81092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78B2D1F-B93F-4553-86BC-B82B7D3AE5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0">
            <a:solidFill>
              <a:srgbClr val="F4EFE7"/>
            </a:solidFill>
            <a:prstDash val="solid"/>
          </a:ln>
        </p:spPr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AD864034-B375-4B42-8342-EC66C516586C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32064DC3-3DD6-41B6-93D2-0973AFD0AB25}"/>
              </a:ext>
            </a:extLst>
          </p:cNvPr>
          <p:cNvSpPr>
            <a:spLocks noGrp="1"/>
          </p:cNvSpPr>
          <p:nvPr/>
        </p:nvSpPr>
        <p:spPr>
          <a:xfrm>
            <a:off x="723900" y="390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2175B6-643E-417B-8DD3-9EFBB0BA3CD5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8858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controlled reproduction puts both algorithms on the same footing.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693715-BFE8-468C-9A65-CF600C15AAAA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847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4A545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A545C"/>
                </a:solidFill>
                <a:latin typeface="Aptos"/>
                <a:ea typeface="Aptos"/>
                <a:cs typeface="Aptos"/>
              </a:rPr>
              <a:t>Every condition uses the same prompts, model, generation length, and evaluation dimensions.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0DF9B5-EC3B-488F-9E04-85125C39B319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1619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CEEB29-1624-4A65-A8B8-26D9C4092F72}"/>
              </a:ext>
            </a:extLst>
          </p:cNvPr>
          <p:cNvSpPr>
            <a:spLocks noGrp="1"/>
          </p:cNvSpPr>
          <p:nvPr/>
        </p:nvSpPr>
        <p:spPr>
          <a:xfrm>
            <a:off x="704850" y="3067050"/>
            <a:ext cx="1314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20 news prompts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9D1C16-D8EF-4B10-908D-5851DE3FB42D}"/>
              </a:ext>
            </a:extLst>
          </p:cNvPr>
          <p:cNvSpPr>
            <a:spLocks noGrp="1"/>
          </p:cNvSpPr>
          <p:nvPr/>
        </p:nvSpPr>
        <p:spPr>
          <a:xfrm>
            <a:off x="704850" y="340995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technology, politics, health, sports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F7777F-90A5-4471-80D4-472BA4881094}"/>
              </a:ext>
            </a:extLst>
          </p:cNvPr>
          <p:cNvSpPr>
            <a:spLocks noGrp="1"/>
          </p:cNvSpPr>
          <p:nvPr/>
        </p:nvSpPr>
        <p:spPr>
          <a:xfrm>
            <a:off x="2266950" y="3448050"/>
            <a:ext cx="266700" cy="1905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4A344F-62A9-4395-ADD9-74EE5A09FB7B}"/>
              </a:ext>
            </a:extLst>
          </p:cNvPr>
          <p:cNvSpPr>
            <a:spLocks noGrp="1"/>
          </p:cNvSpPr>
          <p:nvPr/>
        </p:nvSpPr>
        <p:spPr>
          <a:xfrm>
            <a:off x="2533650" y="3400425"/>
            <a:ext cx="114300" cy="11430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ABB734-8457-471B-B3B0-1D66D1692893}"/>
              </a:ext>
            </a:extLst>
          </p:cNvPr>
          <p:cNvSpPr>
            <a:spLocks noGrp="1"/>
          </p:cNvSpPr>
          <p:nvPr/>
        </p:nvSpPr>
        <p:spPr>
          <a:xfrm>
            <a:off x="2762250" y="2876550"/>
            <a:ext cx="1619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40DA25-2977-4759-9551-B41F2956A47B}"/>
              </a:ext>
            </a:extLst>
          </p:cNvPr>
          <p:cNvSpPr>
            <a:spLocks noGrp="1"/>
          </p:cNvSpPr>
          <p:nvPr/>
        </p:nvSpPr>
        <p:spPr>
          <a:xfrm>
            <a:off x="2914650" y="3067050"/>
            <a:ext cx="1314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Qwen2.5-1.5B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36A7FA-D978-456C-987C-084220BF5CD1}"/>
              </a:ext>
            </a:extLst>
          </p:cNvPr>
          <p:cNvSpPr>
            <a:spLocks noGrp="1"/>
          </p:cNvSpPr>
          <p:nvPr/>
        </p:nvSpPr>
        <p:spPr>
          <a:xfrm>
            <a:off x="2914650" y="340995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200 generated tokens per sample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D14865-55A2-4E7E-A0E1-3047A6179FAC}"/>
              </a:ext>
            </a:extLst>
          </p:cNvPr>
          <p:cNvSpPr>
            <a:spLocks noGrp="1"/>
          </p:cNvSpPr>
          <p:nvPr/>
        </p:nvSpPr>
        <p:spPr>
          <a:xfrm>
            <a:off x="4476750" y="3448050"/>
            <a:ext cx="266700" cy="1905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6DF877-5DFB-4867-905C-EE9C2746F435}"/>
              </a:ext>
            </a:extLst>
          </p:cNvPr>
          <p:cNvSpPr>
            <a:spLocks noGrp="1"/>
          </p:cNvSpPr>
          <p:nvPr/>
        </p:nvSpPr>
        <p:spPr>
          <a:xfrm>
            <a:off x="4743450" y="3400425"/>
            <a:ext cx="114300" cy="11430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275795-1F53-418A-8EA2-8855ADD13725}"/>
              </a:ext>
            </a:extLst>
          </p:cNvPr>
          <p:cNvSpPr>
            <a:spLocks noGrp="1"/>
          </p:cNvSpPr>
          <p:nvPr/>
        </p:nvSpPr>
        <p:spPr>
          <a:xfrm>
            <a:off x="4972050" y="2876550"/>
            <a:ext cx="1619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583814-8ECC-4CF9-A392-5B3AA34315E5}"/>
              </a:ext>
            </a:extLst>
          </p:cNvPr>
          <p:cNvSpPr>
            <a:spLocks noGrp="1"/>
          </p:cNvSpPr>
          <p:nvPr/>
        </p:nvSpPr>
        <p:spPr>
          <a:xfrm>
            <a:off x="5124450" y="3067050"/>
            <a:ext cx="1314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Two completions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34BE2D-5061-4125-A722-779AC4B7DCA3}"/>
              </a:ext>
            </a:extLst>
          </p:cNvPr>
          <p:cNvSpPr>
            <a:spLocks noGrp="1"/>
          </p:cNvSpPr>
          <p:nvPr/>
        </p:nvSpPr>
        <p:spPr>
          <a:xfrm>
            <a:off x="5124450" y="340995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watermarked and natural text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679FDB-48F4-4563-9CEC-124AA87DFCFA}"/>
              </a:ext>
            </a:extLst>
          </p:cNvPr>
          <p:cNvSpPr>
            <a:spLocks noGrp="1"/>
          </p:cNvSpPr>
          <p:nvPr/>
        </p:nvSpPr>
        <p:spPr>
          <a:xfrm>
            <a:off x="6686550" y="3448050"/>
            <a:ext cx="266700" cy="1905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84CF40-CE00-4A64-8245-C6B681432D39}"/>
              </a:ext>
            </a:extLst>
          </p:cNvPr>
          <p:cNvSpPr>
            <a:spLocks noGrp="1"/>
          </p:cNvSpPr>
          <p:nvPr/>
        </p:nvSpPr>
        <p:spPr>
          <a:xfrm>
            <a:off x="6953250" y="3400425"/>
            <a:ext cx="114300" cy="11430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D5AF6B-FD06-479B-A297-2F8CC0669913}"/>
              </a:ext>
            </a:extLst>
          </p:cNvPr>
          <p:cNvSpPr>
            <a:spLocks noGrp="1"/>
          </p:cNvSpPr>
          <p:nvPr/>
        </p:nvSpPr>
        <p:spPr>
          <a:xfrm>
            <a:off x="7181850" y="2876550"/>
            <a:ext cx="1619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A9C9379-5551-4F13-81D6-044A7F02FD9D}"/>
              </a:ext>
            </a:extLst>
          </p:cNvPr>
          <p:cNvSpPr>
            <a:spLocks noGrp="1"/>
          </p:cNvSpPr>
          <p:nvPr/>
        </p:nvSpPr>
        <p:spPr>
          <a:xfrm>
            <a:off x="7334250" y="3067050"/>
            <a:ext cx="1314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Three evaluations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A7886C-7CCE-4DF3-B1F1-5610123D7CEF}"/>
              </a:ext>
            </a:extLst>
          </p:cNvPr>
          <p:cNvSpPr>
            <a:spLocks noGrp="1"/>
          </p:cNvSpPr>
          <p:nvPr/>
        </p:nvSpPr>
        <p:spPr>
          <a:xfrm>
            <a:off x="7334250" y="340995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detection, quality, robustness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1CFF58-FE14-4650-A3D2-D16C6E006CA5}"/>
              </a:ext>
            </a:extLst>
          </p:cNvPr>
          <p:cNvSpPr>
            <a:spLocks noGrp="1"/>
          </p:cNvSpPr>
          <p:nvPr/>
        </p:nvSpPr>
        <p:spPr>
          <a:xfrm>
            <a:off x="9525000" y="914400"/>
            <a:ext cx="2000250" cy="447675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24D718-AB6F-4505-87A6-8CA40C0D59F7}"/>
              </a:ext>
            </a:extLst>
          </p:cNvPr>
          <p:cNvSpPr>
            <a:spLocks noGrp="1"/>
          </p:cNvSpPr>
          <p:nvPr/>
        </p:nvSpPr>
        <p:spPr>
          <a:xfrm>
            <a:off x="9753600" y="12001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Default algorithms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28C0AEF-D90E-4512-8980-C89EB3593E3E}"/>
              </a:ext>
            </a:extLst>
          </p:cNvPr>
          <p:cNvSpPr>
            <a:spLocks noGrp="1"/>
          </p:cNvSpPr>
          <p:nvPr/>
        </p:nvSpPr>
        <p:spPr>
          <a:xfrm>
            <a:off x="9753600" y="1676400"/>
            <a:ext cx="685800" cy="2857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A5F4690-2C2C-4EC1-9436-A1E5C1C22FC3}"/>
              </a:ext>
            </a:extLst>
          </p:cNvPr>
          <p:cNvSpPr>
            <a:spLocks noGrp="1"/>
          </p:cNvSpPr>
          <p:nvPr/>
        </p:nvSpPr>
        <p:spPr>
          <a:xfrm>
            <a:off x="9829800" y="1724025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56AAE5-73C3-40C4-80D5-F8C0B5A61719}"/>
              </a:ext>
            </a:extLst>
          </p:cNvPr>
          <p:cNvSpPr>
            <a:spLocks noGrp="1"/>
          </p:cNvSpPr>
          <p:nvPr/>
        </p:nvSpPr>
        <p:spPr>
          <a:xfrm>
            <a:off x="9753600" y="2076450"/>
            <a:ext cx="1428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gamma = 0.5</a:t>
            </a:r>
          </a:p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delta = 1.0</a:t>
            </a:r>
          </a:p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prefix = 1</a:t>
            </a:r>
          </a:p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z-threshold = 4.0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A531F5-E3ED-4690-A49E-986C7C9574E1}"/>
              </a:ext>
            </a:extLst>
          </p:cNvPr>
          <p:cNvSpPr>
            <a:spLocks noGrp="1"/>
          </p:cNvSpPr>
          <p:nvPr/>
        </p:nvSpPr>
        <p:spPr>
          <a:xfrm>
            <a:off x="9753600" y="3314700"/>
            <a:ext cx="1428750" cy="9525"/>
          </a:xfrm>
          <a:prstGeom prst="rect">
            <a:avLst/>
          </a:prstGeom>
          <a:solidFill>
            <a:srgbClr val="33434D"/>
          </a:solidFill>
          <a:ln w="0">
            <a:solidFill>
              <a:srgbClr val="33434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6AE8D6-DE70-48A5-AEF3-E99E05AA0C8E}"/>
              </a:ext>
            </a:extLst>
          </p:cNvPr>
          <p:cNvSpPr>
            <a:spLocks noGrp="1"/>
          </p:cNvSpPr>
          <p:nvPr/>
        </p:nvSpPr>
        <p:spPr>
          <a:xfrm>
            <a:off x="9753600" y="3581400"/>
            <a:ext cx="685800" cy="2857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CD3B26-D4A1-4410-8B2E-4BBF8FC69189}"/>
              </a:ext>
            </a:extLst>
          </p:cNvPr>
          <p:cNvSpPr>
            <a:spLocks noGrp="1"/>
          </p:cNvSpPr>
          <p:nvPr/>
        </p:nvSpPr>
        <p:spPr>
          <a:xfrm>
            <a:off x="9829800" y="3629025"/>
            <a:ext cx="533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FC1D34F-3DDA-45B0-AA44-0F2893F6E3C4}"/>
              </a:ext>
            </a:extLst>
          </p:cNvPr>
          <p:cNvSpPr>
            <a:spLocks noGrp="1"/>
          </p:cNvSpPr>
          <p:nvPr/>
        </p:nvSpPr>
        <p:spPr>
          <a:xfrm>
            <a:off x="9753600" y="3981450"/>
            <a:ext cx="15049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prefix k = 4</a:t>
            </a:r>
          </a:p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tau = 1e-6</a:t>
            </a:r>
          </a:p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aggregate p-value</a:t>
            </a:r>
          </a:p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sequence-level test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78D572B-A00D-4A37-91E5-01621FACCC8F}"/>
              </a:ext>
            </a:extLst>
          </p:cNvPr>
          <p:cNvSpPr>
            <a:spLocks noGrp="1"/>
          </p:cNvSpPr>
          <p:nvPr/>
        </p:nvSpPr>
        <p:spPr>
          <a:xfrm>
            <a:off x="552450" y="4686300"/>
            <a:ext cx="2619375" cy="857250"/>
          </a:xfrm>
          <a:prstGeom prst="rect">
            <a:avLst/>
          </a:prstGeom>
          <a:solidFill>
            <a:srgbClr val="F4EFE7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B086D8-5147-4F16-8CE7-760459E350D0}"/>
              </a:ext>
            </a:extLst>
          </p:cNvPr>
          <p:cNvSpPr>
            <a:spLocks noGrp="1"/>
          </p:cNvSpPr>
          <p:nvPr/>
        </p:nvSpPr>
        <p:spPr>
          <a:xfrm>
            <a:off x="552450" y="4686300"/>
            <a:ext cx="2619375" cy="3810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6F42764-2E43-4174-8461-132FE4263128}"/>
              </a:ext>
            </a:extLst>
          </p:cNvPr>
          <p:cNvSpPr>
            <a:spLocks noGrp="1"/>
          </p:cNvSpPr>
          <p:nvPr/>
        </p:nvSpPr>
        <p:spPr>
          <a:xfrm>
            <a:off x="704850" y="4800600"/>
            <a:ext cx="2314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40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A6B8D5D-1CA5-4985-969C-7914130005DC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23145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A54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A545C"/>
                </a:solidFill>
                <a:latin typeface="Aptos"/>
                <a:ea typeface="Aptos"/>
                <a:cs typeface="Aptos"/>
              </a:rPr>
              <a:t>samples per condition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A27CB49-772C-4D39-9CA5-F0E89800BB1E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23145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20 watermarked + 20 natural.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536AC30-99CF-4E8B-826C-54CC838C03EB}"/>
              </a:ext>
            </a:extLst>
          </p:cNvPr>
          <p:cNvSpPr>
            <a:spLocks noGrp="1"/>
          </p:cNvSpPr>
          <p:nvPr/>
        </p:nvSpPr>
        <p:spPr>
          <a:xfrm>
            <a:off x="3476625" y="4686300"/>
            <a:ext cx="2619375" cy="857250"/>
          </a:xfrm>
          <a:prstGeom prst="rect">
            <a:avLst/>
          </a:prstGeom>
          <a:solidFill>
            <a:srgbClr val="F4EFE7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7755A41-6433-4CE4-A4B9-47F49E562F7F}"/>
              </a:ext>
            </a:extLst>
          </p:cNvPr>
          <p:cNvSpPr>
            <a:spLocks noGrp="1"/>
          </p:cNvSpPr>
          <p:nvPr/>
        </p:nvSpPr>
        <p:spPr>
          <a:xfrm>
            <a:off x="3476625" y="4686300"/>
            <a:ext cx="2619375" cy="38100"/>
          </a:xfrm>
          <a:prstGeom prst="rect">
            <a:avLst/>
          </a:prstGeom>
          <a:solidFill>
            <a:srgbClr val="6EC18F"/>
          </a:solidFill>
          <a:ln w="0">
            <a:solidFill>
              <a:srgbClr val="6EC18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491724D-2578-4E0C-957D-C5A9BBABCED5}"/>
              </a:ext>
            </a:extLst>
          </p:cNvPr>
          <p:cNvSpPr>
            <a:spLocks noGrp="1"/>
          </p:cNvSpPr>
          <p:nvPr/>
        </p:nvSpPr>
        <p:spPr>
          <a:xfrm>
            <a:off x="3629025" y="4800600"/>
            <a:ext cx="2314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0.000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722CD3B-CEA1-4230-8E03-435D448DC090}"/>
              </a:ext>
            </a:extLst>
          </p:cNvPr>
          <p:cNvSpPr>
            <a:spLocks noGrp="1"/>
          </p:cNvSpPr>
          <p:nvPr/>
        </p:nvSpPr>
        <p:spPr>
          <a:xfrm>
            <a:off x="3629025" y="5143500"/>
            <a:ext cx="23145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A54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A545C"/>
                </a:solidFill>
                <a:latin typeface="Aptos"/>
                <a:ea typeface="Aptos"/>
                <a:cs typeface="Aptos"/>
              </a:rPr>
              <a:t>FPR in defaults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E33039E-1B2A-4E2E-A037-190318EBF4B6}"/>
              </a:ext>
            </a:extLst>
          </p:cNvPr>
          <p:cNvSpPr>
            <a:spLocks noGrp="1"/>
          </p:cNvSpPr>
          <p:nvPr/>
        </p:nvSpPr>
        <p:spPr>
          <a:xfrm>
            <a:off x="3629025" y="5334000"/>
            <a:ext cx="23145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Both methods avoid false positives.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7B8D92D-E44D-4EE5-A0A2-D33F6774F841}"/>
              </a:ext>
            </a:extLst>
          </p:cNvPr>
          <p:cNvSpPr>
            <a:spLocks noGrp="1"/>
          </p:cNvSpPr>
          <p:nvPr/>
        </p:nvSpPr>
        <p:spPr>
          <a:xfrm>
            <a:off x="6400800" y="4686300"/>
            <a:ext cx="2619375" cy="857250"/>
          </a:xfrm>
          <a:prstGeom prst="rect">
            <a:avLst/>
          </a:prstGeom>
          <a:solidFill>
            <a:srgbClr val="F4EFE7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084B0AE-596E-4F87-BEA1-6204C2207F83}"/>
              </a:ext>
            </a:extLst>
          </p:cNvPr>
          <p:cNvSpPr>
            <a:spLocks noGrp="1"/>
          </p:cNvSpPr>
          <p:nvPr/>
        </p:nvSpPr>
        <p:spPr>
          <a:xfrm>
            <a:off x="6400800" y="4686300"/>
            <a:ext cx="2619375" cy="38100"/>
          </a:xfrm>
          <a:prstGeom prst="rect">
            <a:avLst/>
          </a:prstGeom>
          <a:solidFill>
            <a:srgbClr val="D85C55"/>
          </a:solidFill>
          <a:ln w="0">
            <a:solidFill>
              <a:srgbClr val="D85C5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D84F8A1-1F2B-4560-8FA8-40BEBAD860AD}"/>
              </a:ext>
            </a:extLst>
          </p:cNvPr>
          <p:cNvSpPr>
            <a:spLocks noGrp="1"/>
          </p:cNvSpPr>
          <p:nvPr/>
        </p:nvSpPr>
        <p:spPr>
          <a:xfrm>
            <a:off x="6553200" y="4800600"/>
            <a:ext cx="2314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C577CA3-05FB-4B79-95C4-EDBCFBB1EBBC}"/>
              </a:ext>
            </a:extLst>
          </p:cNvPr>
          <p:cNvSpPr>
            <a:spLocks noGrp="1"/>
          </p:cNvSpPr>
          <p:nvPr/>
        </p:nvSpPr>
        <p:spPr>
          <a:xfrm>
            <a:off x="6553200" y="5143500"/>
            <a:ext cx="231457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4A54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A545C"/>
                </a:solidFill>
                <a:latin typeface="Aptos"/>
                <a:ea typeface="Aptos"/>
                <a:cs typeface="Aptos"/>
              </a:rPr>
              <a:t>word-level attacks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7661A2F-69E1-4317-9EBA-024801C45804}"/>
              </a:ext>
            </a:extLst>
          </p:cNvPr>
          <p:cNvSpPr>
            <a:spLocks noGrp="1"/>
          </p:cNvSpPr>
          <p:nvPr/>
        </p:nvSpPr>
        <p:spPr>
          <a:xfrm>
            <a:off x="6553200" y="5334000"/>
            <a:ext cx="23145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Word substitution and word deletion.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20390E1-3FE7-4C97-A52A-ECC521ED8EA2}"/>
              </a:ext>
            </a:extLst>
          </p:cNvPr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0762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92526966-CD6C-41EA-A526-C11A640CA2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A79A4B86-1D6F-4455-9674-5E96397F96C7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73CB5C70-837A-4564-B57D-02FA7FA3A934}"/>
              </a:ext>
            </a:extLst>
          </p:cNvPr>
          <p:cNvSpPr>
            <a:spLocks noGrp="1"/>
          </p:cNvSpPr>
          <p:nvPr/>
        </p:nvSpPr>
        <p:spPr>
          <a:xfrm>
            <a:off x="723900" y="390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KGW MECHANISM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279C7B-DA79-4EBF-890C-71ACD01E670E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9525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KGW makes watermarking observable by increasing green-list token frequency.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076F35-F1D3-4791-A322-AC26F7D343EC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1047750" cy="2857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EE4F19-A176-4B15-AC26-6BEAE9BB6DD3}"/>
              </a:ext>
            </a:extLst>
          </p:cNvPr>
          <p:cNvSpPr>
            <a:spLocks noGrp="1"/>
          </p:cNvSpPr>
          <p:nvPr/>
        </p:nvSpPr>
        <p:spPr>
          <a:xfrm>
            <a:off x="800100" y="183832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EMBEDDING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8B7CA7-5694-48A4-9EB1-A8DF267EE9C6}"/>
              </a:ext>
            </a:extLst>
          </p:cNvPr>
          <p:cNvSpPr>
            <a:spLocks noGrp="1"/>
          </p:cNvSpPr>
          <p:nvPr/>
        </p:nvSpPr>
        <p:spPr>
          <a:xfrm>
            <a:off x="6762750" y="1790700"/>
            <a:ext cx="1047750" cy="28575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73BC61-DBFF-40F0-8DB7-ACB43A76FB74}"/>
              </a:ext>
            </a:extLst>
          </p:cNvPr>
          <p:cNvSpPr>
            <a:spLocks noGrp="1"/>
          </p:cNvSpPr>
          <p:nvPr/>
        </p:nvSpPr>
        <p:spPr>
          <a:xfrm>
            <a:off x="6838950" y="1838325"/>
            <a:ext cx="895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7C2796-2642-453E-A2CF-BB03C4487C7C}"/>
              </a:ext>
            </a:extLst>
          </p:cNvPr>
          <p:cNvSpPr>
            <a:spLocks noGrp="1"/>
          </p:cNvSpPr>
          <p:nvPr/>
        </p:nvSpPr>
        <p:spPr>
          <a:xfrm>
            <a:off x="6096000" y="1752600"/>
            <a:ext cx="9525" cy="3714750"/>
          </a:xfrm>
          <a:prstGeom prst="rect">
            <a:avLst/>
          </a:prstGeom>
          <a:solidFill>
            <a:srgbClr val="33434D"/>
          </a:solidFill>
          <a:ln w="0">
            <a:solidFill>
              <a:srgbClr val="33434D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2BED1D-698C-468F-97EA-2345DE5A3C92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428750" cy="1123950"/>
          </a:xfrm>
          <a:prstGeom prst="rect">
            <a:avLst/>
          </a:prstGeom>
          <a:solidFill>
            <a:srgbClr val="1C2A33"/>
          </a:solidFill>
          <a:ln w="9525">
            <a:solidFill>
              <a:srgbClr val="36515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1D17BC-D42C-4F90-A7CC-3D63CFB6DBAB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Secret key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5EA5E7-7EB5-45B4-B366-3F7A9E0597C6}"/>
              </a:ext>
            </a:extLst>
          </p:cNvPr>
          <p:cNvSpPr>
            <a:spLocks noGrp="1"/>
          </p:cNvSpPr>
          <p:nvPr/>
        </p:nvSpPr>
        <p:spPr>
          <a:xfrm>
            <a:off x="838200" y="2933700"/>
            <a:ext cx="1162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drives repeatable random split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9396A7-8D3C-4D5A-AF4F-6310C5A55773}"/>
              </a:ext>
            </a:extLst>
          </p:cNvPr>
          <p:cNvSpPr>
            <a:spLocks noGrp="1"/>
          </p:cNvSpPr>
          <p:nvPr/>
        </p:nvSpPr>
        <p:spPr>
          <a:xfrm>
            <a:off x="2514600" y="2381250"/>
            <a:ext cx="1428750" cy="1123950"/>
          </a:xfrm>
          <a:prstGeom prst="rect">
            <a:avLst/>
          </a:prstGeom>
          <a:solidFill>
            <a:srgbClr val="1C2A33"/>
          </a:solidFill>
          <a:ln w="9525">
            <a:solidFill>
              <a:srgbClr val="36515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41312D-5963-4DD1-93E9-892BFFF02327}"/>
              </a:ext>
            </a:extLst>
          </p:cNvPr>
          <p:cNvSpPr>
            <a:spLocks noGrp="1"/>
          </p:cNvSpPr>
          <p:nvPr/>
        </p:nvSpPr>
        <p:spPr>
          <a:xfrm>
            <a:off x="2647950" y="259080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Vocabulary split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433DB2-447D-47CE-A87D-67180ECB9218}"/>
              </a:ext>
            </a:extLst>
          </p:cNvPr>
          <p:cNvSpPr>
            <a:spLocks noGrp="1"/>
          </p:cNvSpPr>
          <p:nvPr/>
        </p:nvSpPr>
        <p:spPr>
          <a:xfrm>
            <a:off x="2647950" y="2933700"/>
            <a:ext cx="1162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green list vs. red list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62A9D56-8E0A-48B4-8068-C393E9CB9403}"/>
              </a:ext>
            </a:extLst>
          </p:cNvPr>
          <p:cNvSpPr>
            <a:spLocks noGrp="1"/>
          </p:cNvSpPr>
          <p:nvPr/>
        </p:nvSpPr>
        <p:spPr>
          <a:xfrm>
            <a:off x="4324350" y="2381250"/>
            <a:ext cx="1428750" cy="1123950"/>
          </a:xfrm>
          <a:prstGeom prst="rect">
            <a:avLst/>
          </a:prstGeom>
          <a:solidFill>
            <a:srgbClr val="1C2A33"/>
          </a:solidFill>
          <a:ln w="9525">
            <a:solidFill>
              <a:srgbClr val="36515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F15DDC-9D13-4BE9-A1D0-AE4F1C83EAB7}"/>
              </a:ext>
            </a:extLst>
          </p:cNvPr>
          <p:cNvSpPr>
            <a:spLocks noGrp="1"/>
          </p:cNvSpPr>
          <p:nvPr/>
        </p:nvSpPr>
        <p:spPr>
          <a:xfrm>
            <a:off x="4457700" y="259080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Bias delta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0957CF-7708-4210-B0DF-317001B66895}"/>
              </a:ext>
            </a:extLst>
          </p:cNvPr>
          <p:cNvSpPr>
            <a:spLocks noGrp="1"/>
          </p:cNvSpPr>
          <p:nvPr/>
        </p:nvSpPr>
        <p:spPr>
          <a:xfrm>
            <a:off x="4457700" y="2933700"/>
            <a:ext cx="1162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add logit boost to green tokens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8D28D8-BFC7-401D-9181-BB951423C29E}"/>
              </a:ext>
            </a:extLst>
          </p:cNvPr>
          <p:cNvSpPr>
            <a:spLocks noGrp="1"/>
          </p:cNvSpPr>
          <p:nvPr/>
        </p:nvSpPr>
        <p:spPr>
          <a:xfrm>
            <a:off x="2152650" y="2943225"/>
            <a:ext cx="209550" cy="19050"/>
          </a:xfrm>
          <a:prstGeom prst="rect">
            <a:avLst/>
          </a:prstGeom>
          <a:solidFill>
            <a:srgbClr val="C8D0D4"/>
          </a:solidFill>
          <a:ln w="0">
            <a:solidFill>
              <a:srgbClr val="C8D0D4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1EEDA3-A2CF-4A50-B89C-9E61D0F57530}"/>
              </a:ext>
            </a:extLst>
          </p:cNvPr>
          <p:cNvSpPr>
            <a:spLocks noGrp="1"/>
          </p:cNvSpPr>
          <p:nvPr/>
        </p:nvSpPr>
        <p:spPr>
          <a:xfrm>
            <a:off x="2362200" y="2895600"/>
            <a:ext cx="114300" cy="114300"/>
          </a:xfrm>
          <a:prstGeom prst="rect">
            <a:avLst/>
          </a:prstGeom>
          <a:solidFill>
            <a:srgbClr val="C8D0D4"/>
          </a:solidFill>
          <a:ln w="0">
            <a:solidFill>
              <a:srgbClr val="C8D0D4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7B1994-776A-4B86-978E-6998DC2ABB8B}"/>
              </a:ext>
            </a:extLst>
          </p:cNvPr>
          <p:cNvSpPr>
            <a:spLocks noGrp="1"/>
          </p:cNvSpPr>
          <p:nvPr/>
        </p:nvSpPr>
        <p:spPr>
          <a:xfrm>
            <a:off x="3962400" y="2943225"/>
            <a:ext cx="209550" cy="19050"/>
          </a:xfrm>
          <a:prstGeom prst="rect">
            <a:avLst/>
          </a:prstGeom>
          <a:solidFill>
            <a:srgbClr val="C8D0D4"/>
          </a:solidFill>
          <a:ln w="0">
            <a:solidFill>
              <a:srgbClr val="C8D0D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868412-8B57-49A8-8813-5313E870AECF}"/>
              </a:ext>
            </a:extLst>
          </p:cNvPr>
          <p:cNvSpPr>
            <a:spLocks noGrp="1"/>
          </p:cNvSpPr>
          <p:nvPr/>
        </p:nvSpPr>
        <p:spPr>
          <a:xfrm>
            <a:off x="4171950" y="2895600"/>
            <a:ext cx="114300" cy="114300"/>
          </a:xfrm>
          <a:prstGeom prst="rect">
            <a:avLst/>
          </a:prstGeom>
          <a:solidFill>
            <a:srgbClr val="C8D0D4"/>
          </a:solidFill>
          <a:ln w="0">
            <a:solidFill>
              <a:srgbClr val="C8D0D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4757B5-E1D2-40B0-BB41-45471D0003E4}"/>
              </a:ext>
            </a:extLst>
          </p:cNvPr>
          <p:cNvSpPr>
            <a:spLocks noGrp="1"/>
          </p:cNvSpPr>
          <p:nvPr/>
        </p:nvSpPr>
        <p:spPr>
          <a:xfrm>
            <a:off x="838200" y="36195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8A5AE"/>
                </a:solidFill>
                <a:latin typeface="Aptos"/>
                <a:ea typeface="Aptos"/>
                <a:cs typeface="Aptos"/>
              </a:rPr>
              <a:t>Generated token stream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B7A045-4B63-442D-B305-CC84568B9668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400050" cy="3238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753A00-1DC3-4692-A0E0-FD155A95A276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400050" cy="323850"/>
          </a:xfrm>
          <a:prstGeom prst="rect">
            <a:avLst/>
          </a:prstGeom>
          <a:solidFill>
            <a:srgbClr val="32424C"/>
          </a:solidFill>
          <a:ln w="0">
            <a:solidFill>
              <a:srgbClr val="32424C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40BC1E-7057-4B83-B5C3-C1E1AB6C8330}"/>
              </a:ext>
            </a:extLst>
          </p:cNvPr>
          <p:cNvSpPr>
            <a:spLocks noGrp="1"/>
          </p:cNvSpPr>
          <p:nvPr/>
        </p:nvSpPr>
        <p:spPr>
          <a:xfrm>
            <a:off x="1847850" y="3981450"/>
            <a:ext cx="400050" cy="3238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1D3292-96C0-4D97-B697-84E8F5C54406}"/>
              </a:ext>
            </a:extLst>
          </p:cNvPr>
          <p:cNvSpPr>
            <a:spLocks noGrp="1"/>
          </p:cNvSpPr>
          <p:nvPr/>
        </p:nvSpPr>
        <p:spPr>
          <a:xfrm>
            <a:off x="2362200" y="3981450"/>
            <a:ext cx="400050" cy="3238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2474FBC-E239-48A1-9126-2DFB798D0EA5}"/>
              </a:ext>
            </a:extLst>
          </p:cNvPr>
          <p:cNvSpPr>
            <a:spLocks noGrp="1"/>
          </p:cNvSpPr>
          <p:nvPr/>
        </p:nvSpPr>
        <p:spPr>
          <a:xfrm>
            <a:off x="2876550" y="3981450"/>
            <a:ext cx="400050" cy="323850"/>
          </a:xfrm>
          <a:prstGeom prst="rect">
            <a:avLst/>
          </a:prstGeom>
          <a:solidFill>
            <a:srgbClr val="32424C"/>
          </a:solidFill>
          <a:ln w="0">
            <a:solidFill>
              <a:srgbClr val="32424C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4D6175-A82A-4BBE-A435-BA6E10B68362}"/>
              </a:ext>
            </a:extLst>
          </p:cNvPr>
          <p:cNvSpPr>
            <a:spLocks noGrp="1"/>
          </p:cNvSpPr>
          <p:nvPr/>
        </p:nvSpPr>
        <p:spPr>
          <a:xfrm>
            <a:off x="3390900" y="3981450"/>
            <a:ext cx="400050" cy="3238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F775FCA-9837-44E6-9A6E-C7C136B68D49}"/>
              </a:ext>
            </a:extLst>
          </p:cNvPr>
          <p:cNvSpPr>
            <a:spLocks noGrp="1"/>
          </p:cNvSpPr>
          <p:nvPr/>
        </p:nvSpPr>
        <p:spPr>
          <a:xfrm>
            <a:off x="3905250" y="3981450"/>
            <a:ext cx="400050" cy="323850"/>
          </a:xfrm>
          <a:prstGeom prst="rect">
            <a:avLst/>
          </a:prstGeom>
          <a:solidFill>
            <a:srgbClr val="32424C"/>
          </a:solidFill>
          <a:ln w="0">
            <a:solidFill>
              <a:srgbClr val="32424C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D95965E-C814-4982-91B9-4813CAC3117B}"/>
              </a:ext>
            </a:extLst>
          </p:cNvPr>
          <p:cNvSpPr>
            <a:spLocks noGrp="1"/>
          </p:cNvSpPr>
          <p:nvPr/>
        </p:nvSpPr>
        <p:spPr>
          <a:xfrm>
            <a:off x="4419600" y="3981450"/>
            <a:ext cx="400050" cy="3238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9467F31-4C6F-420E-82F5-8F374EADC0FA}"/>
              </a:ext>
            </a:extLst>
          </p:cNvPr>
          <p:cNvSpPr>
            <a:spLocks noGrp="1"/>
          </p:cNvSpPr>
          <p:nvPr/>
        </p:nvSpPr>
        <p:spPr>
          <a:xfrm>
            <a:off x="857250" y="445770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more green-list tokens than expected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0288FA-54E9-49A9-92C9-AE42329A2A2A}"/>
              </a:ext>
            </a:extLst>
          </p:cNvPr>
          <p:cNvSpPr>
            <a:spLocks noGrp="1"/>
          </p:cNvSpPr>
          <p:nvPr/>
        </p:nvSpPr>
        <p:spPr>
          <a:xfrm>
            <a:off x="6858000" y="2381250"/>
            <a:ext cx="1428750" cy="1123950"/>
          </a:xfrm>
          <a:prstGeom prst="rect">
            <a:avLst/>
          </a:prstGeom>
          <a:solidFill>
            <a:srgbClr val="1C2A33"/>
          </a:solidFill>
          <a:ln w="9525">
            <a:solidFill>
              <a:srgbClr val="4C4640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C3EE386-5AC2-43D2-90DD-DAF722EE5F47}"/>
              </a:ext>
            </a:extLst>
          </p:cNvPr>
          <p:cNvSpPr>
            <a:spLocks noGrp="1"/>
          </p:cNvSpPr>
          <p:nvPr/>
        </p:nvSpPr>
        <p:spPr>
          <a:xfrm>
            <a:off x="6991350" y="259080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Recreate split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EF75223-226E-4923-8180-84BBCA89044A}"/>
              </a:ext>
            </a:extLst>
          </p:cNvPr>
          <p:cNvSpPr>
            <a:spLocks noGrp="1"/>
          </p:cNvSpPr>
          <p:nvPr/>
        </p:nvSpPr>
        <p:spPr>
          <a:xfrm>
            <a:off x="6991350" y="2933700"/>
            <a:ext cx="1162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same secret key, same positions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FABFCB-C95A-484C-8E6C-C6B51FF2C037}"/>
              </a:ext>
            </a:extLst>
          </p:cNvPr>
          <p:cNvSpPr>
            <a:spLocks noGrp="1"/>
          </p:cNvSpPr>
          <p:nvPr/>
        </p:nvSpPr>
        <p:spPr>
          <a:xfrm>
            <a:off x="8667750" y="2381250"/>
            <a:ext cx="1428750" cy="1123950"/>
          </a:xfrm>
          <a:prstGeom prst="rect">
            <a:avLst/>
          </a:prstGeom>
          <a:solidFill>
            <a:srgbClr val="1C2A33"/>
          </a:solidFill>
          <a:ln w="9525">
            <a:solidFill>
              <a:srgbClr val="4C4640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DE01CFB-F40E-4E3C-B616-3BAFA0B1E996}"/>
              </a:ext>
            </a:extLst>
          </p:cNvPr>
          <p:cNvSpPr>
            <a:spLocks noGrp="1"/>
          </p:cNvSpPr>
          <p:nvPr/>
        </p:nvSpPr>
        <p:spPr>
          <a:xfrm>
            <a:off x="8801100" y="259080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Count green hits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68A56ED-3874-4301-AC62-B449010CADBE}"/>
              </a:ext>
            </a:extLst>
          </p:cNvPr>
          <p:cNvSpPr>
            <a:spLocks noGrp="1"/>
          </p:cNvSpPr>
          <p:nvPr/>
        </p:nvSpPr>
        <p:spPr>
          <a:xfrm>
            <a:off x="8801100" y="2933700"/>
            <a:ext cx="1162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compare observed vs. expected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7F02F34-CB6A-484D-8A55-FBF47465D31C}"/>
              </a:ext>
            </a:extLst>
          </p:cNvPr>
          <p:cNvSpPr>
            <a:spLocks noGrp="1"/>
          </p:cNvSpPr>
          <p:nvPr/>
        </p:nvSpPr>
        <p:spPr>
          <a:xfrm>
            <a:off x="10477500" y="2381250"/>
            <a:ext cx="1428750" cy="1123950"/>
          </a:xfrm>
          <a:prstGeom prst="rect">
            <a:avLst/>
          </a:prstGeom>
          <a:solidFill>
            <a:srgbClr val="1C2A33"/>
          </a:solidFill>
          <a:ln w="9525">
            <a:solidFill>
              <a:srgbClr val="4C4640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5EB9BB-06AD-4A5F-9A27-86ADA03EFEC5}"/>
              </a:ext>
            </a:extLst>
          </p:cNvPr>
          <p:cNvSpPr>
            <a:spLocks noGrp="1"/>
          </p:cNvSpPr>
          <p:nvPr/>
        </p:nvSpPr>
        <p:spPr>
          <a:xfrm>
            <a:off x="10610850" y="2590800"/>
            <a:ext cx="1162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z-score test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5D67286-BCCB-48CA-929A-F46BD243983D}"/>
              </a:ext>
            </a:extLst>
          </p:cNvPr>
          <p:cNvSpPr>
            <a:spLocks noGrp="1"/>
          </p:cNvSpPr>
          <p:nvPr/>
        </p:nvSpPr>
        <p:spPr>
          <a:xfrm>
            <a:off x="10610850" y="2933700"/>
            <a:ext cx="1162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watermark if score &gt; 4.0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17F0FC7-DEA8-42CA-A3F9-6D50F95B4162}"/>
              </a:ext>
            </a:extLst>
          </p:cNvPr>
          <p:cNvSpPr>
            <a:spLocks noGrp="1"/>
          </p:cNvSpPr>
          <p:nvPr/>
        </p:nvSpPr>
        <p:spPr>
          <a:xfrm>
            <a:off x="8305800" y="2943225"/>
            <a:ext cx="209550" cy="19050"/>
          </a:xfrm>
          <a:prstGeom prst="rect">
            <a:avLst/>
          </a:prstGeom>
          <a:solidFill>
            <a:srgbClr val="C8D0D4"/>
          </a:solidFill>
          <a:ln w="0">
            <a:solidFill>
              <a:srgbClr val="C8D0D4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48E3C98-D0B9-48EC-BD1E-A427E72FA3D0}"/>
              </a:ext>
            </a:extLst>
          </p:cNvPr>
          <p:cNvSpPr>
            <a:spLocks noGrp="1"/>
          </p:cNvSpPr>
          <p:nvPr/>
        </p:nvSpPr>
        <p:spPr>
          <a:xfrm>
            <a:off x="8515350" y="2895600"/>
            <a:ext cx="114300" cy="114300"/>
          </a:xfrm>
          <a:prstGeom prst="rect">
            <a:avLst/>
          </a:prstGeom>
          <a:solidFill>
            <a:srgbClr val="C8D0D4"/>
          </a:solidFill>
          <a:ln w="0">
            <a:solidFill>
              <a:srgbClr val="C8D0D4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D0F953-BE6D-4190-BC10-D3827A5390F4}"/>
              </a:ext>
            </a:extLst>
          </p:cNvPr>
          <p:cNvSpPr>
            <a:spLocks noGrp="1"/>
          </p:cNvSpPr>
          <p:nvPr/>
        </p:nvSpPr>
        <p:spPr>
          <a:xfrm>
            <a:off x="10115550" y="2943225"/>
            <a:ext cx="209550" cy="19050"/>
          </a:xfrm>
          <a:prstGeom prst="rect">
            <a:avLst/>
          </a:prstGeom>
          <a:solidFill>
            <a:srgbClr val="C8D0D4"/>
          </a:solidFill>
          <a:ln w="0">
            <a:solidFill>
              <a:srgbClr val="C8D0D4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944BD6A-E50F-4C92-9E0B-C57576D13BFD}"/>
              </a:ext>
            </a:extLst>
          </p:cNvPr>
          <p:cNvSpPr>
            <a:spLocks noGrp="1"/>
          </p:cNvSpPr>
          <p:nvPr/>
        </p:nvSpPr>
        <p:spPr>
          <a:xfrm>
            <a:off x="10325100" y="2895600"/>
            <a:ext cx="114300" cy="114300"/>
          </a:xfrm>
          <a:prstGeom prst="rect">
            <a:avLst/>
          </a:prstGeom>
          <a:solidFill>
            <a:srgbClr val="C8D0D4"/>
          </a:solidFill>
          <a:ln w="0">
            <a:solidFill>
              <a:srgbClr val="C8D0D4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0A873F9-7620-4589-B378-98078A2200FD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4476750" cy="876300"/>
          </a:xfrm>
          <a:prstGeom prst="rect">
            <a:avLst/>
          </a:prstGeom>
          <a:solidFill>
            <a:srgbClr val="2230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EC9C7DC-EC59-4543-BF7B-9FFC6D0BA699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47625" cy="87630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54B804D-0440-4C20-B76D-4DD095DF855F}"/>
              </a:ext>
            </a:extLst>
          </p:cNvPr>
          <p:cNvSpPr>
            <a:spLocks noGrp="1"/>
          </p:cNvSpPr>
          <p:nvPr/>
        </p:nvSpPr>
        <p:spPr>
          <a:xfrm>
            <a:off x="7029450" y="4229100"/>
            <a:ext cx="41719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KGW is easy to interpret and tune, but detection depends strongly on the bias strength and green-list ratio.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246D65-2F84-4721-82E1-E28C9B5DDAE5}"/>
              </a:ext>
            </a:extLst>
          </p:cNvPr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236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F608A310-EFF0-4C4D-BA86-092BA51735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0">
            <a:solidFill>
              <a:srgbClr val="F4EFE7"/>
            </a:solidFill>
            <a:prstDash val="solid"/>
          </a:ln>
        </p:spPr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F4BD2C73-0E02-419D-9414-4CEFDDD29912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5D88AF40-568C-4F49-9F86-73DA9711B3E8}"/>
              </a:ext>
            </a:extLst>
          </p:cNvPr>
          <p:cNvSpPr>
            <a:spLocks noGrp="1"/>
          </p:cNvSpPr>
          <p:nvPr/>
        </p:nvSpPr>
        <p:spPr>
          <a:xfrm>
            <a:off x="723900" y="390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EXP MECHANISM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A53A66-67D9-4148-A1C5-07053BF9172A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EXP accumulates a sharper sequence-level signal through exponential resampling.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4C9CA9-E942-4631-B258-54295BB51975}"/>
              </a:ext>
            </a:extLst>
          </p:cNvPr>
          <p:cNvSpPr>
            <a:spLocks noGrp="1"/>
          </p:cNvSpPr>
          <p:nvPr/>
        </p:nvSpPr>
        <p:spPr>
          <a:xfrm>
            <a:off x="590550" y="1771650"/>
            <a:ext cx="10572750" cy="346710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3E30F6-4545-4551-BC77-9DEBBF964E1F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1066800" cy="2857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9698CF-4DC2-431A-ADFB-25E00EA806C2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9AD428-3A2F-484F-BC72-20E3E3685505}"/>
              </a:ext>
            </a:extLst>
          </p:cNvPr>
          <p:cNvSpPr>
            <a:spLocks noGrp="1"/>
          </p:cNvSpPr>
          <p:nvPr/>
        </p:nvSpPr>
        <p:spPr>
          <a:xfrm>
            <a:off x="7562850" y="2095500"/>
            <a:ext cx="1428750" cy="28575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7BD456-7036-4336-B371-024D80E6D763}"/>
              </a:ext>
            </a:extLst>
          </p:cNvPr>
          <p:cNvSpPr>
            <a:spLocks noGrp="1"/>
          </p:cNvSpPr>
          <p:nvPr/>
        </p:nvSpPr>
        <p:spPr>
          <a:xfrm>
            <a:off x="7639050" y="2143125"/>
            <a:ext cx="1276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STATISTICAL TEST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1788C4-56E0-469B-AB2E-B4F1109F255A}"/>
              </a:ext>
            </a:extLst>
          </p:cNvPr>
          <p:cNvSpPr>
            <a:spLocks noGrp="1"/>
          </p:cNvSpPr>
          <p:nvPr/>
        </p:nvSpPr>
        <p:spPr>
          <a:xfrm>
            <a:off x="7048500" y="2095500"/>
            <a:ext cx="9525" cy="2762250"/>
          </a:xfrm>
          <a:prstGeom prst="rect">
            <a:avLst/>
          </a:prstGeom>
          <a:solidFill>
            <a:srgbClr val="E8DED0"/>
          </a:solidFill>
          <a:ln w="0">
            <a:solidFill>
              <a:srgbClr val="E8DED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74C2FC-2B7E-4A88-A5AA-88F8761CE1E1}"/>
              </a:ext>
            </a:extLst>
          </p:cNvPr>
          <p:cNvSpPr>
            <a:spLocks noGrp="1"/>
          </p:cNvSpPr>
          <p:nvPr/>
        </p:nvSpPr>
        <p:spPr>
          <a:xfrm>
            <a:off x="1066800" y="2857500"/>
            <a:ext cx="1524000" cy="1066800"/>
          </a:xfrm>
          <a:prstGeom prst="rect">
            <a:avLst/>
          </a:prstGeom>
          <a:solidFill>
            <a:srgbClr val="F7F2EA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FDA467-E4B4-4D7B-B345-0D0E06AFF558}"/>
              </a:ext>
            </a:extLst>
          </p:cNvPr>
          <p:cNvSpPr>
            <a:spLocks noGrp="1"/>
          </p:cNvSpPr>
          <p:nvPr/>
        </p:nvSpPr>
        <p:spPr>
          <a:xfrm>
            <a:off x="1219200" y="304800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Prefix hash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D2EF0A-8095-4623-A5A2-4A92C25458C8}"/>
              </a:ext>
            </a:extLst>
          </p:cNvPr>
          <p:cNvSpPr>
            <a:spLocks noGrp="1"/>
          </p:cNvSpPr>
          <p:nvPr/>
        </p:nvSpPr>
        <p:spPr>
          <a:xfrm>
            <a:off x="1219200" y="33909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seed PRF from prior k tokens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BA882E-7033-4022-ADCE-19E72ADAE44B}"/>
              </a:ext>
            </a:extLst>
          </p:cNvPr>
          <p:cNvSpPr>
            <a:spLocks noGrp="1"/>
          </p:cNvSpPr>
          <p:nvPr/>
        </p:nvSpPr>
        <p:spPr>
          <a:xfrm>
            <a:off x="2990850" y="2857500"/>
            <a:ext cx="1524000" cy="1066800"/>
          </a:xfrm>
          <a:prstGeom prst="rect">
            <a:avLst/>
          </a:prstGeom>
          <a:solidFill>
            <a:srgbClr val="F7F2EA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F5ED8D-1A4F-4D28-BC21-AF2802DE52A7}"/>
              </a:ext>
            </a:extLst>
          </p:cNvPr>
          <p:cNvSpPr>
            <a:spLocks noGrp="1"/>
          </p:cNvSpPr>
          <p:nvPr/>
        </p:nvSpPr>
        <p:spPr>
          <a:xfrm>
            <a:off x="3143250" y="304800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Exponential scores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72917C-50D7-4ED5-ADCF-F513951785AE}"/>
              </a:ext>
            </a:extLst>
          </p:cNvPr>
          <p:cNvSpPr>
            <a:spLocks noGrp="1"/>
          </p:cNvSpPr>
          <p:nvPr/>
        </p:nvSpPr>
        <p:spPr>
          <a:xfrm>
            <a:off x="3143250" y="33909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assign random scaling scores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1EB313-7838-4F42-AB85-D09046CA8F65}"/>
              </a:ext>
            </a:extLst>
          </p:cNvPr>
          <p:cNvSpPr>
            <a:spLocks noGrp="1"/>
          </p:cNvSpPr>
          <p:nvPr/>
        </p:nvSpPr>
        <p:spPr>
          <a:xfrm>
            <a:off x="4914900" y="2857500"/>
            <a:ext cx="1524000" cy="1066800"/>
          </a:xfrm>
          <a:prstGeom prst="rect">
            <a:avLst/>
          </a:prstGeom>
          <a:solidFill>
            <a:srgbClr val="F7F2EA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FA9775-2307-4630-AB7B-3212E3759E27}"/>
              </a:ext>
            </a:extLst>
          </p:cNvPr>
          <p:cNvSpPr>
            <a:spLocks noGrp="1"/>
          </p:cNvSpPr>
          <p:nvPr/>
        </p:nvSpPr>
        <p:spPr>
          <a:xfrm>
            <a:off x="5067300" y="304800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Resample token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E7CCD9-4C37-4F1F-B30C-3ADBDCB6E656}"/>
              </a:ext>
            </a:extLst>
          </p:cNvPr>
          <p:cNvSpPr>
            <a:spLocks noGrp="1"/>
          </p:cNvSpPr>
          <p:nvPr/>
        </p:nvSpPr>
        <p:spPr>
          <a:xfrm>
            <a:off x="5067300" y="33909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select token with maximum score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83F890-99D0-4EBF-A03B-DD7D2B5C018E}"/>
              </a:ext>
            </a:extLst>
          </p:cNvPr>
          <p:cNvSpPr>
            <a:spLocks noGrp="1"/>
          </p:cNvSpPr>
          <p:nvPr/>
        </p:nvSpPr>
        <p:spPr>
          <a:xfrm>
            <a:off x="2628900" y="3390900"/>
            <a:ext cx="209550" cy="1905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AA51458-D444-456D-83BF-18DC5F2EAFB4}"/>
              </a:ext>
            </a:extLst>
          </p:cNvPr>
          <p:cNvSpPr>
            <a:spLocks noGrp="1"/>
          </p:cNvSpPr>
          <p:nvPr/>
        </p:nvSpPr>
        <p:spPr>
          <a:xfrm>
            <a:off x="2838450" y="3343275"/>
            <a:ext cx="114300" cy="11430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BD84F2-5CA4-4FFE-B454-1F015AB80456}"/>
              </a:ext>
            </a:extLst>
          </p:cNvPr>
          <p:cNvSpPr>
            <a:spLocks noGrp="1"/>
          </p:cNvSpPr>
          <p:nvPr/>
        </p:nvSpPr>
        <p:spPr>
          <a:xfrm>
            <a:off x="4552950" y="3390900"/>
            <a:ext cx="209550" cy="1905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06B388-0DF0-4680-9D7B-5F2C2B3C056D}"/>
              </a:ext>
            </a:extLst>
          </p:cNvPr>
          <p:cNvSpPr>
            <a:spLocks noGrp="1"/>
          </p:cNvSpPr>
          <p:nvPr/>
        </p:nvSpPr>
        <p:spPr>
          <a:xfrm>
            <a:off x="4762500" y="3343275"/>
            <a:ext cx="114300" cy="11430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50AB7E0-C84B-4BE0-85D3-81506325DDAB}"/>
              </a:ext>
            </a:extLst>
          </p:cNvPr>
          <p:cNvSpPr>
            <a:spLocks noGrp="1"/>
          </p:cNvSpPr>
          <p:nvPr/>
        </p:nvSpPr>
        <p:spPr>
          <a:xfrm>
            <a:off x="7658100" y="2857500"/>
            <a:ext cx="1524000" cy="1066800"/>
          </a:xfrm>
          <a:prstGeom prst="rect">
            <a:avLst/>
          </a:prstGeom>
          <a:solidFill>
            <a:srgbClr val="101820"/>
          </a:solidFill>
          <a:ln w="9525">
            <a:solidFill>
              <a:srgbClr val="394A5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2A7034E-9814-48A7-A272-2A7CA049DC9C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Aggregate p-value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96034-05AD-4966-9A2D-DE8761D22433}"/>
              </a:ext>
            </a:extLst>
          </p:cNvPr>
          <p:cNvSpPr>
            <a:spLocks noGrp="1"/>
          </p:cNvSpPr>
          <p:nvPr/>
        </p:nvSpPr>
        <p:spPr>
          <a:xfrm>
            <a:off x="7810500" y="33909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tokens contribute to one sequence statistic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14C89A8-6EE6-4079-9DD7-32B374636288}"/>
              </a:ext>
            </a:extLst>
          </p:cNvPr>
          <p:cNvSpPr>
            <a:spLocks noGrp="1"/>
          </p:cNvSpPr>
          <p:nvPr/>
        </p:nvSpPr>
        <p:spPr>
          <a:xfrm>
            <a:off x="9601200" y="2857500"/>
            <a:ext cx="1524000" cy="1066800"/>
          </a:xfrm>
          <a:prstGeom prst="rect">
            <a:avLst/>
          </a:prstGeom>
          <a:solidFill>
            <a:srgbClr val="101820"/>
          </a:solidFill>
          <a:ln w="9525">
            <a:solidFill>
              <a:srgbClr val="394A5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1A5BEF-C9C9-47A4-8E9F-67BF1BCCFE71}"/>
              </a:ext>
            </a:extLst>
          </p:cNvPr>
          <p:cNvSpPr>
            <a:spLocks noGrp="1"/>
          </p:cNvSpPr>
          <p:nvPr/>
        </p:nvSpPr>
        <p:spPr>
          <a:xfrm>
            <a:off x="9753600" y="304800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D38992C-2D92-4A80-9068-1E636C97E4C4}"/>
              </a:ext>
            </a:extLst>
          </p:cNvPr>
          <p:cNvSpPr>
            <a:spLocks noGrp="1"/>
          </p:cNvSpPr>
          <p:nvPr/>
        </p:nvSpPr>
        <p:spPr>
          <a:xfrm>
            <a:off x="9753600" y="3390900"/>
            <a:ext cx="1200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watermarked if p &lt; 1e-6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3C38AA-837C-41CD-8C84-692420E466AC}"/>
              </a:ext>
            </a:extLst>
          </p:cNvPr>
          <p:cNvSpPr>
            <a:spLocks noGrp="1"/>
          </p:cNvSpPr>
          <p:nvPr/>
        </p:nvSpPr>
        <p:spPr>
          <a:xfrm>
            <a:off x="9239250" y="3390900"/>
            <a:ext cx="209550" cy="1905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3448AE5-BB96-4B39-96BC-DA1EFF8DE4CF}"/>
              </a:ext>
            </a:extLst>
          </p:cNvPr>
          <p:cNvSpPr>
            <a:spLocks noGrp="1"/>
          </p:cNvSpPr>
          <p:nvPr/>
        </p:nvSpPr>
        <p:spPr>
          <a:xfrm>
            <a:off x="9448800" y="3343275"/>
            <a:ext cx="114300" cy="114300"/>
          </a:xfrm>
          <a:prstGeom prst="rect">
            <a:avLst/>
          </a:prstGeom>
          <a:solidFill>
            <a:srgbClr val="7E8A91"/>
          </a:solidFill>
          <a:ln w="0">
            <a:solidFill>
              <a:srgbClr val="7E8A91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4FEFAE1-93F6-4F44-BF34-2723753E3B7F}"/>
              </a:ext>
            </a:extLst>
          </p:cNvPr>
          <p:cNvSpPr>
            <a:spLocks noGrp="1"/>
          </p:cNvSpPr>
          <p:nvPr/>
        </p:nvSpPr>
        <p:spPr>
          <a:xfrm>
            <a:off x="895350" y="43434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Why the signal is stronger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079B40-526F-4E6E-8E90-1F6E9BE364F0}"/>
              </a:ext>
            </a:extLst>
          </p:cNvPr>
          <p:cNvSpPr>
            <a:spLocks noGrp="1"/>
          </p:cNvSpPr>
          <p:nvPr/>
        </p:nvSpPr>
        <p:spPr>
          <a:xfrm>
            <a:off x="895350" y="4629150"/>
            <a:ext cx="528637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A5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545C"/>
                </a:solidFill>
                <a:latin typeface="Aptos"/>
                <a:ea typeface="Aptos"/>
                <a:cs typeface="Aptos"/>
              </a:rPr>
              <a:t>The paper reports watermarked p-values from roughly 1e-103 to 1e-5, while natural texts remain close to the null distribution.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A446D01-2AE9-49D7-92ED-226FB9201809}"/>
              </a:ext>
            </a:extLst>
          </p:cNvPr>
          <p:cNvSpPr>
            <a:spLocks noGrp="1"/>
          </p:cNvSpPr>
          <p:nvPr/>
        </p:nvSpPr>
        <p:spPr>
          <a:xfrm>
            <a:off x="7543800" y="4343400"/>
            <a:ext cx="3390900" cy="666750"/>
          </a:xfrm>
          <a:prstGeom prst="rect">
            <a:avLst/>
          </a:prstGeom>
          <a:solidFill>
            <a:srgbClr val="2230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369E5DE-8E5A-418C-B3D4-A299ABABEC54}"/>
              </a:ext>
            </a:extLst>
          </p:cNvPr>
          <p:cNvSpPr>
            <a:spLocks noGrp="1"/>
          </p:cNvSpPr>
          <p:nvPr/>
        </p:nvSpPr>
        <p:spPr>
          <a:xfrm>
            <a:off x="7543800" y="4343400"/>
            <a:ext cx="47625" cy="6667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3C39473-3A46-4F9B-867C-AA24F99832A3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30861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EXP is less intuitive than KGW, but its detection statistic separates the default samples more cleanly.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5643134-1702-40B5-ABB6-36A86EC18C0C}"/>
              </a:ext>
            </a:extLst>
          </p:cNvPr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3030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015C195-738A-412F-AD47-C7A874DAF1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56604F37-D104-496B-9B60-7B2A87D530DE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5E3EC477-4A74-446C-BCC1-4CB047AFFEFE}"/>
              </a:ext>
            </a:extLst>
          </p:cNvPr>
          <p:cNvSpPr>
            <a:spLocks noGrp="1"/>
          </p:cNvSpPr>
          <p:nvPr/>
        </p:nvSpPr>
        <p:spPr>
          <a:xfrm>
            <a:off x="723900" y="390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DETECTION ACCURACY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FEA305-D589-444A-AB94-7242EB58A250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Under no attack, EXP separates watermarked text more reliably than KGW.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CCB0BA-ECE0-4C7A-A84A-7E176C2DB396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704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Default setting, n = 20 per class. Both methods report FPR = 0.000.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C363A9-22BC-4617-9969-DCBC8D328C20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5810250" cy="3429000"/>
          </a:xfrm>
          <a:prstGeom prst="rect">
            <a:avLst/>
          </a:prstGeom>
          <a:solidFill>
            <a:srgbClr val="17242D"/>
          </a:solidFill>
          <a:ln w="9525">
            <a:solidFill>
              <a:srgbClr val="2A394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4D41A8-2699-4F7F-88AB-C8B2CED21960}"/>
              </a:ext>
            </a:extLst>
          </p:cNvPr>
          <p:cNvSpPr>
            <a:spLocks noGrp="1"/>
          </p:cNvSpPr>
          <p:nvPr/>
        </p:nvSpPr>
        <p:spPr>
          <a:xfrm>
            <a:off x="914400" y="24384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True positive rate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9664A7-83AD-45A9-A22D-ADBF8FAEB117}"/>
              </a:ext>
            </a:extLst>
          </p:cNvPr>
          <p:cNvSpPr>
            <a:spLocks noGrp="1"/>
          </p:cNvSpPr>
          <p:nvPr/>
        </p:nvSpPr>
        <p:spPr>
          <a:xfrm>
            <a:off x="1257300" y="4705350"/>
            <a:ext cx="4191000" cy="9525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37F6F6-A9EB-4BFD-8593-C0C9FB7DDAA3}"/>
              </a:ext>
            </a:extLst>
          </p:cNvPr>
          <p:cNvSpPr>
            <a:spLocks noGrp="1"/>
          </p:cNvSpPr>
          <p:nvPr/>
        </p:nvSpPr>
        <p:spPr>
          <a:xfrm>
            <a:off x="1257300" y="3028950"/>
            <a:ext cx="9525" cy="1676400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E4E74F-9775-47BD-945F-C589B21CCBC4}"/>
              </a:ext>
            </a:extLst>
          </p:cNvPr>
          <p:cNvSpPr>
            <a:spLocks noGrp="1"/>
          </p:cNvSpPr>
          <p:nvPr/>
        </p:nvSpPr>
        <p:spPr>
          <a:xfrm>
            <a:off x="1257300" y="280035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8A5AE"/>
                </a:solidFill>
                <a:latin typeface="Aptos"/>
                <a:ea typeface="Aptos"/>
                <a:cs typeface="Aptos"/>
              </a:rPr>
              <a:t>TPR, higher is better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E85471-1832-45F6-8942-C1502EDA23A0}"/>
              </a:ext>
            </a:extLst>
          </p:cNvPr>
          <p:cNvSpPr>
            <a:spLocks noGrp="1"/>
          </p:cNvSpPr>
          <p:nvPr/>
        </p:nvSpPr>
        <p:spPr>
          <a:xfrm>
            <a:off x="1428750" y="3276600"/>
            <a:ext cx="1838325" cy="14287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F53715-AF00-4B9C-9A72-191BB53980F9}"/>
              </a:ext>
            </a:extLst>
          </p:cNvPr>
          <p:cNvSpPr>
            <a:spLocks noGrp="1"/>
          </p:cNvSpPr>
          <p:nvPr/>
        </p:nvSpPr>
        <p:spPr>
          <a:xfrm>
            <a:off x="1371600" y="3048000"/>
            <a:ext cx="1952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3DBFB2-E0FA-4101-B8BD-3ACB4440A4A0}"/>
              </a:ext>
            </a:extLst>
          </p:cNvPr>
          <p:cNvSpPr>
            <a:spLocks noGrp="1"/>
          </p:cNvSpPr>
          <p:nvPr/>
        </p:nvSpPr>
        <p:spPr>
          <a:xfrm>
            <a:off x="1428750" y="4800600"/>
            <a:ext cx="1838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CA63EF-251D-440F-9D7E-59A5FCF8B824}"/>
              </a:ext>
            </a:extLst>
          </p:cNvPr>
          <p:cNvSpPr>
            <a:spLocks noGrp="1"/>
          </p:cNvSpPr>
          <p:nvPr/>
        </p:nvSpPr>
        <p:spPr>
          <a:xfrm>
            <a:off x="3438525" y="3562350"/>
            <a:ext cx="1838325" cy="114300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1A8655-5A6D-4890-82C9-41B379982852}"/>
              </a:ext>
            </a:extLst>
          </p:cNvPr>
          <p:cNvSpPr>
            <a:spLocks noGrp="1"/>
          </p:cNvSpPr>
          <p:nvPr/>
        </p:nvSpPr>
        <p:spPr>
          <a:xfrm>
            <a:off x="3381375" y="3333750"/>
            <a:ext cx="1952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40E5C3-8FFC-4C19-9198-94C702A872A7}"/>
              </a:ext>
            </a:extLst>
          </p:cNvPr>
          <p:cNvSpPr>
            <a:spLocks noGrp="1"/>
          </p:cNvSpPr>
          <p:nvPr/>
        </p:nvSpPr>
        <p:spPr>
          <a:xfrm>
            <a:off x="3438525" y="4800600"/>
            <a:ext cx="18383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EDB698-5945-4A01-86B2-40525CA51E72}"/>
              </a:ext>
            </a:extLst>
          </p:cNvPr>
          <p:cNvSpPr>
            <a:spLocks noGrp="1"/>
          </p:cNvSpPr>
          <p:nvPr/>
        </p:nvSpPr>
        <p:spPr>
          <a:xfrm>
            <a:off x="990600" y="5067300"/>
            <a:ext cx="485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EXP detects all 20 watermarked samples; KGW misses 4 at the default threshold.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8ADB4C-B12E-48BA-9204-C6CF29543102}"/>
              </a:ext>
            </a:extLst>
          </p:cNvPr>
          <p:cNvSpPr>
            <a:spLocks noGrp="1"/>
          </p:cNvSpPr>
          <p:nvPr/>
        </p:nvSpPr>
        <p:spPr>
          <a:xfrm>
            <a:off x="6934200" y="2190750"/>
            <a:ext cx="4095750" cy="3429000"/>
          </a:xfrm>
          <a:prstGeom prst="rect">
            <a:avLst/>
          </a:prstGeom>
          <a:solidFill>
            <a:srgbClr val="F4EFE7"/>
          </a:solidFill>
          <a:ln w="9525">
            <a:solidFill>
              <a:srgbClr val="60584D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E2ACF29-2689-4B6E-A702-C76160FD10C1}"/>
              </a:ext>
            </a:extLst>
          </p:cNvPr>
          <p:cNvSpPr>
            <a:spLocks noGrp="1"/>
          </p:cNvSpPr>
          <p:nvPr/>
        </p:nvSpPr>
        <p:spPr>
          <a:xfrm>
            <a:off x="7239000" y="24574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Score separation tells the story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69B1DE-1B8C-4CF6-8FE1-7C3DC8B7D4A2}"/>
              </a:ext>
            </a:extLst>
          </p:cNvPr>
          <p:cNvSpPr>
            <a:spLocks noGrp="1"/>
          </p:cNvSpPr>
          <p:nvPr/>
        </p:nvSpPr>
        <p:spPr>
          <a:xfrm>
            <a:off x="7239000" y="2857500"/>
            <a:ext cx="3257550" cy="9525"/>
          </a:xfrm>
          <a:prstGeom prst="rect">
            <a:avLst/>
          </a:prstGeom>
          <a:solidFill>
            <a:srgbClr val="E8DED0"/>
          </a:solidFill>
          <a:ln w="0">
            <a:solidFill>
              <a:srgbClr val="E8DED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09C216-A02E-4FD6-8285-3FF35D2447CC}"/>
              </a:ext>
            </a:extLst>
          </p:cNvPr>
          <p:cNvSpPr>
            <a:spLocks noGrp="1"/>
          </p:cNvSpPr>
          <p:nvPr/>
        </p:nvSpPr>
        <p:spPr>
          <a:xfrm>
            <a:off x="7239000" y="314325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86F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6F3A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B1CCAB-F435-4D31-BAF7-6E0FE33CFA2A}"/>
              </a:ext>
            </a:extLst>
          </p:cNvPr>
          <p:cNvSpPr>
            <a:spLocks noGrp="1"/>
          </p:cNvSpPr>
          <p:nvPr/>
        </p:nvSpPr>
        <p:spPr>
          <a:xfrm>
            <a:off x="8058150" y="3105150"/>
            <a:ext cx="23336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5515A"/>
                </a:solidFill>
                <a:latin typeface="Aptos"/>
                <a:ea typeface="Aptos"/>
                <a:cs typeface="Aptos"/>
              </a:rPr>
              <a:t>Watermarked p-values cluster near zero; the reported mean is approximately 1e-30.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09BEC7-164F-47EE-9850-C193A60ACCA5}"/>
              </a:ext>
            </a:extLst>
          </p:cNvPr>
          <p:cNvSpPr>
            <a:spLocks noGrp="1"/>
          </p:cNvSpPr>
          <p:nvPr/>
        </p:nvSpPr>
        <p:spPr>
          <a:xfrm>
            <a:off x="7239000" y="394335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2B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B8C6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5316EF4-8E71-42C7-B25E-FD823917D74C}"/>
              </a:ext>
            </a:extLst>
          </p:cNvPr>
          <p:cNvSpPr>
            <a:spLocks noGrp="1"/>
          </p:cNvSpPr>
          <p:nvPr/>
        </p:nvSpPr>
        <p:spPr>
          <a:xfrm>
            <a:off x="8058150" y="3905250"/>
            <a:ext cx="2381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551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5515A"/>
                </a:solidFill>
                <a:latin typeface="Aptos"/>
                <a:ea typeface="Aptos"/>
                <a:cs typeface="Aptos"/>
              </a:rPr>
              <a:t>Watermarked z-score mean is 0.80 versus -0.43 for natural text, leaving overlap.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BAA14F5-FE25-4FD9-97CB-4A8C15AC6E34}"/>
              </a:ext>
            </a:extLst>
          </p:cNvPr>
          <p:cNvSpPr>
            <a:spLocks noGrp="1"/>
          </p:cNvSpPr>
          <p:nvPr/>
        </p:nvSpPr>
        <p:spPr>
          <a:xfrm>
            <a:off x="7239000" y="4667250"/>
            <a:ext cx="3257550" cy="476250"/>
          </a:xfrm>
          <a:prstGeom prst="rect">
            <a:avLst/>
          </a:prstGeom>
          <a:solidFill>
            <a:srgbClr val="2230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3AEE10-16B1-49D2-BF80-9A69A219EA5B}"/>
              </a:ext>
            </a:extLst>
          </p:cNvPr>
          <p:cNvSpPr>
            <a:spLocks noGrp="1"/>
          </p:cNvSpPr>
          <p:nvPr/>
        </p:nvSpPr>
        <p:spPr>
          <a:xfrm>
            <a:off x="7239000" y="4667250"/>
            <a:ext cx="47625" cy="47625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3809B52-CD2A-42CE-B8F6-CB0A0835F328}"/>
              </a:ext>
            </a:extLst>
          </p:cNvPr>
          <p:cNvSpPr>
            <a:spLocks noGrp="1"/>
          </p:cNvSpPr>
          <p:nvPr/>
        </p:nvSpPr>
        <p:spPr>
          <a:xfrm>
            <a:off x="7410450" y="4800600"/>
            <a:ext cx="2952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Interpretation: detection is not the bottleneck in benign settings; robustness is.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C62A5E8-DA4D-4741-ABCC-A42C43C6BD75}"/>
              </a:ext>
            </a:extLst>
          </p:cNvPr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FC75B0F9-99FC-48EB-A232-31FD845AA8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0">
            <a:solidFill>
              <a:srgbClr val="F4EFE7"/>
            </a:solidFill>
            <a:prstDash val="solid"/>
          </a:ln>
        </p:spPr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6B764ACB-3EA3-4967-8145-76D75C97292F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CFBEE9CA-6749-4D88-82A9-A944014AD2C6}"/>
              </a:ext>
            </a:extLst>
          </p:cNvPr>
          <p:cNvSpPr>
            <a:spLocks noGrp="1"/>
          </p:cNvSpPr>
          <p:nvPr/>
        </p:nvSpPr>
        <p:spPr>
          <a:xfrm>
            <a:off x="723900" y="390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TEXT QUALITY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7C9912-8A5A-48A1-B51F-CF0838E712E3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9906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Lower perplexity looks fluent, but it also signals reduced lexical diversity.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CD216D-3B83-4DAB-B45B-25D4EE6653B1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6286500" cy="32575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2093A4-0F33-482D-A8C5-8845B359B6E0}"/>
              </a:ext>
            </a:extLst>
          </p:cNvPr>
          <p:cNvSpPr>
            <a:spLocks noGrp="1"/>
          </p:cNvSpPr>
          <p:nvPr/>
        </p:nvSpPr>
        <p:spPr>
          <a:xfrm>
            <a:off x="990600" y="24193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 perplexity, lower is better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A6FDC2-2BD4-4192-AFC5-87E43DACBD47}"/>
              </a:ext>
            </a:extLst>
          </p:cNvPr>
          <p:cNvSpPr>
            <a:spLocks noGrp="1"/>
          </p:cNvSpPr>
          <p:nvPr/>
        </p:nvSpPr>
        <p:spPr>
          <a:xfrm>
            <a:off x="1085850" y="3095625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1AF692-5BBE-46E9-97B4-FE1E11C1CF71}"/>
              </a:ext>
            </a:extLst>
          </p:cNvPr>
          <p:cNvSpPr>
            <a:spLocks noGrp="1"/>
          </p:cNvSpPr>
          <p:nvPr/>
        </p:nvSpPr>
        <p:spPr>
          <a:xfrm>
            <a:off x="2133600" y="3152775"/>
            <a:ext cx="2667000" cy="266700"/>
          </a:xfrm>
          <a:prstGeom prst="rect">
            <a:avLst/>
          </a:prstGeom>
          <a:solidFill>
            <a:srgbClr val="E5DED2"/>
          </a:solidFill>
          <a:ln w="0">
            <a:solidFill>
              <a:srgbClr val="E5DED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C18557-5FCA-44EC-A372-AD8427B1E479}"/>
              </a:ext>
            </a:extLst>
          </p:cNvPr>
          <p:cNvSpPr>
            <a:spLocks noGrp="1"/>
          </p:cNvSpPr>
          <p:nvPr/>
        </p:nvSpPr>
        <p:spPr>
          <a:xfrm>
            <a:off x="2133600" y="3152775"/>
            <a:ext cx="828222" cy="26670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A7475C-6E9E-4FA2-A27F-89E6CD4652FF}"/>
              </a:ext>
            </a:extLst>
          </p:cNvPr>
          <p:cNvSpPr>
            <a:spLocks noGrp="1"/>
          </p:cNvSpPr>
          <p:nvPr/>
        </p:nvSpPr>
        <p:spPr>
          <a:xfrm>
            <a:off x="4914900" y="3095625"/>
            <a:ext cx="76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5.36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92219B-824B-4E2E-ACDD-C91EB1ECCCD0}"/>
              </a:ext>
            </a:extLst>
          </p:cNvPr>
          <p:cNvSpPr>
            <a:spLocks noGrp="1"/>
          </p:cNvSpPr>
          <p:nvPr/>
        </p:nvSpPr>
        <p:spPr>
          <a:xfrm>
            <a:off x="1085850" y="3724275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5052F4-B860-454C-8B04-4A709089677C}"/>
              </a:ext>
            </a:extLst>
          </p:cNvPr>
          <p:cNvSpPr>
            <a:spLocks noGrp="1"/>
          </p:cNvSpPr>
          <p:nvPr/>
        </p:nvSpPr>
        <p:spPr>
          <a:xfrm>
            <a:off x="2133600" y="3781425"/>
            <a:ext cx="2667000" cy="266700"/>
          </a:xfrm>
          <a:prstGeom prst="rect">
            <a:avLst/>
          </a:prstGeom>
          <a:solidFill>
            <a:srgbClr val="E5DED2"/>
          </a:solidFill>
          <a:ln w="0">
            <a:solidFill>
              <a:srgbClr val="E5DED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0D9758-F81D-4865-A0BB-1CCAFC62CCCD}"/>
              </a:ext>
            </a:extLst>
          </p:cNvPr>
          <p:cNvSpPr>
            <a:spLocks noGrp="1"/>
          </p:cNvSpPr>
          <p:nvPr/>
        </p:nvSpPr>
        <p:spPr>
          <a:xfrm>
            <a:off x="2133600" y="3781425"/>
            <a:ext cx="1780060" cy="26670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C54BA0-EDC8-4A69-99A7-85C1ACA39A08}"/>
              </a:ext>
            </a:extLst>
          </p:cNvPr>
          <p:cNvSpPr>
            <a:spLocks noGrp="1"/>
          </p:cNvSpPr>
          <p:nvPr/>
        </p:nvSpPr>
        <p:spPr>
          <a:xfrm>
            <a:off x="4914900" y="3724275"/>
            <a:ext cx="76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11.52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5F67C7-1FEF-4DDB-BD1D-CA24DACFE9F6}"/>
              </a:ext>
            </a:extLst>
          </p:cNvPr>
          <p:cNvSpPr>
            <a:spLocks noGrp="1"/>
          </p:cNvSpPr>
          <p:nvPr/>
        </p:nvSpPr>
        <p:spPr>
          <a:xfrm>
            <a:off x="1085850" y="4352925"/>
            <a:ext cx="1047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Natural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967775-4D4D-43DC-9A80-644E96CC89CE}"/>
              </a:ext>
            </a:extLst>
          </p:cNvPr>
          <p:cNvSpPr>
            <a:spLocks noGrp="1"/>
          </p:cNvSpPr>
          <p:nvPr/>
        </p:nvSpPr>
        <p:spPr>
          <a:xfrm>
            <a:off x="2133600" y="4410075"/>
            <a:ext cx="2667000" cy="266700"/>
          </a:xfrm>
          <a:prstGeom prst="rect">
            <a:avLst/>
          </a:prstGeom>
          <a:solidFill>
            <a:srgbClr val="E5DED2"/>
          </a:solidFill>
          <a:ln w="0">
            <a:solidFill>
              <a:srgbClr val="E5DED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9AC226-C18E-468F-AF6E-54C41BC1EA49}"/>
              </a:ext>
            </a:extLst>
          </p:cNvPr>
          <p:cNvSpPr>
            <a:spLocks noGrp="1"/>
          </p:cNvSpPr>
          <p:nvPr/>
        </p:nvSpPr>
        <p:spPr>
          <a:xfrm>
            <a:off x="2133600" y="4410075"/>
            <a:ext cx="2667000" cy="266700"/>
          </a:xfrm>
          <a:prstGeom prst="rect">
            <a:avLst/>
          </a:prstGeom>
          <a:solidFill>
            <a:srgbClr val="8D959B"/>
          </a:solidFill>
          <a:ln w="0">
            <a:solidFill>
              <a:srgbClr val="8D959B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50EC7E-D430-497A-BEE1-AE33733EB351}"/>
              </a:ext>
            </a:extLst>
          </p:cNvPr>
          <p:cNvSpPr>
            <a:spLocks noGrp="1"/>
          </p:cNvSpPr>
          <p:nvPr/>
        </p:nvSpPr>
        <p:spPr>
          <a:xfrm>
            <a:off x="4914900" y="4352925"/>
            <a:ext cx="76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17.26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AEAD-80BF-4B46-95D8-FFB161389054}"/>
              </a:ext>
            </a:extLst>
          </p:cNvPr>
          <p:cNvSpPr>
            <a:spLocks noGrp="1"/>
          </p:cNvSpPr>
          <p:nvPr/>
        </p:nvSpPr>
        <p:spPr>
          <a:xfrm>
            <a:off x="5619750" y="2914650"/>
            <a:ext cx="9525" cy="2076450"/>
          </a:xfrm>
          <a:prstGeom prst="rect">
            <a:avLst/>
          </a:prstGeom>
          <a:solidFill>
            <a:srgbClr val="C9BCAC"/>
          </a:solidFill>
          <a:ln w="0">
            <a:solidFill>
              <a:srgbClr val="C9BCAC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AC9FD52-162D-4305-A9CE-431C4FBD3854}"/>
              </a:ext>
            </a:extLst>
          </p:cNvPr>
          <p:cNvSpPr>
            <a:spLocks noGrp="1"/>
          </p:cNvSpPr>
          <p:nvPr/>
        </p:nvSpPr>
        <p:spPr>
          <a:xfrm>
            <a:off x="5867400" y="3124200"/>
            <a:ext cx="7810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Both watermark mechanisms bias generation toward high-probability tokens.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4B08E2-9291-42AD-97DC-91E96E5746CD}"/>
              </a:ext>
            </a:extLst>
          </p:cNvPr>
          <p:cNvSpPr>
            <a:spLocks noGrp="1"/>
          </p:cNvSpPr>
          <p:nvPr/>
        </p:nvSpPr>
        <p:spPr>
          <a:xfrm>
            <a:off x="7505700" y="2152650"/>
            <a:ext cx="3429000" cy="325755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E8274DC-7139-4413-9D6C-6CE9AE9F8451}"/>
              </a:ext>
            </a:extLst>
          </p:cNvPr>
          <p:cNvSpPr>
            <a:spLocks noGrp="1"/>
          </p:cNvSpPr>
          <p:nvPr/>
        </p:nvSpPr>
        <p:spPr>
          <a:xfrm>
            <a:off x="7791450" y="247650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Stealth trade-off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0007F8D-A391-42B9-89A9-9E6A3A394115}"/>
              </a:ext>
            </a:extLst>
          </p:cNvPr>
          <p:cNvSpPr>
            <a:spLocks noGrp="1"/>
          </p:cNvSpPr>
          <p:nvPr/>
        </p:nvSpPr>
        <p:spPr>
          <a:xfrm>
            <a:off x="7791450" y="2971800"/>
            <a:ext cx="266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The paper treats low PPL as fluency evidence, but also warns that over-predictable text could become a separate statistical detection surface.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FB97A-2F6F-42BA-84B8-8B41097BE724}"/>
              </a:ext>
            </a:extLst>
          </p:cNvPr>
          <p:cNvSpPr>
            <a:spLocks noGrp="1"/>
          </p:cNvSpPr>
          <p:nvPr/>
        </p:nvSpPr>
        <p:spPr>
          <a:xfrm>
            <a:off x="7791450" y="4305300"/>
            <a:ext cx="2667000" cy="704850"/>
          </a:xfrm>
          <a:prstGeom prst="rect">
            <a:avLst/>
          </a:prstGeom>
          <a:solidFill>
            <a:srgbClr val="2230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43559A3-85B6-475C-B99C-4853746B6CBA}"/>
              </a:ext>
            </a:extLst>
          </p:cNvPr>
          <p:cNvSpPr>
            <a:spLocks noGrp="1"/>
          </p:cNvSpPr>
          <p:nvPr/>
        </p:nvSpPr>
        <p:spPr>
          <a:xfrm>
            <a:off x="7791450" y="4305300"/>
            <a:ext cx="47625" cy="7048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C46BA4-9CA3-4ECD-9184-E92ED73CD9F6}"/>
              </a:ext>
            </a:extLst>
          </p:cNvPr>
          <p:cNvSpPr>
            <a:spLocks noGrp="1"/>
          </p:cNvSpPr>
          <p:nvPr/>
        </p:nvSpPr>
        <p:spPr>
          <a:xfrm>
            <a:off x="7962900" y="4438650"/>
            <a:ext cx="236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EXP's PPL advantage is real in this setup, but it does not solve adversarial robustness.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A3B8E6-25BB-4C22-A033-76BC64E0E73C}"/>
              </a:ext>
            </a:extLst>
          </p:cNvPr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5802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46D4EB61-98B4-4E36-AAD1-13DFF61420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088D02CF-0A3D-4492-8ECA-59FE7982E6F4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A23CC922-88A4-404F-A6EB-807F86F8A053}"/>
              </a:ext>
            </a:extLst>
          </p:cNvPr>
          <p:cNvSpPr>
            <a:spLocks noGrp="1"/>
          </p:cNvSpPr>
          <p:nvPr/>
        </p:nvSpPr>
        <p:spPr>
          <a:xfrm>
            <a:off x="723900" y="390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KGW ABLATION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412268-939B-4556-8977-D2AD5C250355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9715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KGW reaches perfect detection only when delta begins to distort quality.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1EBE1D-AEB1-4D81-951F-B3C55AD2A83D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752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Watermark strength delta controls the core detectability-quality trade-off.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4E06B-2174-4456-92A1-097EFCD80635}"/>
              </a:ext>
            </a:extLst>
          </p:cNvPr>
          <p:cNvSpPr>
            <a:spLocks noGrp="1"/>
          </p:cNvSpPr>
          <p:nvPr/>
        </p:nvSpPr>
        <p:spPr>
          <a:xfrm>
            <a:off x="647700" y="2133600"/>
            <a:ext cx="4953000" cy="3333750"/>
          </a:xfrm>
          <a:prstGeom prst="rect">
            <a:avLst/>
          </a:prstGeom>
          <a:solidFill>
            <a:srgbClr val="17242D"/>
          </a:solidFill>
          <a:ln w="9525">
            <a:solidFill>
              <a:srgbClr val="2A394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F5D708-4CA0-4547-AB36-981729E9EAEC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TPR rises monotonically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3DE6C3-F678-414D-B76B-5A42ED0D8D4A}"/>
              </a:ext>
            </a:extLst>
          </p:cNvPr>
          <p:cNvSpPr>
            <a:spLocks noGrp="1"/>
          </p:cNvSpPr>
          <p:nvPr/>
        </p:nvSpPr>
        <p:spPr>
          <a:xfrm>
            <a:off x="1009650" y="4629150"/>
            <a:ext cx="4000500" cy="9525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A1713C-9425-4A21-B9B7-EB73559AF3E5}"/>
              </a:ext>
            </a:extLst>
          </p:cNvPr>
          <p:cNvSpPr>
            <a:spLocks noGrp="1"/>
          </p:cNvSpPr>
          <p:nvPr/>
        </p:nvSpPr>
        <p:spPr>
          <a:xfrm>
            <a:off x="1009650" y="3009900"/>
            <a:ext cx="9525" cy="1619250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BF05DC-DBD8-4502-9005-F79494E06068}"/>
              </a:ext>
            </a:extLst>
          </p:cNvPr>
          <p:cNvSpPr>
            <a:spLocks noGrp="1"/>
          </p:cNvSpPr>
          <p:nvPr/>
        </p:nvSpPr>
        <p:spPr>
          <a:xfrm>
            <a:off x="1009650" y="27813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8A5AE"/>
                </a:solidFill>
                <a:latin typeface="Aptos"/>
                <a:ea typeface="Aptos"/>
                <a:cs typeface="Aptos"/>
              </a:rPr>
              <a:t>delta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416A8A-3D04-41DC-987C-4CD142433F22}"/>
              </a:ext>
            </a:extLst>
          </p:cNvPr>
          <p:cNvSpPr>
            <a:spLocks noGrp="1"/>
          </p:cNvSpPr>
          <p:nvPr/>
        </p:nvSpPr>
        <p:spPr>
          <a:xfrm>
            <a:off x="1181100" y="4610100"/>
            <a:ext cx="594360" cy="190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F36A5B-BD5C-406A-A360-88B1949584C4}"/>
              </a:ext>
            </a:extLst>
          </p:cNvPr>
          <p:cNvSpPr>
            <a:spLocks noGrp="1"/>
          </p:cNvSpPr>
          <p:nvPr/>
        </p:nvSpPr>
        <p:spPr>
          <a:xfrm>
            <a:off x="1123950" y="4381500"/>
            <a:ext cx="7086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D09095-89B4-4E23-8ADC-CAE7565A9A54}"/>
              </a:ext>
            </a:extLst>
          </p:cNvPr>
          <p:cNvSpPr>
            <a:spLocks noGrp="1"/>
          </p:cNvSpPr>
          <p:nvPr/>
        </p:nvSpPr>
        <p:spPr>
          <a:xfrm>
            <a:off x="1181100" y="4724400"/>
            <a:ext cx="5943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0.1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01B157-26C0-40DC-810A-B7470422982E}"/>
              </a:ext>
            </a:extLst>
          </p:cNvPr>
          <p:cNvSpPr>
            <a:spLocks noGrp="1"/>
          </p:cNvSpPr>
          <p:nvPr/>
        </p:nvSpPr>
        <p:spPr>
          <a:xfrm>
            <a:off x="1946910" y="4610100"/>
            <a:ext cx="594360" cy="190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F0CE17-DC84-48EA-9AB0-B1A1FF55B2D1}"/>
              </a:ext>
            </a:extLst>
          </p:cNvPr>
          <p:cNvSpPr>
            <a:spLocks noGrp="1"/>
          </p:cNvSpPr>
          <p:nvPr/>
        </p:nvSpPr>
        <p:spPr>
          <a:xfrm>
            <a:off x="1889760" y="4381500"/>
            <a:ext cx="7086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1089B1-4C59-46C1-9095-78F6DB5FCF6E}"/>
              </a:ext>
            </a:extLst>
          </p:cNvPr>
          <p:cNvSpPr>
            <a:spLocks noGrp="1"/>
          </p:cNvSpPr>
          <p:nvPr/>
        </p:nvSpPr>
        <p:spPr>
          <a:xfrm>
            <a:off x="1946910" y="4724400"/>
            <a:ext cx="5943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0.3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9FC99F-6894-48FE-B4BF-8B555DBA3A29}"/>
              </a:ext>
            </a:extLst>
          </p:cNvPr>
          <p:cNvSpPr>
            <a:spLocks noGrp="1"/>
          </p:cNvSpPr>
          <p:nvPr/>
        </p:nvSpPr>
        <p:spPr>
          <a:xfrm>
            <a:off x="2712720" y="4354830"/>
            <a:ext cx="594360" cy="27432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810A5C-1217-4C38-8AE2-E9C9220F8F34}"/>
              </a:ext>
            </a:extLst>
          </p:cNvPr>
          <p:cNvSpPr>
            <a:spLocks noGrp="1"/>
          </p:cNvSpPr>
          <p:nvPr/>
        </p:nvSpPr>
        <p:spPr>
          <a:xfrm>
            <a:off x="2655570" y="4126230"/>
            <a:ext cx="7086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50DBDF-0E2B-4D5F-824D-9F64EE40109B}"/>
              </a:ext>
            </a:extLst>
          </p:cNvPr>
          <p:cNvSpPr>
            <a:spLocks noGrp="1"/>
          </p:cNvSpPr>
          <p:nvPr/>
        </p:nvSpPr>
        <p:spPr>
          <a:xfrm>
            <a:off x="2712720" y="4724400"/>
            <a:ext cx="5943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0.5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76AC353-8AFF-4796-B08C-6D65256CE113}"/>
              </a:ext>
            </a:extLst>
          </p:cNvPr>
          <p:cNvSpPr>
            <a:spLocks noGrp="1"/>
          </p:cNvSpPr>
          <p:nvPr/>
        </p:nvSpPr>
        <p:spPr>
          <a:xfrm>
            <a:off x="3478530" y="3806190"/>
            <a:ext cx="594360" cy="82296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2420B8-2DCF-4889-BFCA-83FB5C4D7685}"/>
              </a:ext>
            </a:extLst>
          </p:cNvPr>
          <p:cNvSpPr>
            <a:spLocks noGrp="1"/>
          </p:cNvSpPr>
          <p:nvPr/>
        </p:nvSpPr>
        <p:spPr>
          <a:xfrm>
            <a:off x="3421380" y="3577590"/>
            <a:ext cx="7086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D6E608-01EA-4D7C-AAB7-ACC9051E97A8}"/>
              </a:ext>
            </a:extLst>
          </p:cNvPr>
          <p:cNvSpPr>
            <a:spLocks noGrp="1"/>
          </p:cNvSpPr>
          <p:nvPr/>
        </p:nvSpPr>
        <p:spPr>
          <a:xfrm>
            <a:off x="3478530" y="4724400"/>
            <a:ext cx="5943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00CA85E-F7E9-4002-BA38-4D400CDA41D8}"/>
              </a:ext>
            </a:extLst>
          </p:cNvPr>
          <p:cNvSpPr>
            <a:spLocks noGrp="1"/>
          </p:cNvSpPr>
          <p:nvPr/>
        </p:nvSpPr>
        <p:spPr>
          <a:xfrm>
            <a:off x="4244340" y="3257550"/>
            <a:ext cx="594360" cy="137160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96262F6-B675-4754-BA1F-BD6B524F477B}"/>
              </a:ext>
            </a:extLst>
          </p:cNvPr>
          <p:cNvSpPr>
            <a:spLocks noGrp="1"/>
          </p:cNvSpPr>
          <p:nvPr/>
        </p:nvSpPr>
        <p:spPr>
          <a:xfrm>
            <a:off x="4187190" y="3028950"/>
            <a:ext cx="7086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90E10D-08CC-4314-ACF9-D4A08FCD9D0C}"/>
              </a:ext>
            </a:extLst>
          </p:cNvPr>
          <p:cNvSpPr>
            <a:spLocks noGrp="1"/>
          </p:cNvSpPr>
          <p:nvPr/>
        </p:nvSpPr>
        <p:spPr>
          <a:xfrm>
            <a:off x="4244340" y="4724400"/>
            <a:ext cx="5943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2.0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C98F7F-B6A7-46DC-8148-E6C60E8AC48F}"/>
              </a:ext>
            </a:extLst>
          </p:cNvPr>
          <p:cNvSpPr>
            <a:spLocks noGrp="1"/>
          </p:cNvSpPr>
          <p:nvPr/>
        </p:nvSpPr>
        <p:spPr>
          <a:xfrm>
            <a:off x="6057900" y="2133600"/>
            <a:ext cx="4953000" cy="3333750"/>
          </a:xfrm>
          <a:prstGeom prst="rect">
            <a:avLst/>
          </a:prstGeom>
          <a:solidFill>
            <a:srgbClr val="F4EFE7"/>
          </a:solidFill>
          <a:ln w="9525">
            <a:solidFill>
              <a:srgbClr val="60584D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FC21DA-B196-4125-A8E1-74291314702A}"/>
              </a:ext>
            </a:extLst>
          </p:cNvPr>
          <p:cNvSpPr>
            <a:spLocks noGrp="1"/>
          </p:cNvSpPr>
          <p:nvPr/>
        </p:nvSpPr>
        <p:spPr>
          <a:xfrm>
            <a:off x="6343650" y="238125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PPL penalty arrives at delta = 2.0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EBCB2F2-B839-48C8-9685-A9BC5CEC8E2A}"/>
              </a:ext>
            </a:extLst>
          </p:cNvPr>
          <p:cNvSpPr>
            <a:spLocks noGrp="1"/>
          </p:cNvSpPr>
          <p:nvPr/>
        </p:nvSpPr>
        <p:spPr>
          <a:xfrm>
            <a:off x="6419850" y="4629150"/>
            <a:ext cx="4000500" cy="9525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A01A784-F8ED-401C-8205-2A14D3F495EF}"/>
              </a:ext>
            </a:extLst>
          </p:cNvPr>
          <p:cNvSpPr>
            <a:spLocks noGrp="1"/>
          </p:cNvSpPr>
          <p:nvPr/>
        </p:nvSpPr>
        <p:spPr>
          <a:xfrm>
            <a:off x="6419850" y="3009900"/>
            <a:ext cx="9525" cy="1619250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05CE53-D84F-471D-B47F-3678579F4D90}"/>
              </a:ext>
            </a:extLst>
          </p:cNvPr>
          <p:cNvSpPr>
            <a:spLocks noGrp="1"/>
          </p:cNvSpPr>
          <p:nvPr/>
        </p:nvSpPr>
        <p:spPr>
          <a:xfrm>
            <a:off x="6419850" y="27813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8A5AE"/>
                </a:solidFill>
                <a:latin typeface="Aptos"/>
                <a:ea typeface="Aptos"/>
                <a:cs typeface="Aptos"/>
              </a:rPr>
              <a:t>watermarked PPL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5B1328-C4A4-48E1-96AE-683D67AE28A2}"/>
              </a:ext>
            </a:extLst>
          </p:cNvPr>
          <p:cNvSpPr>
            <a:spLocks noGrp="1"/>
          </p:cNvSpPr>
          <p:nvPr/>
        </p:nvSpPr>
        <p:spPr>
          <a:xfrm>
            <a:off x="6591300" y="3774085"/>
            <a:ext cx="594360" cy="855065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17F63C0-8654-4AA3-B1BE-DD6B489F39B0}"/>
              </a:ext>
            </a:extLst>
          </p:cNvPr>
          <p:cNvSpPr>
            <a:spLocks noGrp="1"/>
          </p:cNvSpPr>
          <p:nvPr/>
        </p:nvSpPr>
        <p:spPr>
          <a:xfrm>
            <a:off x="6534150" y="3545485"/>
            <a:ext cx="7086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10.76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C64537B-00B7-4F7E-B69F-69DC4CB3B29E}"/>
              </a:ext>
            </a:extLst>
          </p:cNvPr>
          <p:cNvSpPr>
            <a:spLocks noGrp="1"/>
          </p:cNvSpPr>
          <p:nvPr/>
        </p:nvSpPr>
        <p:spPr>
          <a:xfrm>
            <a:off x="6591300" y="4724400"/>
            <a:ext cx="5943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0.1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4721BA9-5DF4-4260-902D-DEF575EFB950}"/>
              </a:ext>
            </a:extLst>
          </p:cNvPr>
          <p:cNvSpPr>
            <a:spLocks noGrp="1"/>
          </p:cNvSpPr>
          <p:nvPr/>
        </p:nvSpPr>
        <p:spPr>
          <a:xfrm>
            <a:off x="7357110" y="3786005"/>
            <a:ext cx="594360" cy="843145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009D826-2158-493F-BD92-5C000B5E6991}"/>
              </a:ext>
            </a:extLst>
          </p:cNvPr>
          <p:cNvSpPr>
            <a:spLocks noGrp="1"/>
          </p:cNvSpPr>
          <p:nvPr/>
        </p:nvSpPr>
        <p:spPr>
          <a:xfrm>
            <a:off x="7299960" y="3557405"/>
            <a:ext cx="7086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10.61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01E4455-FF5C-4424-ADD1-4F1DD0596B3D}"/>
              </a:ext>
            </a:extLst>
          </p:cNvPr>
          <p:cNvSpPr>
            <a:spLocks noGrp="1"/>
          </p:cNvSpPr>
          <p:nvPr/>
        </p:nvSpPr>
        <p:spPr>
          <a:xfrm>
            <a:off x="7357110" y="4724400"/>
            <a:ext cx="5943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0.3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D012CF4-B721-45DA-875F-E69DA813E41C}"/>
              </a:ext>
            </a:extLst>
          </p:cNvPr>
          <p:cNvSpPr>
            <a:spLocks noGrp="1"/>
          </p:cNvSpPr>
          <p:nvPr/>
        </p:nvSpPr>
        <p:spPr>
          <a:xfrm>
            <a:off x="8122920" y="3741504"/>
            <a:ext cx="594360" cy="887646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284DEA1-27C3-4B46-B4DD-D92A8518C951}"/>
              </a:ext>
            </a:extLst>
          </p:cNvPr>
          <p:cNvSpPr>
            <a:spLocks noGrp="1"/>
          </p:cNvSpPr>
          <p:nvPr/>
        </p:nvSpPr>
        <p:spPr>
          <a:xfrm>
            <a:off x="8065770" y="3512904"/>
            <a:ext cx="7086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11.17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5680E9D-84D6-4B50-AEB1-393D7F48E4DB}"/>
              </a:ext>
            </a:extLst>
          </p:cNvPr>
          <p:cNvSpPr>
            <a:spLocks noGrp="1"/>
          </p:cNvSpPr>
          <p:nvPr/>
        </p:nvSpPr>
        <p:spPr>
          <a:xfrm>
            <a:off x="8122920" y="4724400"/>
            <a:ext cx="5943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0.5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2E0210F-F7ED-45BA-8A70-028126193CE2}"/>
              </a:ext>
            </a:extLst>
          </p:cNvPr>
          <p:cNvSpPr>
            <a:spLocks noGrp="1"/>
          </p:cNvSpPr>
          <p:nvPr/>
        </p:nvSpPr>
        <p:spPr>
          <a:xfrm>
            <a:off x="8888730" y="3752629"/>
            <a:ext cx="594360" cy="876521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5A56763-DE57-4B5B-B7B6-48B56D72AE04}"/>
              </a:ext>
            </a:extLst>
          </p:cNvPr>
          <p:cNvSpPr>
            <a:spLocks noGrp="1"/>
          </p:cNvSpPr>
          <p:nvPr/>
        </p:nvSpPr>
        <p:spPr>
          <a:xfrm>
            <a:off x="8831580" y="3524029"/>
            <a:ext cx="7086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11.03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22AE974-D137-4522-B2C4-AAF802EAAB2E}"/>
              </a:ext>
            </a:extLst>
          </p:cNvPr>
          <p:cNvSpPr>
            <a:spLocks noGrp="1"/>
          </p:cNvSpPr>
          <p:nvPr/>
        </p:nvSpPr>
        <p:spPr>
          <a:xfrm>
            <a:off x="8888730" y="4724400"/>
            <a:ext cx="5943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1DB2A82-6560-4E54-8932-FDE4147A98DB}"/>
              </a:ext>
            </a:extLst>
          </p:cNvPr>
          <p:cNvSpPr>
            <a:spLocks noGrp="1"/>
          </p:cNvSpPr>
          <p:nvPr/>
        </p:nvSpPr>
        <p:spPr>
          <a:xfrm>
            <a:off x="9654540" y="3525354"/>
            <a:ext cx="594360" cy="1103796"/>
          </a:xfrm>
          <a:prstGeom prst="rect">
            <a:avLst/>
          </a:prstGeom>
          <a:solidFill>
            <a:srgbClr val="D85C55"/>
          </a:solidFill>
          <a:ln w="0">
            <a:solidFill>
              <a:srgbClr val="D85C55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8003C1B-DE20-4BDA-B099-1B4612BBA583}"/>
              </a:ext>
            </a:extLst>
          </p:cNvPr>
          <p:cNvSpPr>
            <a:spLocks noGrp="1"/>
          </p:cNvSpPr>
          <p:nvPr/>
        </p:nvSpPr>
        <p:spPr>
          <a:xfrm>
            <a:off x="9597390" y="3296754"/>
            <a:ext cx="70866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13.89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3244C67-4130-4B33-B2A7-5B4199DFD33F}"/>
              </a:ext>
            </a:extLst>
          </p:cNvPr>
          <p:cNvSpPr>
            <a:spLocks noGrp="1"/>
          </p:cNvSpPr>
          <p:nvPr/>
        </p:nvSpPr>
        <p:spPr>
          <a:xfrm>
            <a:off x="9654540" y="4724400"/>
            <a:ext cx="59436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2.0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49BE895-920B-47A6-8BE9-0228DEB3FAE8}"/>
              </a:ext>
            </a:extLst>
          </p:cNvPr>
          <p:cNvSpPr>
            <a:spLocks noGrp="1"/>
          </p:cNvSpPr>
          <p:nvPr/>
        </p:nvSpPr>
        <p:spPr>
          <a:xfrm>
            <a:off x="3333750" y="5772150"/>
            <a:ext cx="5524500" cy="552450"/>
          </a:xfrm>
          <a:prstGeom prst="rect">
            <a:avLst/>
          </a:prstGeom>
          <a:solidFill>
            <a:srgbClr val="2230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5032CFF-02F4-4AB7-9D96-8E3718996458}"/>
              </a:ext>
            </a:extLst>
          </p:cNvPr>
          <p:cNvSpPr>
            <a:spLocks noGrp="1"/>
          </p:cNvSpPr>
          <p:nvPr/>
        </p:nvSpPr>
        <p:spPr>
          <a:xfrm>
            <a:off x="3333750" y="5772150"/>
            <a:ext cx="47625" cy="55245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6FA0CCC-3D35-4AB2-8C2F-466322064B20}"/>
              </a:ext>
            </a:extLst>
          </p:cNvPr>
          <p:cNvSpPr>
            <a:spLocks noGrp="1"/>
          </p:cNvSpPr>
          <p:nvPr/>
        </p:nvSpPr>
        <p:spPr>
          <a:xfrm>
            <a:off x="3505200" y="5905500"/>
            <a:ext cx="5219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Practical read: delta = 1.0 is a moderate operating point; delta = 2.0 buys detection at a visible quality cost.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535F8A3-1AF1-4FFA-8CAF-72F0E606AAD2}"/>
              </a:ext>
            </a:extLst>
          </p:cNvPr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277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BA582D60-EB91-48B7-A62C-7A5DBC59CB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0">
            <a:solidFill>
              <a:srgbClr val="F4EFE7"/>
            </a:solidFill>
            <a:prstDash val="solid"/>
          </a:ln>
        </p:spPr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6EEDF0B4-C71E-4986-B90F-A33758CBCD59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43C4E2D4-7572-4BB5-A02F-6395DD1C53F6}"/>
              </a:ext>
            </a:extLst>
          </p:cNvPr>
          <p:cNvSpPr>
            <a:spLocks noGrp="1"/>
          </p:cNvSpPr>
          <p:nvPr/>
        </p:nvSpPr>
        <p:spPr>
          <a:xfrm>
            <a:off x="723900" y="390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PARAMETER STABILITY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0F3872-43F2-4A34-A4A3-995A830DBCB2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8572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KGW has a parameter failure mode; EXP barely moves.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68033-5EB1-4BF4-A05E-716308E63B70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4905375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76C416-C16C-4A67-9C5F-378600677529}"/>
              </a:ext>
            </a:extLst>
          </p:cNvPr>
          <p:cNvSpPr>
            <a:spLocks noGrp="1"/>
          </p:cNvSpPr>
          <p:nvPr/>
        </p:nvSpPr>
        <p:spPr>
          <a:xfrm>
            <a:off x="933450" y="23431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KGW green-list ratio gamma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6C4FE0-29D9-493C-8CE4-8BAED6E2219B}"/>
              </a:ext>
            </a:extLst>
          </p:cNvPr>
          <p:cNvSpPr>
            <a:spLocks noGrp="1"/>
          </p:cNvSpPr>
          <p:nvPr/>
        </p:nvSpPr>
        <p:spPr>
          <a:xfrm>
            <a:off x="1123950" y="4591050"/>
            <a:ext cx="3619500" cy="9525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F9A483-D347-4D2D-8F74-50F0B639FC1A}"/>
              </a:ext>
            </a:extLst>
          </p:cNvPr>
          <p:cNvSpPr>
            <a:spLocks noGrp="1"/>
          </p:cNvSpPr>
          <p:nvPr/>
        </p:nvSpPr>
        <p:spPr>
          <a:xfrm>
            <a:off x="1123950" y="3028950"/>
            <a:ext cx="9525" cy="1562100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78E3DE-B211-4CBA-AA22-07BA8271E5BF}"/>
              </a:ext>
            </a:extLst>
          </p:cNvPr>
          <p:cNvSpPr>
            <a:spLocks noGrp="1"/>
          </p:cNvSpPr>
          <p:nvPr/>
        </p:nvSpPr>
        <p:spPr>
          <a:xfrm>
            <a:off x="1123950" y="2800350"/>
            <a:ext cx="3619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8A5AE"/>
                </a:solidFill>
                <a:latin typeface="Aptos"/>
                <a:ea typeface="Aptos"/>
                <a:cs typeface="Aptos"/>
              </a:rPr>
              <a:t>TPR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AAD953-9C31-4A40-AA47-29BAEE7DB1BE}"/>
              </a:ext>
            </a:extLst>
          </p:cNvPr>
          <p:cNvSpPr>
            <a:spLocks noGrp="1"/>
          </p:cNvSpPr>
          <p:nvPr/>
        </p:nvSpPr>
        <p:spPr>
          <a:xfrm>
            <a:off x="1295400" y="3736658"/>
            <a:ext cx="977900" cy="854393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197A5C-0230-4A53-AAC0-DC925768D5BD}"/>
              </a:ext>
            </a:extLst>
          </p:cNvPr>
          <p:cNvSpPr>
            <a:spLocks noGrp="1"/>
          </p:cNvSpPr>
          <p:nvPr/>
        </p:nvSpPr>
        <p:spPr>
          <a:xfrm>
            <a:off x="1238250" y="3508058"/>
            <a:ext cx="109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0.65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F219DB-CA44-4FCD-97B6-F8725EB3A29B}"/>
              </a:ext>
            </a:extLst>
          </p:cNvPr>
          <p:cNvSpPr>
            <a:spLocks noGrp="1"/>
          </p:cNvSpPr>
          <p:nvPr/>
        </p:nvSpPr>
        <p:spPr>
          <a:xfrm>
            <a:off x="1295400" y="4686300"/>
            <a:ext cx="97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0.25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FA5649-E9F3-4289-8BCB-EAC20E728E98}"/>
              </a:ext>
            </a:extLst>
          </p:cNvPr>
          <p:cNvSpPr>
            <a:spLocks noGrp="1"/>
          </p:cNvSpPr>
          <p:nvPr/>
        </p:nvSpPr>
        <p:spPr>
          <a:xfrm>
            <a:off x="2444750" y="3670935"/>
            <a:ext cx="977900" cy="920115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466268-D553-4DEE-B3F3-8EFFD3B6BF3D}"/>
              </a:ext>
            </a:extLst>
          </p:cNvPr>
          <p:cNvSpPr>
            <a:spLocks noGrp="1"/>
          </p:cNvSpPr>
          <p:nvPr/>
        </p:nvSpPr>
        <p:spPr>
          <a:xfrm>
            <a:off x="2387600" y="3442335"/>
            <a:ext cx="109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0.7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260B83-2EA7-48C5-BD31-E9465CE6A738}"/>
              </a:ext>
            </a:extLst>
          </p:cNvPr>
          <p:cNvSpPr>
            <a:spLocks noGrp="1"/>
          </p:cNvSpPr>
          <p:nvPr/>
        </p:nvSpPr>
        <p:spPr>
          <a:xfrm>
            <a:off x="2444750" y="4686300"/>
            <a:ext cx="97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865290-3F27-4A79-AB00-A177CE43B4B1}"/>
              </a:ext>
            </a:extLst>
          </p:cNvPr>
          <p:cNvSpPr>
            <a:spLocks noGrp="1"/>
          </p:cNvSpPr>
          <p:nvPr/>
        </p:nvSpPr>
        <p:spPr>
          <a:xfrm>
            <a:off x="3594100" y="4572000"/>
            <a:ext cx="977900" cy="19050"/>
          </a:xfrm>
          <a:prstGeom prst="rect">
            <a:avLst/>
          </a:prstGeom>
          <a:solidFill>
            <a:srgbClr val="D85C55"/>
          </a:solidFill>
          <a:ln w="0">
            <a:solidFill>
              <a:srgbClr val="D85C5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8E7F56-6BE7-4F82-A5E5-E5937A87112F}"/>
              </a:ext>
            </a:extLst>
          </p:cNvPr>
          <p:cNvSpPr>
            <a:spLocks noGrp="1"/>
          </p:cNvSpPr>
          <p:nvPr/>
        </p:nvSpPr>
        <p:spPr>
          <a:xfrm>
            <a:off x="3536950" y="4343400"/>
            <a:ext cx="109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18FD26-E844-4184-8B87-279C604999CC}"/>
              </a:ext>
            </a:extLst>
          </p:cNvPr>
          <p:cNvSpPr>
            <a:spLocks noGrp="1"/>
          </p:cNvSpPr>
          <p:nvPr/>
        </p:nvSpPr>
        <p:spPr>
          <a:xfrm>
            <a:off x="3594100" y="4686300"/>
            <a:ext cx="97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F9BDC4-7CB2-435C-B79E-DFE219FD1548}"/>
              </a:ext>
            </a:extLst>
          </p:cNvPr>
          <p:cNvSpPr>
            <a:spLocks noGrp="1"/>
          </p:cNvSpPr>
          <p:nvPr/>
        </p:nvSpPr>
        <p:spPr>
          <a:xfrm>
            <a:off x="990600" y="5105400"/>
            <a:ext cx="3905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964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B"/>
                </a:solidFill>
                <a:latin typeface="Aptos"/>
                <a:ea typeface="Aptos"/>
                <a:cs typeface="Aptos"/>
              </a:rPr>
              <a:t>At gamma = 0.75, the green list is too large; the expected null rate dilutes the signal.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E1ED5E-8BEF-449E-B14E-B946F626C240}"/>
              </a:ext>
            </a:extLst>
          </p:cNvPr>
          <p:cNvSpPr>
            <a:spLocks noGrp="1"/>
          </p:cNvSpPr>
          <p:nvPr/>
        </p:nvSpPr>
        <p:spPr>
          <a:xfrm>
            <a:off x="6076950" y="2076450"/>
            <a:ext cx="4905375" cy="3676650"/>
          </a:xfrm>
          <a:prstGeom prst="rect">
            <a:avLst/>
          </a:prstGeom>
          <a:solidFill>
            <a:srgbClr val="101820"/>
          </a:solidFill>
          <a:ln w="9525">
            <a:solidFill>
              <a:srgbClr val="2A3942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DCEC44-A201-445E-A8D9-0D03EBAB4E49}"/>
              </a:ext>
            </a:extLst>
          </p:cNvPr>
          <p:cNvSpPr>
            <a:spLocks noGrp="1"/>
          </p:cNvSpPr>
          <p:nvPr/>
        </p:nvSpPr>
        <p:spPr>
          <a:xfrm>
            <a:off x="6362700" y="23431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 sensitivity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9F7A5ED-A595-47BF-A3C1-0A82A5079767}"/>
              </a:ext>
            </a:extLst>
          </p:cNvPr>
          <p:cNvSpPr>
            <a:spLocks noGrp="1"/>
          </p:cNvSpPr>
          <p:nvPr/>
        </p:nvSpPr>
        <p:spPr>
          <a:xfrm>
            <a:off x="6572250" y="27813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Detection threshold tau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4ED432-CDAC-4903-B9C3-F686D08452F0}"/>
              </a:ext>
            </a:extLst>
          </p:cNvPr>
          <p:cNvSpPr>
            <a:spLocks noGrp="1"/>
          </p:cNvSpPr>
          <p:nvPr/>
        </p:nvSpPr>
        <p:spPr>
          <a:xfrm>
            <a:off x="6572250" y="4343400"/>
            <a:ext cx="1762125" cy="9525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F4F81-E385-4621-9C50-A86A5CC8F122}"/>
              </a:ext>
            </a:extLst>
          </p:cNvPr>
          <p:cNvSpPr>
            <a:spLocks noGrp="1"/>
          </p:cNvSpPr>
          <p:nvPr/>
        </p:nvSpPr>
        <p:spPr>
          <a:xfrm>
            <a:off x="6572250" y="3314700"/>
            <a:ext cx="9525" cy="1028700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531CC5-C1E2-4A09-BE63-F281FA4F7E40}"/>
              </a:ext>
            </a:extLst>
          </p:cNvPr>
          <p:cNvSpPr>
            <a:spLocks noGrp="1"/>
          </p:cNvSpPr>
          <p:nvPr/>
        </p:nvSpPr>
        <p:spPr>
          <a:xfrm>
            <a:off x="6743700" y="3640455"/>
            <a:ext cx="358775" cy="702945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607FEF-C2C5-4071-8E6C-9558E75B5FAF}"/>
              </a:ext>
            </a:extLst>
          </p:cNvPr>
          <p:cNvSpPr>
            <a:spLocks noGrp="1"/>
          </p:cNvSpPr>
          <p:nvPr/>
        </p:nvSpPr>
        <p:spPr>
          <a:xfrm>
            <a:off x="6686550" y="3411855"/>
            <a:ext cx="4730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0.9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C671AB7-C084-4358-B45F-C8A2BCA4FA5C}"/>
              </a:ext>
            </a:extLst>
          </p:cNvPr>
          <p:cNvSpPr>
            <a:spLocks noGrp="1"/>
          </p:cNvSpPr>
          <p:nvPr/>
        </p:nvSpPr>
        <p:spPr>
          <a:xfrm>
            <a:off x="6743700" y="4438650"/>
            <a:ext cx="358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1e-6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E93053-8D8E-46C0-8DFD-61EC23A8788B}"/>
              </a:ext>
            </a:extLst>
          </p:cNvPr>
          <p:cNvSpPr>
            <a:spLocks noGrp="1"/>
          </p:cNvSpPr>
          <p:nvPr/>
        </p:nvSpPr>
        <p:spPr>
          <a:xfrm>
            <a:off x="7273925" y="3601403"/>
            <a:ext cx="358775" cy="741997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ECDC32B-7EE1-4759-AE52-5ABC97C7B148}"/>
              </a:ext>
            </a:extLst>
          </p:cNvPr>
          <p:cNvSpPr>
            <a:spLocks noGrp="1"/>
          </p:cNvSpPr>
          <p:nvPr/>
        </p:nvSpPr>
        <p:spPr>
          <a:xfrm>
            <a:off x="7216775" y="3372803"/>
            <a:ext cx="4730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59F6A3-186F-4F4B-B83D-A4566BA9ECA4}"/>
              </a:ext>
            </a:extLst>
          </p:cNvPr>
          <p:cNvSpPr>
            <a:spLocks noGrp="1"/>
          </p:cNvSpPr>
          <p:nvPr/>
        </p:nvSpPr>
        <p:spPr>
          <a:xfrm>
            <a:off x="7273925" y="4438650"/>
            <a:ext cx="358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1e-4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09302FA-3FA1-4C52-AD88-234217881575}"/>
              </a:ext>
            </a:extLst>
          </p:cNvPr>
          <p:cNvSpPr>
            <a:spLocks noGrp="1"/>
          </p:cNvSpPr>
          <p:nvPr/>
        </p:nvSpPr>
        <p:spPr>
          <a:xfrm>
            <a:off x="7804150" y="3601403"/>
            <a:ext cx="358775" cy="741997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74B671C-B6A4-42D0-92F0-1D5DB0F32772}"/>
              </a:ext>
            </a:extLst>
          </p:cNvPr>
          <p:cNvSpPr>
            <a:spLocks noGrp="1"/>
          </p:cNvSpPr>
          <p:nvPr/>
        </p:nvSpPr>
        <p:spPr>
          <a:xfrm>
            <a:off x="7747000" y="3372803"/>
            <a:ext cx="4730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E12D4B4-BF5A-4DD9-B97D-235E8A1B7156}"/>
              </a:ext>
            </a:extLst>
          </p:cNvPr>
          <p:cNvSpPr>
            <a:spLocks noGrp="1"/>
          </p:cNvSpPr>
          <p:nvPr/>
        </p:nvSpPr>
        <p:spPr>
          <a:xfrm>
            <a:off x="7804150" y="4438650"/>
            <a:ext cx="358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1e-2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56D4C27-E4B6-4D13-90A4-A2CF1D4A89BF}"/>
              </a:ext>
            </a:extLst>
          </p:cNvPr>
          <p:cNvSpPr>
            <a:spLocks noGrp="1"/>
          </p:cNvSpPr>
          <p:nvPr/>
        </p:nvSpPr>
        <p:spPr>
          <a:xfrm>
            <a:off x="8858250" y="27813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Prefix length k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7814860-DA21-4B37-BF32-0E1BA5E942CB}"/>
              </a:ext>
            </a:extLst>
          </p:cNvPr>
          <p:cNvSpPr>
            <a:spLocks noGrp="1"/>
          </p:cNvSpPr>
          <p:nvPr/>
        </p:nvSpPr>
        <p:spPr>
          <a:xfrm>
            <a:off x="8858250" y="4343400"/>
            <a:ext cx="1762125" cy="9525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D0FFE24-0A3F-4A94-9D02-AD8DDCF9A43C}"/>
              </a:ext>
            </a:extLst>
          </p:cNvPr>
          <p:cNvSpPr>
            <a:spLocks noGrp="1"/>
          </p:cNvSpPr>
          <p:nvPr/>
        </p:nvSpPr>
        <p:spPr>
          <a:xfrm>
            <a:off x="8858250" y="3314700"/>
            <a:ext cx="9525" cy="1028700"/>
          </a:xfrm>
          <a:prstGeom prst="rect">
            <a:avLst/>
          </a:prstGeom>
          <a:solidFill>
            <a:srgbClr val="98A5AE"/>
          </a:solidFill>
          <a:ln w="0">
            <a:solidFill>
              <a:srgbClr val="98A5AE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6891B88-5F5F-4088-9FB4-B05A85FF4E4E}"/>
              </a:ext>
            </a:extLst>
          </p:cNvPr>
          <p:cNvSpPr>
            <a:spLocks noGrp="1"/>
          </p:cNvSpPr>
          <p:nvPr/>
        </p:nvSpPr>
        <p:spPr>
          <a:xfrm>
            <a:off x="9029700" y="3562350"/>
            <a:ext cx="358775" cy="7810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C598DFC-BFE1-47DF-8382-2980329FB5F8}"/>
              </a:ext>
            </a:extLst>
          </p:cNvPr>
          <p:cNvSpPr>
            <a:spLocks noGrp="1"/>
          </p:cNvSpPr>
          <p:nvPr/>
        </p:nvSpPr>
        <p:spPr>
          <a:xfrm>
            <a:off x="8972550" y="3333750"/>
            <a:ext cx="4730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8140127-23A3-4054-BB13-D2DF02EF0641}"/>
              </a:ext>
            </a:extLst>
          </p:cNvPr>
          <p:cNvSpPr>
            <a:spLocks noGrp="1"/>
          </p:cNvSpPr>
          <p:nvPr/>
        </p:nvSpPr>
        <p:spPr>
          <a:xfrm>
            <a:off x="9029700" y="4438650"/>
            <a:ext cx="358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4F044D0-F216-442D-B0A1-B1D735B34A55}"/>
              </a:ext>
            </a:extLst>
          </p:cNvPr>
          <p:cNvSpPr>
            <a:spLocks noGrp="1"/>
          </p:cNvSpPr>
          <p:nvPr/>
        </p:nvSpPr>
        <p:spPr>
          <a:xfrm>
            <a:off x="9559925" y="3601403"/>
            <a:ext cx="358775" cy="741997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E84BF69-D220-42BA-B23C-2F2282494DDC}"/>
              </a:ext>
            </a:extLst>
          </p:cNvPr>
          <p:cNvSpPr>
            <a:spLocks noGrp="1"/>
          </p:cNvSpPr>
          <p:nvPr/>
        </p:nvSpPr>
        <p:spPr>
          <a:xfrm>
            <a:off x="9502775" y="3372803"/>
            <a:ext cx="4730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60ED272-2BEF-4C34-9715-86D03A0E5200}"/>
              </a:ext>
            </a:extLst>
          </p:cNvPr>
          <p:cNvSpPr>
            <a:spLocks noGrp="1"/>
          </p:cNvSpPr>
          <p:nvPr/>
        </p:nvSpPr>
        <p:spPr>
          <a:xfrm>
            <a:off x="9559925" y="4438650"/>
            <a:ext cx="358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2BBADBC-70E6-4495-8591-B0DBFA12253E}"/>
              </a:ext>
            </a:extLst>
          </p:cNvPr>
          <p:cNvSpPr>
            <a:spLocks noGrp="1"/>
          </p:cNvSpPr>
          <p:nvPr/>
        </p:nvSpPr>
        <p:spPr>
          <a:xfrm>
            <a:off x="10090150" y="3562350"/>
            <a:ext cx="358775" cy="7810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BE98C02-1E44-454A-8915-A10BE8B440EA}"/>
              </a:ext>
            </a:extLst>
          </p:cNvPr>
          <p:cNvSpPr>
            <a:spLocks noGrp="1"/>
          </p:cNvSpPr>
          <p:nvPr/>
        </p:nvSpPr>
        <p:spPr>
          <a:xfrm>
            <a:off x="10033000" y="3333750"/>
            <a:ext cx="4730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9B6BED-C852-41B4-8B0D-D186455AEA55}"/>
              </a:ext>
            </a:extLst>
          </p:cNvPr>
          <p:cNvSpPr>
            <a:spLocks noGrp="1"/>
          </p:cNvSpPr>
          <p:nvPr/>
        </p:nvSpPr>
        <p:spPr>
          <a:xfrm>
            <a:off x="10090150" y="4438650"/>
            <a:ext cx="35877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5D74322-DCC3-42E4-A205-9F1094DE02E6}"/>
              </a:ext>
            </a:extLst>
          </p:cNvPr>
          <p:cNvSpPr>
            <a:spLocks noGrp="1"/>
          </p:cNvSpPr>
          <p:nvPr/>
        </p:nvSpPr>
        <p:spPr>
          <a:xfrm>
            <a:off x="6534150" y="495300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Across tested settings, EXP changes by at most 0.10 TPR and keeps FPR at 0.000.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5D6CC60-495C-4774-9D37-0FF7241B2F00}"/>
              </a:ext>
            </a:extLst>
          </p:cNvPr>
          <p:cNvSpPr>
            <a:spLocks noGrp="1"/>
          </p:cNvSpPr>
          <p:nvPr/>
        </p:nvSpPr>
        <p:spPr>
          <a:xfrm>
            <a:off x="2095500" y="5962650"/>
            <a:ext cx="8001000" cy="438150"/>
          </a:xfrm>
          <a:prstGeom prst="rect">
            <a:avLst/>
          </a:prstGeom>
          <a:solidFill>
            <a:srgbClr val="2230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72E2FD3-86DB-4EF6-995E-BB926E447D2F}"/>
              </a:ext>
            </a:extLst>
          </p:cNvPr>
          <p:cNvSpPr>
            <a:spLocks noGrp="1"/>
          </p:cNvSpPr>
          <p:nvPr/>
        </p:nvSpPr>
        <p:spPr>
          <a:xfrm>
            <a:off x="2095500" y="5962650"/>
            <a:ext cx="47625" cy="43815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07C2738-2DBC-41EA-9DB9-E61175D2740B}"/>
              </a:ext>
            </a:extLst>
          </p:cNvPr>
          <p:cNvSpPr>
            <a:spLocks noGrp="1"/>
          </p:cNvSpPr>
          <p:nvPr/>
        </p:nvSpPr>
        <p:spPr>
          <a:xfrm>
            <a:off x="2266950" y="6096000"/>
            <a:ext cx="7696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Deployment implication: EXP is simpler to configure; KGW needs careful calibration of both strength and green-list ratio.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DA60A61-52F6-43C5-8AE5-04BA46602C33}"/>
              </a:ext>
            </a:extLst>
          </p:cNvPr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48269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5733AB1A-B0C6-4477-857C-8C23353584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515C2702-E1A5-4EEE-B6A1-7D8627C57BDF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D85C55"/>
          </a:solidFill>
          <a:ln w="0">
            <a:solidFill>
              <a:srgbClr val="D85C55"/>
            </a:solidFill>
            <a:prstDash val="solid"/>
          </a:ln>
        </p:spPr>
      </p:sp>
      <p:sp>
        <p:nvSpPr>
          <p:cNvPr id="3" name="kicker-9-label">
            <a:extLst>
              <a:ext uri="{FF2B5EF4-FFF2-40B4-BE49-F238E27FC236}">
                <a16:creationId xmlns:a16="http://schemas.microsoft.com/office/drawing/2014/main" id="{28F4AF92-E800-4270-AEFB-EE723BF31815}"/>
              </a:ext>
            </a:extLst>
          </p:cNvPr>
          <p:cNvSpPr>
            <a:spLocks noGrp="1"/>
          </p:cNvSpPr>
          <p:nvPr/>
        </p:nvSpPr>
        <p:spPr>
          <a:xfrm>
            <a:off x="723900" y="390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ROBUSTNESS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450874-5061-4888-8612-C4FD7CE7209A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88582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Basic word-level paraphrasing nearly erases both watermarks.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9D6855-9C7B-432A-9F1F-2A0CFEFBA624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800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Post-attack TPR on watermarked text. FPR remains 0.000 in all reported conditions.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A0369F-B604-45B1-9A06-47FFE1924AEC}"/>
              </a:ext>
            </a:extLst>
          </p:cNvPr>
          <p:cNvSpPr>
            <a:spLocks noGrp="1"/>
          </p:cNvSpPr>
          <p:nvPr/>
        </p:nvSpPr>
        <p:spPr>
          <a:xfrm>
            <a:off x="647700" y="2152650"/>
            <a:ext cx="6496050" cy="4171950"/>
          </a:xfrm>
          <a:prstGeom prst="rect">
            <a:avLst/>
          </a:prstGeom>
          <a:solidFill>
            <a:srgbClr val="17242D"/>
          </a:solidFill>
          <a:ln w="9525">
            <a:solidFill>
              <a:srgbClr val="2A394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858F66-46F5-4738-9B39-71553FC8DA3F}"/>
              </a:ext>
            </a:extLst>
          </p:cNvPr>
          <p:cNvSpPr>
            <a:spLocks noGrp="1"/>
          </p:cNvSpPr>
          <p:nvPr/>
        </p:nvSpPr>
        <p:spPr>
          <a:xfrm>
            <a:off x="1009650" y="25527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86F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6F3A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0B6F70-DDEA-48AE-9B7A-49C66F5E4056}"/>
              </a:ext>
            </a:extLst>
          </p:cNvPr>
          <p:cNvSpPr>
            <a:spLocks noGrp="1"/>
          </p:cNvSpPr>
          <p:nvPr/>
        </p:nvSpPr>
        <p:spPr>
          <a:xfrm>
            <a:off x="1009650" y="3000375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No attack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61CD7D-6C67-4655-A6D1-CC2FA91CFB1F}"/>
              </a:ext>
            </a:extLst>
          </p:cNvPr>
          <p:cNvSpPr>
            <a:spLocks noGrp="1"/>
          </p:cNvSpPr>
          <p:nvPr/>
        </p:nvSpPr>
        <p:spPr>
          <a:xfrm>
            <a:off x="2228850" y="3057525"/>
            <a:ext cx="3028950" cy="228600"/>
          </a:xfrm>
          <a:prstGeom prst="rect">
            <a:avLst/>
          </a:prstGeom>
          <a:solidFill>
            <a:srgbClr val="27343D"/>
          </a:solidFill>
          <a:ln w="0">
            <a:solidFill>
              <a:srgbClr val="27343D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686D6C-A6E4-4C17-BAEF-446FEFC1F460}"/>
              </a:ext>
            </a:extLst>
          </p:cNvPr>
          <p:cNvSpPr>
            <a:spLocks noGrp="1"/>
          </p:cNvSpPr>
          <p:nvPr/>
        </p:nvSpPr>
        <p:spPr>
          <a:xfrm>
            <a:off x="2228850" y="3057525"/>
            <a:ext cx="3028950" cy="22860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E5BD72-2EDD-4008-B19B-E6A651B7636D}"/>
              </a:ext>
            </a:extLst>
          </p:cNvPr>
          <p:cNvSpPr>
            <a:spLocks noGrp="1"/>
          </p:cNvSpPr>
          <p:nvPr/>
        </p:nvSpPr>
        <p:spPr>
          <a:xfrm>
            <a:off x="5372100" y="300037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FB8BDF-2266-4A0C-9E76-FD785C9D9677}"/>
              </a:ext>
            </a:extLst>
          </p:cNvPr>
          <p:cNvSpPr>
            <a:spLocks noGrp="1"/>
          </p:cNvSpPr>
          <p:nvPr/>
        </p:nvSpPr>
        <p:spPr>
          <a:xfrm>
            <a:off x="1009650" y="3552825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Word-S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E4BC09-2A25-4752-915F-ED477CB983B0}"/>
              </a:ext>
            </a:extLst>
          </p:cNvPr>
          <p:cNvSpPr>
            <a:spLocks noGrp="1"/>
          </p:cNvSpPr>
          <p:nvPr/>
        </p:nvSpPr>
        <p:spPr>
          <a:xfrm>
            <a:off x="2228850" y="3609975"/>
            <a:ext cx="3028950" cy="228600"/>
          </a:xfrm>
          <a:prstGeom prst="rect">
            <a:avLst/>
          </a:prstGeom>
          <a:solidFill>
            <a:srgbClr val="27343D"/>
          </a:solidFill>
          <a:ln w="0">
            <a:solidFill>
              <a:srgbClr val="27343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FA75AF-E0DD-4901-980E-BDEE3E807850}"/>
              </a:ext>
            </a:extLst>
          </p:cNvPr>
          <p:cNvSpPr>
            <a:spLocks noGrp="1"/>
          </p:cNvSpPr>
          <p:nvPr/>
        </p:nvSpPr>
        <p:spPr>
          <a:xfrm>
            <a:off x="2228850" y="3609975"/>
            <a:ext cx="151448" cy="22860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A174CF-BC75-4D8E-8AAF-C5C900B537DF}"/>
              </a:ext>
            </a:extLst>
          </p:cNvPr>
          <p:cNvSpPr>
            <a:spLocks noGrp="1"/>
          </p:cNvSpPr>
          <p:nvPr/>
        </p:nvSpPr>
        <p:spPr>
          <a:xfrm>
            <a:off x="5372100" y="35528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0.050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4AAB8E-253D-46FF-83B5-96A2F12A2C02}"/>
              </a:ext>
            </a:extLst>
          </p:cNvPr>
          <p:cNvSpPr>
            <a:spLocks noGrp="1"/>
          </p:cNvSpPr>
          <p:nvPr/>
        </p:nvSpPr>
        <p:spPr>
          <a:xfrm>
            <a:off x="1009650" y="4105275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Word-D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2A2DC3-7E27-4B83-A8C5-82652E7485B2}"/>
              </a:ext>
            </a:extLst>
          </p:cNvPr>
          <p:cNvSpPr>
            <a:spLocks noGrp="1"/>
          </p:cNvSpPr>
          <p:nvPr/>
        </p:nvSpPr>
        <p:spPr>
          <a:xfrm>
            <a:off x="2228850" y="4162425"/>
            <a:ext cx="3028950" cy="228600"/>
          </a:xfrm>
          <a:prstGeom prst="rect">
            <a:avLst/>
          </a:prstGeom>
          <a:solidFill>
            <a:srgbClr val="27343D"/>
          </a:solidFill>
          <a:ln w="0">
            <a:solidFill>
              <a:srgbClr val="27343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30D04B-D9F4-4447-A3DF-7EE98D04E178}"/>
              </a:ext>
            </a:extLst>
          </p:cNvPr>
          <p:cNvSpPr>
            <a:spLocks noGrp="1"/>
          </p:cNvSpPr>
          <p:nvPr/>
        </p:nvSpPr>
        <p:spPr>
          <a:xfrm>
            <a:off x="2228850" y="4162425"/>
            <a:ext cx="19050" cy="22860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633AA1-A112-4FA0-933E-E9C2C82F1C2F}"/>
              </a:ext>
            </a:extLst>
          </p:cNvPr>
          <p:cNvSpPr>
            <a:spLocks noGrp="1"/>
          </p:cNvSpPr>
          <p:nvPr/>
        </p:nvSpPr>
        <p:spPr>
          <a:xfrm>
            <a:off x="5372100" y="410527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61E9F7-AF2A-4562-8313-317F11401AEE}"/>
              </a:ext>
            </a:extLst>
          </p:cNvPr>
          <p:cNvSpPr>
            <a:spLocks noGrp="1"/>
          </p:cNvSpPr>
          <p:nvPr/>
        </p:nvSpPr>
        <p:spPr>
          <a:xfrm>
            <a:off x="1009650" y="4667250"/>
            <a:ext cx="5334000" cy="9525"/>
          </a:xfrm>
          <a:prstGeom prst="rect">
            <a:avLst/>
          </a:prstGeom>
          <a:solidFill>
            <a:srgbClr val="33434D"/>
          </a:solidFill>
          <a:ln w="0">
            <a:solidFill>
              <a:srgbClr val="33434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733D1B4-4925-4373-8BC7-8C75B8316DB1}"/>
              </a:ext>
            </a:extLst>
          </p:cNvPr>
          <p:cNvSpPr>
            <a:spLocks noGrp="1"/>
          </p:cNvSpPr>
          <p:nvPr/>
        </p:nvSpPr>
        <p:spPr>
          <a:xfrm>
            <a:off x="1009650" y="491490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2B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B8C6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1E254B-50D0-4257-B11A-2014B26CFE46}"/>
              </a:ext>
            </a:extLst>
          </p:cNvPr>
          <p:cNvSpPr>
            <a:spLocks noGrp="1"/>
          </p:cNvSpPr>
          <p:nvPr/>
        </p:nvSpPr>
        <p:spPr>
          <a:xfrm>
            <a:off x="1809750" y="4848225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No attack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ED9495-938C-499C-B40E-CF7D800B970C}"/>
              </a:ext>
            </a:extLst>
          </p:cNvPr>
          <p:cNvSpPr>
            <a:spLocks noGrp="1"/>
          </p:cNvSpPr>
          <p:nvPr/>
        </p:nvSpPr>
        <p:spPr>
          <a:xfrm>
            <a:off x="3028950" y="4905375"/>
            <a:ext cx="3028950" cy="228600"/>
          </a:xfrm>
          <a:prstGeom prst="rect">
            <a:avLst/>
          </a:prstGeom>
          <a:solidFill>
            <a:srgbClr val="27343D"/>
          </a:solidFill>
          <a:ln w="0">
            <a:solidFill>
              <a:srgbClr val="27343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35D92A-B278-427A-9274-AA4BBFBBD93E}"/>
              </a:ext>
            </a:extLst>
          </p:cNvPr>
          <p:cNvSpPr>
            <a:spLocks noGrp="1"/>
          </p:cNvSpPr>
          <p:nvPr/>
        </p:nvSpPr>
        <p:spPr>
          <a:xfrm>
            <a:off x="3028950" y="4905375"/>
            <a:ext cx="2423160" cy="22860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E9F167-D469-4B93-B9FB-8320BC20A2DE}"/>
              </a:ext>
            </a:extLst>
          </p:cNvPr>
          <p:cNvSpPr>
            <a:spLocks noGrp="1"/>
          </p:cNvSpPr>
          <p:nvPr/>
        </p:nvSpPr>
        <p:spPr>
          <a:xfrm>
            <a:off x="6172200" y="48482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07D88F2-B4DA-4652-B4DD-98DE2FA09B8E}"/>
              </a:ext>
            </a:extLst>
          </p:cNvPr>
          <p:cNvSpPr>
            <a:spLocks noGrp="1"/>
          </p:cNvSpPr>
          <p:nvPr/>
        </p:nvSpPr>
        <p:spPr>
          <a:xfrm>
            <a:off x="1809750" y="5305425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Word-S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9F9D6A2-7314-4319-B7B1-FF32039D9B03}"/>
              </a:ext>
            </a:extLst>
          </p:cNvPr>
          <p:cNvSpPr>
            <a:spLocks noGrp="1"/>
          </p:cNvSpPr>
          <p:nvPr/>
        </p:nvSpPr>
        <p:spPr>
          <a:xfrm>
            <a:off x="3028950" y="5362575"/>
            <a:ext cx="3028950" cy="228600"/>
          </a:xfrm>
          <a:prstGeom prst="rect">
            <a:avLst/>
          </a:prstGeom>
          <a:solidFill>
            <a:srgbClr val="27343D"/>
          </a:solidFill>
          <a:ln w="0">
            <a:solidFill>
              <a:srgbClr val="27343D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5E952EF-BA51-4A0C-9C8D-EE04F8C5D3B5}"/>
              </a:ext>
            </a:extLst>
          </p:cNvPr>
          <p:cNvSpPr>
            <a:spLocks noGrp="1"/>
          </p:cNvSpPr>
          <p:nvPr/>
        </p:nvSpPr>
        <p:spPr>
          <a:xfrm>
            <a:off x="3028950" y="5362575"/>
            <a:ext cx="151448" cy="22860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44F9CD-04B0-418F-A830-C20C09B4C2AB}"/>
              </a:ext>
            </a:extLst>
          </p:cNvPr>
          <p:cNvSpPr>
            <a:spLocks noGrp="1"/>
          </p:cNvSpPr>
          <p:nvPr/>
        </p:nvSpPr>
        <p:spPr>
          <a:xfrm>
            <a:off x="6172200" y="53054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0.050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BE8DC04-4B13-4DE2-8474-FEA2C97D13EB}"/>
              </a:ext>
            </a:extLst>
          </p:cNvPr>
          <p:cNvSpPr>
            <a:spLocks noGrp="1"/>
          </p:cNvSpPr>
          <p:nvPr/>
        </p:nvSpPr>
        <p:spPr>
          <a:xfrm>
            <a:off x="1809750" y="5762625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Word-D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2EFCCD2-619C-4F4A-9579-12170A903BAD}"/>
              </a:ext>
            </a:extLst>
          </p:cNvPr>
          <p:cNvSpPr>
            <a:spLocks noGrp="1"/>
          </p:cNvSpPr>
          <p:nvPr/>
        </p:nvSpPr>
        <p:spPr>
          <a:xfrm>
            <a:off x="3028950" y="5819775"/>
            <a:ext cx="3028950" cy="228600"/>
          </a:xfrm>
          <a:prstGeom prst="rect">
            <a:avLst/>
          </a:prstGeom>
          <a:solidFill>
            <a:srgbClr val="27343D"/>
          </a:solidFill>
          <a:ln w="0">
            <a:solidFill>
              <a:srgbClr val="27343D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334F23-DCF3-4FC8-877A-EE397BFE571D}"/>
              </a:ext>
            </a:extLst>
          </p:cNvPr>
          <p:cNvSpPr>
            <a:spLocks noGrp="1"/>
          </p:cNvSpPr>
          <p:nvPr/>
        </p:nvSpPr>
        <p:spPr>
          <a:xfrm>
            <a:off x="3028950" y="5819775"/>
            <a:ext cx="302895" cy="228600"/>
          </a:xfrm>
          <a:prstGeom prst="rect">
            <a:avLst/>
          </a:prstGeom>
          <a:solidFill>
            <a:srgbClr val="42B8C6"/>
          </a:solidFill>
          <a:ln w="0">
            <a:solidFill>
              <a:srgbClr val="42B8C6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1CF93DD-479B-4ED0-AD6E-9CD6ADB40212}"/>
              </a:ext>
            </a:extLst>
          </p:cNvPr>
          <p:cNvSpPr>
            <a:spLocks noGrp="1"/>
          </p:cNvSpPr>
          <p:nvPr/>
        </p:nvSpPr>
        <p:spPr>
          <a:xfrm>
            <a:off x="6172200" y="5762625"/>
            <a:ext cx="76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0.100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206EBEC-106E-41A7-9F7A-7B2F8E89F419}"/>
              </a:ext>
            </a:extLst>
          </p:cNvPr>
          <p:cNvSpPr>
            <a:spLocks noGrp="1"/>
          </p:cNvSpPr>
          <p:nvPr/>
        </p:nvSpPr>
        <p:spPr>
          <a:xfrm>
            <a:off x="7677150" y="2152650"/>
            <a:ext cx="3333750" cy="4171950"/>
          </a:xfrm>
          <a:prstGeom prst="rect">
            <a:avLst/>
          </a:prstGeom>
          <a:solidFill>
            <a:srgbClr val="F4EFE7"/>
          </a:solidFill>
          <a:ln w="9525">
            <a:solidFill>
              <a:srgbClr val="60584D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CFD0690-1728-4F3B-9C98-4A75E746AECE}"/>
              </a:ext>
            </a:extLst>
          </p:cNvPr>
          <p:cNvSpPr>
            <a:spLocks noGrp="1"/>
          </p:cNvSpPr>
          <p:nvPr/>
        </p:nvSpPr>
        <p:spPr>
          <a:xfrm>
            <a:off x="7962900" y="24574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Why the signal collapses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78B7990-D9EF-4959-8646-13055726497F}"/>
              </a:ext>
            </a:extLst>
          </p:cNvPr>
          <p:cNvSpPr>
            <a:spLocks noGrp="1"/>
          </p:cNvSpPr>
          <p:nvPr/>
        </p:nvSpPr>
        <p:spPr>
          <a:xfrm>
            <a:off x="8001000" y="3009900"/>
            <a:ext cx="304800" cy="304800"/>
          </a:xfrm>
          <a:prstGeom prst="rect">
            <a:avLst/>
          </a:prstGeom>
          <a:solidFill>
            <a:srgbClr val="D85C55"/>
          </a:solidFill>
          <a:ln w="0">
            <a:solidFill>
              <a:srgbClr val="D85C5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CE96C1-2ACE-4406-A245-6C7A843C0BD9}"/>
              </a:ext>
            </a:extLst>
          </p:cNvPr>
          <p:cNvSpPr>
            <a:spLocks noGrp="1"/>
          </p:cNvSpPr>
          <p:nvPr/>
        </p:nvSpPr>
        <p:spPr>
          <a:xfrm>
            <a:off x="8001000" y="3057525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DB793FF-C31A-4CA0-B403-D4AF259C320D}"/>
              </a:ext>
            </a:extLst>
          </p:cNvPr>
          <p:cNvSpPr>
            <a:spLocks noGrp="1"/>
          </p:cNvSpPr>
          <p:nvPr/>
        </p:nvSpPr>
        <p:spPr>
          <a:xfrm>
            <a:off x="8458200" y="3038475"/>
            <a:ext cx="2076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4A5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545C"/>
                </a:solidFill>
                <a:latin typeface="Aptos"/>
                <a:ea typeface="Aptos"/>
                <a:cs typeface="Aptos"/>
              </a:rPr>
              <a:t>Token identity changes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D57C97A-7636-46E1-B77B-919910697282}"/>
              </a:ext>
            </a:extLst>
          </p:cNvPr>
          <p:cNvSpPr>
            <a:spLocks noGrp="1"/>
          </p:cNvSpPr>
          <p:nvPr/>
        </p:nvSpPr>
        <p:spPr>
          <a:xfrm>
            <a:off x="8001000" y="3543300"/>
            <a:ext cx="304800" cy="30480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25405CC-5DBB-4615-B495-186BF4AC87E4}"/>
              </a:ext>
            </a:extLst>
          </p:cNvPr>
          <p:cNvSpPr>
            <a:spLocks noGrp="1"/>
          </p:cNvSpPr>
          <p:nvPr/>
        </p:nvSpPr>
        <p:spPr>
          <a:xfrm>
            <a:off x="8001000" y="3590925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96688FB-D770-47D1-8773-884C7F8A51E8}"/>
              </a:ext>
            </a:extLst>
          </p:cNvPr>
          <p:cNvSpPr>
            <a:spLocks noGrp="1"/>
          </p:cNvSpPr>
          <p:nvPr/>
        </p:nvSpPr>
        <p:spPr>
          <a:xfrm>
            <a:off x="8458200" y="3571875"/>
            <a:ext cx="2076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4A5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545C"/>
                </a:solidFill>
                <a:latin typeface="Aptos"/>
                <a:ea typeface="Aptos"/>
                <a:cs typeface="Aptos"/>
              </a:rPr>
              <a:t>Context hash shifts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8D821F3-D2A5-44F0-8760-DE9DF1CDDBBC}"/>
              </a:ext>
            </a:extLst>
          </p:cNvPr>
          <p:cNvSpPr>
            <a:spLocks noGrp="1"/>
          </p:cNvSpPr>
          <p:nvPr/>
        </p:nvSpPr>
        <p:spPr>
          <a:xfrm>
            <a:off x="8001000" y="4076700"/>
            <a:ext cx="304800" cy="30480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98FD634-B3F9-4182-8A7C-1A878C628350}"/>
              </a:ext>
            </a:extLst>
          </p:cNvPr>
          <p:cNvSpPr>
            <a:spLocks noGrp="1"/>
          </p:cNvSpPr>
          <p:nvPr/>
        </p:nvSpPr>
        <p:spPr>
          <a:xfrm>
            <a:off x="8001000" y="4124325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46C0D3-4D12-4F3A-B57F-296511787096}"/>
              </a:ext>
            </a:extLst>
          </p:cNvPr>
          <p:cNvSpPr>
            <a:spLocks noGrp="1"/>
          </p:cNvSpPr>
          <p:nvPr/>
        </p:nvSpPr>
        <p:spPr>
          <a:xfrm>
            <a:off x="8458200" y="4105275"/>
            <a:ext cx="2076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4A5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545C"/>
                </a:solidFill>
                <a:latin typeface="Aptos"/>
                <a:ea typeface="Aptos"/>
                <a:cs typeface="Aptos"/>
              </a:rPr>
              <a:t>Expected statistic no longer matches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656BCA1-A49F-4D36-ADFB-94E72B8F2302}"/>
              </a:ext>
            </a:extLst>
          </p:cNvPr>
          <p:cNvSpPr>
            <a:spLocks noGrp="1"/>
          </p:cNvSpPr>
          <p:nvPr/>
        </p:nvSpPr>
        <p:spPr>
          <a:xfrm>
            <a:off x="8001000" y="4610100"/>
            <a:ext cx="304800" cy="30480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92B8F50-588F-4BF1-8DAE-748CA9F9F988}"/>
              </a:ext>
            </a:extLst>
          </p:cNvPr>
          <p:cNvSpPr>
            <a:spLocks noGrp="1"/>
          </p:cNvSpPr>
          <p:nvPr/>
        </p:nvSpPr>
        <p:spPr>
          <a:xfrm>
            <a:off x="8001000" y="4657725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DBAAB26-19F7-4940-A8A2-5C1D8AA09B97}"/>
              </a:ext>
            </a:extLst>
          </p:cNvPr>
          <p:cNvSpPr>
            <a:spLocks noGrp="1"/>
          </p:cNvSpPr>
          <p:nvPr/>
        </p:nvSpPr>
        <p:spPr>
          <a:xfrm>
            <a:off x="8458200" y="4638675"/>
            <a:ext cx="2076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0">
                <a:solidFill>
                  <a:srgbClr val="4A545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A545C"/>
                </a:solidFill>
                <a:latin typeface="Aptos"/>
                <a:ea typeface="Aptos"/>
                <a:cs typeface="Aptos"/>
              </a:rPr>
              <a:t>Detector loses the watermark signal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225C046-0FDC-4694-8160-DD79FD280B87}"/>
              </a:ext>
            </a:extLst>
          </p:cNvPr>
          <p:cNvSpPr>
            <a:spLocks noGrp="1"/>
          </p:cNvSpPr>
          <p:nvPr/>
        </p:nvSpPr>
        <p:spPr>
          <a:xfrm>
            <a:off x="7943850" y="5143500"/>
            <a:ext cx="2743200" cy="742950"/>
          </a:xfrm>
          <a:prstGeom prst="rect">
            <a:avLst/>
          </a:prstGeom>
          <a:solidFill>
            <a:srgbClr val="2230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C89CEB3-3506-4DDE-B6B8-36E9EB9A2712}"/>
              </a:ext>
            </a:extLst>
          </p:cNvPr>
          <p:cNvSpPr>
            <a:spLocks noGrp="1"/>
          </p:cNvSpPr>
          <p:nvPr/>
        </p:nvSpPr>
        <p:spPr>
          <a:xfrm>
            <a:off x="7943850" y="5143500"/>
            <a:ext cx="47625" cy="742950"/>
          </a:xfrm>
          <a:prstGeom prst="rect">
            <a:avLst/>
          </a:prstGeom>
          <a:solidFill>
            <a:srgbClr val="D85C55"/>
          </a:solidFill>
          <a:ln w="0">
            <a:solidFill>
              <a:srgbClr val="D85C55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C4EDDF2-DA6C-4688-BCEC-98D0053F2EA0}"/>
              </a:ext>
            </a:extLst>
          </p:cNvPr>
          <p:cNvSpPr>
            <a:spLocks noGrp="1"/>
          </p:cNvSpPr>
          <p:nvPr/>
        </p:nvSpPr>
        <p:spPr>
          <a:xfrm>
            <a:off x="8115300" y="5276850"/>
            <a:ext cx="24384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The paper's strongest result is negative: neither method provides reliable IP protection against basic paraphrasing.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5C613C4-3896-41DA-BAA9-B080809F7483}"/>
              </a:ext>
            </a:extLst>
          </p:cNvPr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815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80840B7C-D0C1-482C-9658-6B86336F32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FE7"/>
          </a:solidFill>
          <a:ln w="0">
            <a:solidFill>
              <a:srgbClr val="F4EFE7"/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A5AAB193-E065-4141-897E-7E341EBB615C}"/>
              </a:ext>
            </a:extLst>
          </p:cNvPr>
          <p:cNvSpPr>
            <a:spLocks noGrp="1"/>
          </p:cNvSpPr>
          <p:nvPr/>
        </p:nvSpPr>
        <p:spPr>
          <a:xfrm>
            <a:off x="533400" y="447675"/>
            <a:ext cx="95250" cy="9525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05BC31FB-2746-4699-BFDB-F5C88CB08498}"/>
              </a:ext>
            </a:extLst>
          </p:cNvPr>
          <p:cNvSpPr>
            <a:spLocks noGrp="1"/>
          </p:cNvSpPr>
          <p:nvPr/>
        </p:nvSpPr>
        <p:spPr>
          <a:xfrm>
            <a:off x="723900" y="390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4"/>
                </a:solidFill>
                <a:latin typeface="Aptos"/>
                <a:ea typeface="Aptos"/>
                <a:cs typeface="Aptos"/>
              </a:rPr>
              <a:t>DEPLOYMENT TAKEAWAYS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89C64A-5CA0-40CB-AC62-81C1F90F8CA0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9144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next step is semantic resilience, not stronger token bias.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DB07CC-43B6-430F-A575-9793C1DE5E25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742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A545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45C"/>
                </a:solidFill>
                <a:latin typeface="Aptos"/>
                <a:ea typeface="Aptos"/>
                <a:cs typeface="Aptos"/>
              </a:rPr>
              <a:t>Practical recommendation based on the paper's multi-dimensional comparison.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8C33FD-CEFC-4635-9836-2DBF0BB1FFEA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2095500" cy="40005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0A66DB-E02E-4326-9FB7-641A971E49BE}"/>
              </a:ext>
            </a:extLst>
          </p:cNvPr>
          <p:cNvSpPr>
            <a:spLocks noGrp="1"/>
          </p:cNvSpPr>
          <p:nvPr/>
        </p:nvSpPr>
        <p:spPr>
          <a:xfrm>
            <a:off x="800100" y="2257425"/>
            <a:ext cx="1828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Situation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D0BDC5-EF66-406F-99D4-55DC004CF896}"/>
              </a:ext>
            </a:extLst>
          </p:cNvPr>
          <p:cNvSpPr>
            <a:spLocks noGrp="1"/>
          </p:cNvSpPr>
          <p:nvPr/>
        </p:nvSpPr>
        <p:spPr>
          <a:xfrm>
            <a:off x="2762250" y="2152650"/>
            <a:ext cx="1428750" cy="40005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19C924-EA41-412B-9D0C-2FC7C7FEF3AD}"/>
              </a:ext>
            </a:extLst>
          </p:cNvPr>
          <p:cNvSpPr>
            <a:spLocks noGrp="1"/>
          </p:cNvSpPr>
          <p:nvPr/>
        </p:nvSpPr>
        <p:spPr>
          <a:xfrm>
            <a:off x="2895600" y="2257425"/>
            <a:ext cx="1162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Prefer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C3ECD2-7917-4288-B806-1EA215514E6D}"/>
              </a:ext>
            </a:extLst>
          </p:cNvPr>
          <p:cNvSpPr>
            <a:spLocks noGrp="1"/>
          </p:cNvSpPr>
          <p:nvPr/>
        </p:nvSpPr>
        <p:spPr>
          <a:xfrm>
            <a:off x="4191000" y="2152650"/>
            <a:ext cx="3048000" cy="40005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3CC59E-3B0F-439A-A28D-85B2B695716E}"/>
              </a:ext>
            </a:extLst>
          </p:cNvPr>
          <p:cNvSpPr>
            <a:spLocks noGrp="1"/>
          </p:cNvSpPr>
          <p:nvPr/>
        </p:nvSpPr>
        <p:spPr>
          <a:xfrm>
            <a:off x="4324350" y="2257425"/>
            <a:ext cx="2781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D8DEF1-7427-4226-83BC-49CBF42C57F6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2095500" cy="40005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53FA64-A901-457E-B87E-1B90D1D5C48C}"/>
              </a:ext>
            </a:extLst>
          </p:cNvPr>
          <p:cNvSpPr>
            <a:spLocks noGrp="1"/>
          </p:cNvSpPr>
          <p:nvPr/>
        </p:nvSpPr>
        <p:spPr>
          <a:xfrm>
            <a:off x="7372350" y="2257425"/>
            <a:ext cx="1828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Caveat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AD2A48-2D0A-442B-AC1F-1DAB0A94608B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2095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38E029-B81A-45E6-87BC-3FAEA6E65E54}"/>
              </a:ext>
            </a:extLst>
          </p:cNvPr>
          <p:cNvSpPr>
            <a:spLocks noGrp="1"/>
          </p:cNvSpPr>
          <p:nvPr/>
        </p:nvSpPr>
        <p:spPr>
          <a:xfrm>
            <a:off x="800100" y="2705100"/>
            <a:ext cx="1828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Benign provenance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941769-C442-4E18-B86A-B9633A8F258A}"/>
              </a:ext>
            </a:extLst>
          </p:cNvPr>
          <p:cNvSpPr>
            <a:spLocks noGrp="1"/>
          </p:cNvSpPr>
          <p:nvPr/>
        </p:nvSpPr>
        <p:spPr>
          <a:xfrm>
            <a:off x="2762250" y="2552700"/>
            <a:ext cx="1428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E30803-E8A7-4B5D-A5B9-7BC40D9BAFA9}"/>
              </a:ext>
            </a:extLst>
          </p:cNvPr>
          <p:cNvSpPr>
            <a:spLocks noGrp="1"/>
          </p:cNvSpPr>
          <p:nvPr/>
        </p:nvSpPr>
        <p:spPr>
          <a:xfrm>
            <a:off x="2895600" y="270510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E86F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6F3A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EE6169-DD88-4073-9B08-76699E7EBD43}"/>
              </a:ext>
            </a:extLst>
          </p:cNvPr>
          <p:cNvSpPr>
            <a:spLocks noGrp="1"/>
          </p:cNvSpPr>
          <p:nvPr/>
        </p:nvSpPr>
        <p:spPr>
          <a:xfrm>
            <a:off x="4191000" y="2552700"/>
            <a:ext cx="3048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B9330E-F9A2-4CC2-A1DF-4C5D4A6D7AB5}"/>
              </a:ext>
            </a:extLst>
          </p:cNvPr>
          <p:cNvSpPr>
            <a:spLocks noGrp="1"/>
          </p:cNvSpPr>
          <p:nvPr/>
        </p:nvSpPr>
        <p:spPr>
          <a:xfrm>
            <a:off x="4324350" y="2705100"/>
            <a:ext cx="2781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Perfect default TPR and lower PPL.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DCD7454-ADC4-4CF0-825E-29F863D9A378}"/>
              </a:ext>
            </a:extLst>
          </p:cNvPr>
          <p:cNvSpPr>
            <a:spLocks noGrp="1"/>
          </p:cNvSpPr>
          <p:nvPr/>
        </p:nvSpPr>
        <p:spPr>
          <a:xfrm>
            <a:off x="7239000" y="2552700"/>
            <a:ext cx="2095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D1BA94-0C61-4D2A-A572-C5DC0095BA83}"/>
              </a:ext>
            </a:extLst>
          </p:cNvPr>
          <p:cNvSpPr>
            <a:spLocks noGrp="1"/>
          </p:cNvSpPr>
          <p:nvPr/>
        </p:nvSpPr>
        <p:spPr>
          <a:xfrm>
            <a:off x="7372350" y="2705100"/>
            <a:ext cx="1828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Breaks under paraphrase.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2F86A7-C3DD-47BE-8544-61A8BE9439F3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095500" cy="781050"/>
          </a:xfrm>
          <a:prstGeom prst="rect">
            <a:avLst/>
          </a:prstGeom>
          <a:solidFill>
            <a:srgbClr val="F7F2EA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C4A92B-F10A-48F1-A07D-EB08C8A6C112}"/>
              </a:ext>
            </a:extLst>
          </p:cNvPr>
          <p:cNvSpPr>
            <a:spLocks noGrp="1"/>
          </p:cNvSpPr>
          <p:nvPr/>
        </p:nvSpPr>
        <p:spPr>
          <a:xfrm>
            <a:off x="800100" y="3486150"/>
            <a:ext cx="1828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Need interpretability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873BF10-F47F-49B3-931A-5F34394C00B2}"/>
              </a:ext>
            </a:extLst>
          </p:cNvPr>
          <p:cNvSpPr>
            <a:spLocks noGrp="1"/>
          </p:cNvSpPr>
          <p:nvPr/>
        </p:nvSpPr>
        <p:spPr>
          <a:xfrm>
            <a:off x="2762250" y="3333750"/>
            <a:ext cx="1428750" cy="781050"/>
          </a:xfrm>
          <a:prstGeom prst="rect">
            <a:avLst/>
          </a:prstGeom>
          <a:solidFill>
            <a:srgbClr val="F7F2EA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2A07011-AC05-4698-807D-EDAF7211276F}"/>
              </a:ext>
            </a:extLst>
          </p:cNvPr>
          <p:cNvSpPr>
            <a:spLocks noGrp="1"/>
          </p:cNvSpPr>
          <p:nvPr/>
        </p:nvSpPr>
        <p:spPr>
          <a:xfrm>
            <a:off x="2895600" y="348615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42B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B8C6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869A16C-060E-4ACE-9832-C4BB18266D8D}"/>
              </a:ext>
            </a:extLst>
          </p:cNvPr>
          <p:cNvSpPr>
            <a:spLocks noGrp="1"/>
          </p:cNvSpPr>
          <p:nvPr/>
        </p:nvSpPr>
        <p:spPr>
          <a:xfrm>
            <a:off x="4191000" y="3333750"/>
            <a:ext cx="3048000" cy="781050"/>
          </a:xfrm>
          <a:prstGeom prst="rect">
            <a:avLst/>
          </a:prstGeom>
          <a:solidFill>
            <a:srgbClr val="F7F2EA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3E4D16-8A62-442E-8284-ADDB92A5C54D}"/>
              </a:ext>
            </a:extLst>
          </p:cNvPr>
          <p:cNvSpPr>
            <a:spLocks noGrp="1"/>
          </p:cNvSpPr>
          <p:nvPr/>
        </p:nvSpPr>
        <p:spPr>
          <a:xfrm>
            <a:off x="4324350" y="3486150"/>
            <a:ext cx="2781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Green-list mechanism and z-test are transparent.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1A731DB-28E9-46F2-A5ED-BB8980C2E80F}"/>
              </a:ext>
            </a:extLst>
          </p:cNvPr>
          <p:cNvSpPr>
            <a:spLocks noGrp="1"/>
          </p:cNvSpPr>
          <p:nvPr/>
        </p:nvSpPr>
        <p:spPr>
          <a:xfrm>
            <a:off x="7239000" y="3333750"/>
            <a:ext cx="2095500" cy="781050"/>
          </a:xfrm>
          <a:prstGeom prst="rect">
            <a:avLst/>
          </a:prstGeom>
          <a:solidFill>
            <a:srgbClr val="F7F2EA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755AC32-8D19-4F6A-9043-AAEEDCE361DD}"/>
              </a:ext>
            </a:extLst>
          </p:cNvPr>
          <p:cNvSpPr>
            <a:spLocks noGrp="1"/>
          </p:cNvSpPr>
          <p:nvPr/>
        </p:nvSpPr>
        <p:spPr>
          <a:xfrm>
            <a:off x="7372350" y="3486150"/>
            <a:ext cx="1828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Sensitive to delta and gamma.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B99D7C3-F1E0-4813-A818-F7397315BCD0}"/>
              </a:ext>
            </a:extLst>
          </p:cNvPr>
          <p:cNvSpPr>
            <a:spLocks noGrp="1"/>
          </p:cNvSpPr>
          <p:nvPr/>
        </p:nvSpPr>
        <p:spPr>
          <a:xfrm>
            <a:off x="666750" y="4114800"/>
            <a:ext cx="2095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B3B4FDC-29F2-4D88-BB0B-9FFE24B37FE4}"/>
              </a:ext>
            </a:extLst>
          </p:cNvPr>
          <p:cNvSpPr>
            <a:spLocks noGrp="1"/>
          </p:cNvSpPr>
          <p:nvPr/>
        </p:nvSpPr>
        <p:spPr>
          <a:xfrm>
            <a:off x="800100" y="4267200"/>
            <a:ext cx="1828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Adversarial IP protection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99C9BCB-72A8-4959-9EBC-AFEBEBFC5DA1}"/>
              </a:ext>
            </a:extLst>
          </p:cNvPr>
          <p:cNvSpPr>
            <a:spLocks noGrp="1"/>
          </p:cNvSpPr>
          <p:nvPr/>
        </p:nvSpPr>
        <p:spPr>
          <a:xfrm>
            <a:off x="2762250" y="4114800"/>
            <a:ext cx="1428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664C84C-50F8-4809-AEB9-62F26E261758}"/>
              </a:ext>
            </a:extLst>
          </p:cNvPr>
          <p:cNvSpPr>
            <a:spLocks noGrp="1"/>
          </p:cNvSpPr>
          <p:nvPr/>
        </p:nvSpPr>
        <p:spPr>
          <a:xfrm>
            <a:off x="2895600" y="4267200"/>
            <a:ext cx="11620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Neither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2411A31-62AA-4503-8033-29EAF1CAF60E}"/>
              </a:ext>
            </a:extLst>
          </p:cNvPr>
          <p:cNvSpPr>
            <a:spLocks noGrp="1"/>
          </p:cNvSpPr>
          <p:nvPr/>
        </p:nvSpPr>
        <p:spPr>
          <a:xfrm>
            <a:off x="4191000" y="4114800"/>
            <a:ext cx="3048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39B873E-B905-4852-AF4A-C66C9292B38F}"/>
              </a:ext>
            </a:extLst>
          </p:cNvPr>
          <p:cNvSpPr>
            <a:spLocks noGrp="1"/>
          </p:cNvSpPr>
          <p:nvPr/>
        </p:nvSpPr>
        <p:spPr>
          <a:xfrm>
            <a:off x="4324350" y="4267200"/>
            <a:ext cx="27813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Word-S drives both to 0.050 TPR.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368969D-F36F-47A5-8406-B8D6268BC937}"/>
              </a:ext>
            </a:extLst>
          </p:cNvPr>
          <p:cNvSpPr>
            <a:spLocks noGrp="1"/>
          </p:cNvSpPr>
          <p:nvPr/>
        </p:nvSpPr>
        <p:spPr>
          <a:xfrm>
            <a:off x="7239000" y="4114800"/>
            <a:ext cx="2095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E8DED0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F6E8390-50AE-4155-AD8D-DFEA96C68E70}"/>
              </a:ext>
            </a:extLst>
          </p:cNvPr>
          <p:cNvSpPr>
            <a:spLocks noGrp="1"/>
          </p:cNvSpPr>
          <p:nvPr/>
        </p:nvSpPr>
        <p:spPr>
          <a:xfrm>
            <a:off x="7372350" y="4267200"/>
            <a:ext cx="1828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Needs semantic or structural watermarking.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A6A8CC4-A6EE-472E-A3CC-E94B1BC66738}"/>
              </a:ext>
            </a:extLst>
          </p:cNvPr>
          <p:cNvSpPr>
            <a:spLocks noGrp="1"/>
          </p:cNvSpPr>
          <p:nvPr/>
        </p:nvSpPr>
        <p:spPr>
          <a:xfrm>
            <a:off x="666750" y="5067300"/>
            <a:ext cx="8667750" cy="628650"/>
          </a:xfrm>
          <a:prstGeom prst="rect">
            <a:avLst/>
          </a:prstGeom>
          <a:solidFill>
            <a:srgbClr val="101820"/>
          </a:solidFill>
          <a:ln w="0">
            <a:solidFill>
              <a:srgbClr val="101820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3AB37C5-040A-418E-B671-1051FBC289DB}"/>
              </a:ext>
            </a:extLst>
          </p:cNvPr>
          <p:cNvSpPr>
            <a:spLocks noGrp="1"/>
          </p:cNvSpPr>
          <p:nvPr/>
        </p:nvSpPr>
        <p:spPr>
          <a:xfrm>
            <a:off x="895350" y="5238750"/>
            <a:ext cx="1409700" cy="285750"/>
          </a:xfrm>
          <a:prstGeom prst="rect">
            <a:avLst/>
          </a:prstGeom>
          <a:solidFill>
            <a:srgbClr val="D6A84F"/>
          </a:solidFill>
          <a:ln w="0">
            <a:solidFill>
              <a:srgbClr val="D6A84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B3A8249-2839-4C6C-AB21-BD7ED426A8D5}"/>
              </a:ext>
            </a:extLst>
          </p:cNvPr>
          <p:cNvSpPr>
            <a:spLocks noGrp="1"/>
          </p:cNvSpPr>
          <p:nvPr/>
        </p:nvSpPr>
        <p:spPr>
          <a:xfrm>
            <a:off x="971550" y="5286375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FUTURE DIRECTION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EC1A4DD-716A-4B3B-9BF1-A56C8ED837FD}"/>
              </a:ext>
            </a:extLst>
          </p:cNvPr>
          <p:cNvSpPr>
            <a:spLocks noGrp="1"/>
          </p:cNvSpPr>
          <p:nvPr/>
        </p:nvSpPr>
        <p:spPr>
          <a:xfrm>
            <a:off x="2533650" y="5219700"/>
            <a:ext cx="619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Move from token identity toward sentence-level, paragraph-level, or semantic signals that survive meaning-preserving transformations.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509110E-9CFA-49A7-BBC8-81E8961F5633}"/>
              </a:ext>
            </a:extLst>
          </p:cNvPr>
          <p:cNvSpPr>
            <a:spLocks noGrp="1"/>
          </p:cNvSpPr>
          <p:nvPr/>
        </p:nvSpPr>
        <p:spPr>
          <a:xfrm>
            <a:off x="9620250" y="2343150"/>
            <a:ext cx="1619250" cy="2152650"/>
          </a:xfrm>
          <a:prstGeom prst="rect">
            <a:avLst/>
          </a:prstGeom>
          <a:solidFill>
            <a:srgbClr val="22303A"/>
          </a:solidFill>
          <a:ln w="9525">
            <a:solidFill>
              <a:srgbClr val="33454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B9CF0C-0A52-471B-A413-804A8B961141}"/>
              </a:ext>
            </a:extLst>
          </p:cNvPr>
          <p:cNvSpPr>
            <a:spLocks noGrp="1"/>
          </p:cNvSpPr>
          <p:nvPr/>
        </p:nvSpPr>
        <p:spPr>
          <a:xfrm>
            <a:off x="9620250" y="2343150"/>
            <a:ext cx="47625" cy="2152650"/>
          </a:xfrm>
          <a:prstGeom prst="rect">
            <a:avLst/>
          </a:prstGeom>
          <a:solidFill>
            <a:srgbClr val="E86F3A"/>
          </a:solidFill>
          <a:ln w="0">
            <a:solidFill>
              <a:srgbClr val="E86F3A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F002A4A-F084-4766-8430-E618D1079B7F}"/>
              </a:ext>
            </a:extLst>
          </p:cNvPr>
          <p:cNvSpPr>
            <a:spLocks noGrp="1"/>
          </p:cNvSpPr>
          <p:nvPr/>
        </p:nvSpPr>
        <p:spPr>
          <a:xfrm>
            <a:off x="9791700" y="2476500"/>
            <a:ext cx="1314450" cy="1924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8D0D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4"/>
                </a:solidFill>
                <a:latin typeface="Aptos"/>
                <a:ea typeface="Aptos"/>
                <a:cs typeface="Aptos"/>
              </a:rPr>
              <a:t>Bottom line: EXP wins the reproduction study, but robustness decides real IP value.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B6442B8-41D1-44F7-AA87-909EFB232008}"/>
              </a:ext>
            </a:extLst>
          </p:cNvPr>
          <p:cNvSpPr>
            <a:spLocks noGrp="1"/>
          </p:cNvSpPr>
          <p:nvPr/>
        </p:nvSpPr>
        <p:spPr>
          <a:xfrm>
            <a:off x="11315700" y="6553200"/>
            <a:ext cx="342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98A5A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8A5A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76310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945</Words>
  <Application>Microsoft Office PowerPoint</Application>
  <DocSecurity>0</DocSecurity>
  <PresentationFormat>宽屏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 .</cp:lastModifiedBy>
  <cp:revision>1</cp:revision>
  <dcterms:created xsi:type="dcterms:W3CDTF">2026-06-10T15:43:01Z</dcterms:created>
  <dcterms:modified xsi:type="dcterms:W3CDTF">2026-06-10T16:49:02Z</dcterms:modified>
</cp:coreProperties>
</file>