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369F3C34-5A53-4F7D-9110-691FADFA08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1CE21-3739-484C-8FC6-BBC3784881CD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7239000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LLM Watermarking for</a:t>
            </a:r>
          </a:p>
          <a:p>
            <a:pPr algn="l">
              <a:def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Intellectual Property Protection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CB98A-67DE-46F3-9C74-AFACF684F07C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619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A comparative presentation on KGW and EXP watermarking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06A3ED-F3A8-467C-A48D-E53342BCC387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Guo Yutai, Zhong Yimin, Wang Yanzhi, Ouyang Zhaohong,</a:t>
            </a:r>
          </a:p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Qin Xiaoyu, Yao Hanbin | June 8,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5BAC5F-A1A9-4709-AA37-18ADC1000B83}"/>
              </a:ext>
            </a:extLst>
          </p:cNvPr>
          <p:cNvSpPr>
            <a:spLocks noGrp="1"/>
          </p:cNvSpPr>
          <p:nvPr/>
        </p:nvSpPr>
        <p:spPr>
          <a:xfrm>
            <a:off x="7524750" y="819150"/>
            <a:ext cx="9525" cy="476250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1C3DAB-418D-4E33-847F-909D339A3CE0}"/>
              </a:ext>
            </a:extLst>
          </p:cNvPr>
          <p:cNvSpPr>
            <a:spLocks noGrp="1"/>
          </p:cNvSpPr>
          <p:nvPr/>
        </p:nvSpPr>
        <p:spPr>
          <a:xfrm>
            <a:off x="7905750" y="838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Study object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F99280-D56E-4E5F-ADB0-C0FBDAA6B0AB}"/>
              </a:ext>
            </a:extLst>
          </p:cNvPr>
          <p:cNvSpPr>
            <a:spLocks noGrp="1"/>
          </p:cNvSpPr>
          <p:nvPr/>
        </p:nvSpPr>
        <p:spPr>
          <a:xfrm>
            <a:off x="7905750" y="1162050"/>
            <a:ext cx="3143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Two token-level generation-time watermarking routes are reproduced under one evaluation frame.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19EA68-E46C-4ECE-BE4C-4307EB7CE7B8}"/>
              </a:ext>
            </a:extLst>
          </p:cNvPr>
          <p:cNvSpPr>
            <a:spLocks noGrp="1"/>
          </p:cNvSpPr>
          <p:nvPr/>
        </p:nvSpPr>
        <p:spPr>
          <a:xfrm>
            <a:off x="7905750" y="2190750"/>
            <a:ext cx="1047750" cy="266700"/>
          </a:xfrm>
          <a:prstGeom prst="rect">
            <a:avLst/>
          </a:prstGeom>
          <a:solidFill>
            <a:srgbClr val="DCEBE4"/>
          </a:solidFill>
          <a:ln w="9525">
            <a:solidFill>
              <a:srgbClr val="26705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3A5D49-9267-4D58-AE28-A82A4D337B26}"/>
              </a:ext>
            </a:extLst>
          </p:cNvPr>
          <p:cNvSpPr>
            <a:spLocks noGrp="1"/>
          </p:cNvSpPr>
          <p:nvPr/>
        </p:nvSpPr>
        <p:spPr>
          <a:xfrm>
            <a:off x="8001000" y="22383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DFC425-4BC5-471E-8C3D-B1748976F624}"/>
              </a:ext>
            </a:extLst>
          </p:cNvPr>
          <p:cNvSpPr>
            <a:spLocks noGrp="1"/>
          </p:cNvSpPr>
          <p:nvPr/>
        </p:nvSpPr>
        <p:spPr>
          <a:xfrm>
            <a:off x="9144000" y="21336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Vocabulary split +</a:t>
            </a:r>
          </a:p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green-list logit bias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D6F857-FA80-43EA-BED1-8A55F091126A}"/>
              </a:ext>
            </a:extLst>
          </p:cNvPr>
          <p:cNvSpPr>
            <a:spLocks noGrp="1"/>
          </p:cNvSpPr>
          <p:nvPr/>
        </p:nvSpPr>
        <p:spPr>
          <a:xfrm>
            <a:off x="7905750" y="291465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A350C4-0A7B-4F79-8569-4EB140FDF388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1047750" cy="26670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A5EA9C-4759-41A0-9908-9B60CFF3DCFF}"/>
              </a:ext>
            </a:extLst>
          </p:cNvPr>
          <p:cNvSpPr>
            <a:spLocks noGrp="1"/>
          </p:cNvSpPr>
          <p:nvPr/>
        </p:nvSpPr>
        <p:spPr>
          <a:xfrm>
            <a:off x="8001000" y="3381375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852A48-6FAB-4712-B6B1-25AD146F750C}"/>
              </a:ext>
            </a:extLst>
          </p:cNvPr>
          <p:cNvSpPr>
            <a:spLocks noGrp="1"/>
          </p:cNvSpPr>
          <p:nvPr/>
        </p:nvSpPr>
        <p:spPr>
          <a:xfrm>
            <a:off x="9144000" y="32766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Exponential resampling +</a:t>
            </a:r>
          </a:p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p-value detection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4818AA-7B72-4ECA-A355-BDC1DEEA96E9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6191250" cy="14287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5B1D24-679D-44BE-A6AC-4A9C4BAAFE9C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Presentation route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0A3850-8DF3-4CD3-AFA2-0592AB8CCD3E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542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Evaluation metrics first, then experimental result analysis, then summary.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50DDA3-4DFB-4AB0-8245-05C799A5A39C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No outcome claim is placed on the cover.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41F75A-6489-45B0-BD19-A50F03CAC9B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45B9DE-FF27-4C29-980F-DEBB25FA754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 title page and introduction.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CB1B15-4476-4603-8806-2B8FA0B120A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346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E096F7AE-BB6E-4975-AC31-632D70369F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47DDF78C-42D6-4AC6-B11A-09AE80802F1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868E7A5A-8F79-4493-9D41-75CC8D2CCACA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STUDY FRAME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A014DC-33BE-44D5-BC46-8D0F2CF7869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fair comparison starts with matched generation and attack conditions.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75DCB8-48C8-49FB-8070-29B303FD9FD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119548-9958-4E73-A9E9-D9D97239BC43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590550" cy="590550"/>
          </a:xfrm>
          <a:prstGeom prst="rect">
            <a:avLst/>
          </a:prstGeom>
          <a:solidFill>
            <a:srgbClr val="DCE8FA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D9FECA-C93C-4D97-894D-7FA7AE08453A}"/>
              </a:ext>
            </a:extLst>
          </p:cNvPr>
          <p:cNvSpPr>
            <a:spLocks noGrp="1"/>
          </p:cNvSpPr>
          <p:nvPr/>
        </p:nvSpPr>
        <p:spPr>
          <a:xfrm>
            <a:off x="723900" y="2019300"/>
            <a:ext cx="59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E8CD9-8D1E-4FB6-B24E-DFD1F2C1A7A0}"/>
              </a:ext>
            </a:extLst>
          </p:cNvPr>
          <p:cNvSpPr>
            <a:spLocks noGrp="1"/>
          </p:cNvSpPr>
          <p:nvPr/>
        </p:nvSpPr>
        <p:spPr>
          <a:xfrm>
            <a:off x="1562100" y="1885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Research scope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38DA41-2D35-4F5C-92E1-AD7632EF944E}"/>
              </a:ext>
            </a:extLst>
          </p:cNvPr>
          <p:cNvSpPr>
            <a:spLocks noGrp="1"/>
          </p:cNvSpPr>
          <p:nvPr/>
        </p:nvSpPr>
        <p:spPr>
          <a:xfrm>
            <a:off x="1562100" y="217170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Text-based LLM output watermarks only; model weights and multimodal watermarks are excluded.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64FE4D-590D-4457-8417-CEA04A1A2634}"/>
              </a:ext>
            </a:extLst>
          </p:cNvPr>
          <p:cNvSpPr>
            <a:spLocks noGrp="1"/>
          </p:cNvSpPr>
          <p:nvPr/>
        </p:nvSpPr>
        <p:spPr>
          <a:xfrm>
            <a:off x="1019175" y="2514600"/>
            <a:ext cx="9525" cy="26670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0BB91E-15DF-48B7-81AE-5D0FF57503DC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590550" cy="590550"/>
          </a:xfrm>
          <a:prstGeom prst="rect">
            <a:avLst/>
          </a:prstGeom>
          <a:solidFill>
            <a:srgbClr val="DCEBE4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0EF009-01AB-40ED-9518-D781810C1D5C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59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46F634-BDE6-4AF1-BFF9-8EF5AD63F07D}"/>
              </a:ext>
            </a:extLst>
          </p:cNvPr>
          <p:cNvSpPr>
            <a:spLocks noGrp="1"/>
          </p:cNvSpPr>
          <p:nvPr/>
        </p:nvSpPr>
        <p:spPr>
          <a:xfrm>
            <a:off x="1562100" y="27813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Reproduction rule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7BEB01-2B39-4F69-BAC9-B0638437FCEF}"/>
              </a:ext>
            </a:extLst>
          </p:cNvPr>
          <p:cNvSpPr>
            <a:spLocks noGrp="1"/>
          </p:cNvSpPr>
          <p:nvPr/>
        </p:nvSpPr>
        <p:spPr>
          <a:xfrm>
            <a:off x="1562100" y="306705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 and EXP are reproduced from original/open-source implementations without algorithmic changes.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B3F2F-1A1A-40D4-A6B5-0B6516043AE4}"/>
              </a:ext>
            </a:extLst>
          </p:cNvPr>
          <p:cNvSpPr>
            <a:spLocks noGrp="1"/>
          </p:cNvSpPr>
          <p:nvPr/>
        </p:nvSpPr>
        <p:spPr>
          <a:xfrm>
            <a:off x="1019175" y="3409950"/>
            <a:ext cx="9525" cy="26670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0B7E01-CBA3-4C68-80DA-31316E855FBB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590550" cy="590550"/>
          </a:xfrm>
          <a:prstGeom prst="rect">
            <a:avLst/>
          </a:prstGeom>
          <a:solidFill>
            <a:srgbClr val="DCE8FA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B9935C-614C-45D8-BBC2-0006A3CD5621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59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76B8E0-3FCD-453E-9581-2AC98D011090}"/>
              </a:ext>
            </a:extLst>
          </p:cNvPr>
          <p:cNvSpPr>
            <a:spLocks noGrp="1"/>
          </p:cNvSpPr>
          <p:nvPr/>
        </p:nvSpPr>
        <p:spPr>
          <a:xfrm>
            <a:off x="1562100" y="36766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Controlled environment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2131A4-8A1F-40C0-B23C-E0AFBFA01A39}"/>
              </a:ext>
            </a:extLst>
          </p:cNvPr>
          <p:cNvSpPr>
            <a:spLocks noGrp="1"/>
          </p:cNvSpPr>
          <p:nvPr/>
        </p:nvSpPr>
        <p:spPr>
          <a:xfrm>
            <a:off x="1562100" y="396240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Same model, prompts, generation length, software stack, and baseline settings.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E9C26F-0FDE-48E3-89C2-0E2F258B1DCC}"/>
              </a:ext>
            </a:extLst>
          </p:cNvPr>
          <p:cNvSpPr>
            <a:spLocks noGrp="1"/>
          </p:cNvSpPr>
          <p:nvPr/>
        </p:nvSpPr>
        <p:spPr>
          <a:xfrm>
            <a:off x="1019175" y="4305300"/>
            <a:ext cx="9525" cy="26670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54AE8C-DE5C-4236-80FE-D6057D632615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590550" cy="590550"/>
          </a:xfrm>
          <a:prstGeom prst="rect">
            <a:avLst/>
          </a:prstGeom>
          <a:solidFill>
            <a:srgbClr val="DCEBE4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989A9B-DE0C-434F-B2D2-D386F751BDE4}"/>
              </a:ext>
            </a:extLst>
          </p:cNvPr>
          <p:cNvSpPr>
            <a:spLocks noGrp="1"/>
          </p:cNvSpPr>
          <p:nvPr/>
        </p:nvSpPr>
        <p:spPr>
          <a:xfrm>
            <a:off x="723900" y="4705350"/>
            <a:ext cx="590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631CAC-9C15-46A2-88C5-234CC38A871E}"/>
              </a:ext>
            </a:extLst>
          </p:cNvPr>
          <p:cNvSpPr>
            <a:spLocks noGrp="1"/>
          </p:cNvSpPr>
          <p:nvPr/>
        </p:nvSpPr>
        <p:spPr>
          <a:xfrm>
            <a:off x="1562100" y="45720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Threat surface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67A389-EED9-40E5-87E7-A66E15DA052B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4286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Robustness is tested with synonym substitution and word deletion attacks.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064930-D8C8-40D2-B54D-9BAF7881C81F}"/>
              </a:ext>
            </a:extLst>
          </p:cNvPr>
          <p:cNvSpPr>
            <a:spLocks noGrp="1"/>
          </p:cNvSpPr>
          <p:nvPr/>
        </p:nvSpPr>
        <p:spPr>
          <a:xfrm>
            <a:off x="6762750" y="1866900"/>
            <a:ext cx="4286250" cy="3162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1D96B6-AE5D-432E-9779-D1E0B9C0A7F6}"/>
              </a:ext>
            </a:extLst>
          </p:cNvPr>
          <p:cNvSpPr>
            <a:spLocks noGrp="1"/>
          </p:cNvSpPr>
          <p:nvPr/>
        </p:nvSpPr>
        <p:spPr>
          <a:xfrm>
            <a:off x="7029450" y="21145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four questions behind the deck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768968-1454-4676-9D22-0B9FD02915DC}"/>
              </a:ext>
            </a:extLst>
          </p:cNvPr>
          <p:cNvSpPr>
            <a:spLocks noGrp="1"/>
          </p:cNvSpPr>
          <p:nvPr/>
        </p:nvSpPr>
        <p:spPr>
          <a:xfrm>
            <a:off x="7067550" y="2657475"/>
            <a:ext cx="171450" cy="1714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F0A588-1440-4D4E-9F22-186F7D594AE4}"/>
              </a:ext>
            </a:extLst>
          </p:cNvPr>
          <p:cNvSpPr>
            <a:spLocks noGrp="1"/>
          </p:cNvSpPr>
          <p:nvPr/>
        </p:nvSpPr>
        <p:spPr>
          <a:xfrm>
            <a:off x="7391400" y="26289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Which method separates watermarked text more reliably under default settings?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48B2560-8223-480E-93A6-9C459270834E}"/>
              </a:ext>
            </a:extLst>
          </p:cNvPr>
          <p:cNvSpPr>
            <a:spLocks noGrp="1"/>
          </p:cNvSpPr>
          <p:nvPr/>
        </p:nvSpPr>
        <p:spPr>
          <a:xfrm>
            <a:off x="7067550" y="3209925"/>
            <a:ext cx="171450" cy="1714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96D380-F553-4FFD-8A12-1DAE4333BE1E}"/>
              </a:ext>
            </a:extLst>
          </p:cNvPr>
          <p:cNvSpPr>
            <a:spLocks noGrp="1"/>
          </p:cNvSpPr>
          <p:nvPr/>
        </p:nvSpPr>
        <p:spPr>
          <a:xfrm>
            <a:off x="7391400" y="31813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How much does watermarking change text fluency and predictability?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236021-6827-4E03-9C08-B3A71600B2BC}"/>
              </a:ext>
            </a:extLst>
          </p:cNvPr>
          <p:cNvSpPr>
            <a:spLocks noGrp="1"/>
          </p:cNvSpPr>
          <p:nvPr/>
        </p:nvSpPr>
        <p:spPr>
          <a:xfrm>
            <a:off x="7067550" y="3762375"/>
            <a:ext cx="171450" cy="1714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628651-C0B1-4E91-BB83-705AECF40364}"/>
              </a:ext>
            </a:extLst>
          </p:cNvPr>
          <p:cNvSpPr>
            <a:spLocks noGrp="1"/>
          </p:cNvSpPr>
          <p:nvPr/>
        </p:nvSpPr>
        <p:spPr>
          <a:xfrm>
            <a:off x="7391400" y="373380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Which parameters control the KGW and EXP tradeoffs?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D15C0C-658B-4917-9E6E-AD0DAF24FF21}"/>
              </a:ext>
            </a:extLst>
          </p:cNvPr>
          <p:cNvSpPr>
            <a:spLocks noGrp="1"/>
          </p:cNvSpPr>
          <p:nvPr/>
        </p:nvSpPr>
        <p:spPr>
          <a:xfrm>
            <a:off x="7067550" y="4314825"/>
            <a:ext cx="171450" cy="1714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28AC75-02A6-4C87-96BA-3D1B206AE066}"/>
              </a:ext>
            </a:extLst>
          </p:cNvPr>
          <p:cNvSpPr>
            <a:spLocks noGrp="1"/>
          </p:cNvSpPr>
          <p:nvPr/>
        </p:nvSpPr>
        <p:spPr>
          <a:xfrm>
            <a:off x="7391400" y="4286250"/>
            <a:ext cx="304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remains detectable after word-level tampering?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8A64D1-375C-4AC5-BD40-8B67C1A38A48}"/>
              </a:ext>
            </a:extLst>
          </p:cNvPr>
          <p:cNvSpPr>
            <a:spLocks noGrp="1"/>
          </p:cNvSpPr>
          <p:nvPr/>
        </p:nvSpPr>
        <p:spPr>
          <a:xfrm>
            <a:off x="6762750" y="5314950"/>
            <a:ext cx="38100" cy="609600"/>
          </a:xfrm>
          <a:prstGeom prst="rect">
            <a:avLst/>
          </a:prstGeom>
          <a:solidFill>
            <a:srgbClr val="B789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77A5228-BB21-43A9-8C2F-C90811867757}"/>
              </a:ext>
            </a:extLst>
          </p:cNvPr>
          <p:cNvSpPr>
            <a:spLocks noGrp="1"/>
          </p:cNvSpPr>
          <p:nvPr/>
        </p:nvSpPr>
        <p:spPr>
          <a:xfrm>
            <a:off x="6915150" y="5391150"/>
            <a:ext cx="405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Design implication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17BC47-519F-4411-8EF0-152FB1EE248F}"/>
              </a:ext>
            </a:extLst>
          </p:cNvPr>
          <p:cNvSpPr>
            <a:spLocks noGrp="1"/>
          </p:cNvSpPr>
          <p:nvPr/>
        </p:nvSpPr>
        <p:spPr>
          <a:xfrm>
            <a:off x="6915150" y="5638800"/>
            <a:ext cx="4057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The evaluation lens is defined before results are shown, so later verdicts stay tied to explicit metrics.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ED81F4-5035-4D59-A06E-DA58023535E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6249AC7-C212-4B86-873D-90928382ABC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Sections 2.1-2.3 and 4.1.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2E7F06F-4ADE-429A-A7A0-823E5320893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73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C038C7C-5DBD-4A0C-8634-6742120456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234A6961-038A-45B3-AA71-4A37087B9A6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C3A54F8F-F743-4A72-AF76-A7DFEED88211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494EAF-41A8-4C9E-9B1D-FCBB06989B8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Three metrics define whether a watermark is useful for IP protection.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7D08B2-2FCC-46F5-B23C-FE0C3D70867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A240F0B-B9AE-4CFE-AE61-F3C27CF9E260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31432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E56EE4-2553-4AB2-8F14-4AC0A191E23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3143250" cy="7620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AF5E3A-2730-49C0-9098-29994FC13BE1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495300" cy="49530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DABE04-1CB8-45EE-A6B0-7EC8163EE213}"/>
              </a:ext>
            </a:extLst>
          </p:cNvPr>
          <p:cNvSpPr>
            <a:spLocks noGrp="1"/>
          </p:cNvSpPr>
          <p:nvPr/>
        </p:nvSpPr>
        <p:spPr>
          <a:xfrm>
            <a:off x="914400" y="23526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0FFEB6-AE6E-4C47-895C-72F3DD6BB622}"/>
              </a:ext>
            </a:extLst>
          </p:cNvPr>
          <p:cNvSpPr>
            <a:spLocks noGrp="1"/>
          </p:cNvSpPr>
          <p:nvPr/>
        </p:nvSpPr>
        <p:spPr>
          <a:xfrm>
            <a:off x="1562100" y="2266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Effectiveness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BA48BD-C098-49E5-ACD2-DB1059096DE7}"/>
              </a:ext>
            </a:extLst>
          </p:cNvPr>
          <p:cNvSpPr>
            <a:spLocks noGrp="1"/>
          </p:cNvSpPr>
          <p:nvPr/>
        </p:nvSpPr>
        <p:spPr>
          <a:xfrm>
            <a:off x="1562100" y="2571750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Can the detector identify watermarked text while avoiding false alarms?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B05772-1D8D-4A58-9CEC-9CAB6EAD606A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22C1A9-9A16-4EED-9C4E-B2C7F4E9E0A1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66675" cy="66675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22CF91-9590-4268-BECF-74B06B90A7C4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= correctly detected watermarked texts / all watermarked texts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39403B-38EF-4775-826E-C2562B8D9B26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66675" cy="66675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715F07-6353-4521-B874-5BA97204799D}"/>
              </a:ext>
            </a:extLst>
          </p:cNvPr>
          <p:cNvSpPr>
            <a:spLocks noGrp="1"/>
          </p:cNvSpPr>
          <p:nvPr/>
        </p:nvSpPr>
        <p:spPr>
          <a:xfrm>
            <a:off x="1143000" y="3867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FPR on natural text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298B42-657F-4F76-BB69-5631174D7DDF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66675" cy="66675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221EF9-C848-466A-A36E-5E53D7DAC2BD}"/>
              </a:ext>
            </a:extLst>
          </p:cNvPr>
          <p:cNvSpPr>
            <a:spLocks noGrp="1"/>
          </p:cNvSpPr>
          <p:nvPr/>
        </p:nvSpPr>
        <p:spPr>
          <a:xfrm>
            <a:off x="1143000" y="43243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Score separation: z-score for KGW, p-value for EXP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0D80C76-0A69-4C89-A2C5-AA205EDC62EE}"/>
              </a:ext>
            </a:extLst>
          </p:cNvPr>
          <p:cNvSpPr>
            <a:spLocks noGrp="1"/>
          </p:cNvSpPr>
          <p:nvPr/>
        </p:nvSpPr>
        <p:spPr>
          <a:xfrm>
            <a:off x="4343400" y="1962150"/>
            <a:ext cx="31432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5E5AAA-DEAA-49C6-9196-A5BB8BFAA326}"/>
              </a:ext>
            </a:extLst>
          </p:cNvPr>
          <p:cNvSpPr>
            <a:spLocks noGrp="1"/>
          </p:cNvSpPr>
          <p:nvPr/>
        </p:nvSpPr>
        <p:spPr>
          <a:xfrm>
            <a:off x="4343400" y="1962150"/>
            <a:ext cx="3143250" cy="7620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296628-5034-411E-846D-A4204765B791}"/>
              </a:ext>
            </a:extLst>
          </p:cNvPr>
          <p:cNvSpPr>
            <a:spLocks noGrp="1"/>
          </p:cNvSpPr>
          <p:nvPr/>
        </p:nvSpPr>
        <p:spPr>
          <a:xfrm>
            <a:off x="4572000" y="2247900"/>
            <a:ext cx="495300" cy="495300"/>
          </a:xfrm>
          <a:prstGeom prst="rect">
            <a:avLst/>
          </a:prstGeom>
          <a:solidFill>
            <a:srgbClr val="DCEBE4"/>
          </a:solidFill>
          <a:ln w="9525">
            <a:solidFill>
              <a:srgbClr val="26705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C31FDB-7106-4E2D-A147-E4110115951B}"/>
              </a:ext>
            </a:extLst>
          </p:cNvPr>
          <p:cNvSpPr>
            <a:spLocks noGrp="1"/>
          </p:cNvSpPr>
          <p:nvPr/>
        </p:nvSpPr>
        <p:spPr>
          <a:xfrm>
            <a:off x="4572000" y="23526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3FF8C7-D594-48C7-B35D-C82ED2A395F5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Imperceptibility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863647-FBDD-4B03-8A6D-A3EAC7F40A96}"/>
              </a:ext>
            </a:extLst>
          </p:cNvPr>
          <p:cNvSpPr>
            <a:spLocks noGrp="1"/>
          </p:cNvSpPr>
          <p:nvPr/>
        </p:nvSpPr>
        <p:spPr>
          <a:xfrm>
            <a:off x="5219700" y="2571750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Does embedding preserve fluency, coherence, and naturalness?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DD3C2A-4F19-47CA-AC92-19A8344963CB}"/>
              </a:ext>
            </a:extLst>
          </p:cNvPr>
          <p:cNvSpPr>
            <a:spLocks noGrp="1"/>
          </p:cNvSpPr>
          <p:nvPr/>
        </p:nvSpPr>
        <p:spPr>
          <a:xfrm>
            <a:off x="4572000" y="31813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B62684-9F6A-4B7A-87F9-F39A9BCDA695}"/>
              </a:ext>
            </a:extLst>
          </p:cNvPr>
          <p:cNvSpPr>
            <a:spLocks noGrp="1"/>
          </p:cNvSpPr>
          <p:nvPr/>
        </p:nvSpPr>
        <p:spPr>
          <a:xfrm>
            <a:off x="4610100" y="3467100"/>
            <a:ext cx="66675" cy="66675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DD8F8C2-75DC-4480-98E0-2FF1A5DA4EF6}"/>
              </a:ext>
            </a:extLst>
          </p:cNvPr>
          <p:cNvSpPr>
            <a:spLocks noGrp="1"/>
          </p:cNvSpPr>
          <p:nvPr/>
        </p:nvSpPr>
        <p:spPr>
          <a:xfrm>
            <a:off x="4800600" y="34099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measures output predictability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27E4B2-7004-4A1A-A6C5-16E4CB62F3F4}"/>
              </a:ext>
            </a:extLst>
          </p:cNvPr>
          <p:cNvSpPr>
            <a:spLocks noGrp="1"/>
          </p:cNvSpPr>
          <p:nvPr/>
        </p:nvSpPr>
        <p:spPr>
          <a:xfrm>
            <a:off x="4610100" y="3924300"/>
            <a:ext cx="66675" cy="66675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618BE16-4783-4552-ABD6-DB583B6E61F1}"/>
              </a:ext>
            </a:extLst>
          </p:cNvPr>
          <p:cNvSpPr>
            <a:spLocks noGrp="1"/>
          </p:cNvSpPr>
          <p:nvPr/>
        </p:nvSpPr>
        <p:spPr>
          <a:xfrm>
            <a:off x="4800600" y="3867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Delta PPL = PPL watermarked - PPL original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5FBC5FC-A2CA-4B21-8BED-140DADD15399}"/>
              </a:ext>
            </a:extLst>
          </p:cNvPr>
          <p:cNvSpPr>
            <a:spLocks noGrp="1"/>
          </p:cNvSpPr>
          <p:nvPr/>
        </p:nvSpPr>
        <p:spPr>
          <a:xfrm>
            <a:off x="4610100" y="4381500"/>
            <a:ext cx="66675" cy="66675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444C33-D023-4E40-810B-AF1432BBFFF7}"/>
              </a:ext>
            </a:extLst>
          </p:cNvPr>
          <p:cNvSpPr>
            <a:spLocks noGrp="1"/>
          </p:cNvSpPr>
          <p:nvPr/>
        </p:nvSpPr>
        <p:spPr>
          <a:xfrm>
            <a:off x="4800600" y="43243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Stability under parameter changes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711F2-6780-45C5-BF4C-95297F33D795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31432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A452BDB-DD23-4B93-801A-1C1880A4AF42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3143250" cy="7620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9AA744-8164-4B04-B2FC-DF3F2D5B667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495300" cy="495300"/>
          </a:xfrm>
          <a:prstGeom prst="rect">
            <a:avLst/>
          </a:prstGeom>
          <a:solidFill>
            <a:srgbClr val="F5DED7"/>
          </a:solidFill>
          <a:ln w="9525">
            <a:solidFill>
              <a:srgbClr val="C7634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6A8B54-E9E2-480D-9E1B-54EC69AC8D60}"/>
              </a:ext>
            </a:extLst>
          </p:cNvPr>
          <p:cNvSpPr>
            <a:spLocks noGrp="1"/>
          </p:cNvSpPr>
          <p:nvPr/>
        </p:nvSpPr>
        <p:spPr>
          <a:xfrm>
            <a:off x="8229600" y="2352675"/>
            <a:ext cx="495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E735C9-514A-4AB9-B41B-F174665D7533}"/>
              </a:ext>
            </a:extLst>
          </p:cNvPr>
          <p:cNvSpPr>
            <a:spLocks noGrp="1"/>
          </p:cNvSpPr>
          <p:nvPr/>
        </p:nvSpPr>
        <p:spPr>
          <a:xfrm>
            <a:off x="8877300" y="22669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3B6E60-39B0-4D20-9746-9C9A13B5DA15}"/>
              </a:ext>
            </a:extLst>
          </p:cNvPr>
          <p:cNvSpPr>
            <a:spLocks noGrp="1"/>
          </p:cNvSpPr>
          <p:nvPr/>
        </p:nvSpPr>
        <p:spPr>
          <a:xfrm>
            <a:off x="8877300" y="2571750"/>
            <a:ext cx="200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Does the signal remain detectable after realistic text edits?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6A2060-DD94-44B2-B22C-D82EC9BBA231}"/>
              </a:ext>
            </a:extLst>
          </p:cNvPr>
          <p:cNvSpPr>
            <a:spLocks noGrp="1"/>
          </p:cNvSpPr>
          <p:nvPr/>
        </p:nvSpPr>
        <p:spPr>
          <a:xfrm>
            <a:off x="8229600" y="31813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DC4854-23D3-4D38-A8C1-D390271FA572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66675" cy="66675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5E4F744-E6E4-4817-AD92-5235F92A1F9C}"/>
              </a:ext>
            </a:extLst>
          </p:cNvPr>
          <p:cNvSpPr>
            <a:spLocks noGrp="1"/>
          </p:cNvSpPr>
          <p:nvPr/>
        </p:nvSpPr>
        <p:spPr>
          <a:xfrm>
            <a:off x="8458200" y="34099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attack after tampering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73821BC-F9B4-41CF-B2C8-B5A318AA9CD3}"/>
              </a:ext>
            </a:extLst>
          </p:cNvPr>
          <p:cNvSpPr>
            <a:spLocks noGrp="1"/>
          </p:cNvSpPr>
          <p:nvPr/>
        </p:nvSpPr>
        <p:spPr>
          <a:xfrm>
            <a:off x="8267700" y="3924300"/>
            <a:ext cx="66675" cy="66675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CCF5FDA-BBED-4B17-8E93-4E2858E90BAF}"/>
              </a:ext>
            </a:extLst>
          </p:cNvPr>
          <p:cNvSpPr>
            <a:spLocks noGrp="1"/>
          </p:cNvSpPr>
          <p:nvPr/>
        </p:nvSpPr>
        <p:spPr>
          <a:xfrm>
            <a:off x="8458200" y="3867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 coefficient = TPR attack / TPR no attack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8583E7-3D76-46AD-8CC7-69DAA9E8D6A8}"/>
              </a:ext>
            </a:extLst>
          </p:cNvPr>
          <p:cNvSpPr>
            <a:spLocks noGrp="1"/>
          </p:cNvSpPr>
          <p:nvPr/>
        </p:nvSpPr>
        <p:spPr>
          <a:xfrm>
            <a:off x="8267700" y="4381500"/>
            <a:ext cx="66675" cy="66675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68FF862-C767-4E28-92A5-F610417A16A3}"/>
              </a:ext>
            </a:extLst>
          </p:cNvPr>
          <p:cNvSpPr>
            <a:spLocks noGrp="1"/>
          </p:cNvSpPr>
          <p:nvPr/>
        </p:nvSpPr>
        <p:spPr>
          <a:xfrm>
            <a:off x="8458200" y="43243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Attacks: Word-S and Word-D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2D535AA-EEC3-4013-82E3-6F6447477201}"/>
              </a:ext>
            </a:extLst>
          </p:cNvPr>
          <p:cNvSpPr>
            <a:spLocks noGrp="1"/>
          </p:cNvSpPr>
          <p:nvPr/>
        </p:nvSpPr>
        <p:spPr>
          <a:xfrm>
            <a:off x="704850" y="5448300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deck uses these metrics as the fixed reading order before moving into results.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645C94D-D922-465A-9DC3-0EE30DFA70F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BD821E8-5CFE-4052-8106-4A84870EC68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Section 2.3.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2BEA0EB-AF35-4EFD-9B10-0469F52C1A8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452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D0F6164D-9C5F-41F2-875C-C7C52BEEA0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02A8B491-09D1-46D6-8E0B-226244C4794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DF8CF5FC-BE83-4DBA-95C8-86FD7A599983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PROTOCOL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B9D97A-DEB1-4FC4-B3F7-9F71C66C44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experiment pairs natural and watermarked outputs before attack testing.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251A99-8A01-4AB8-972A-DEC1E037B62F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D9352B-49A4-4098-B56C-EC8747FE3155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DE9C97-3537-4DAD-AF82-5D06401D818B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314450" cy="571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1CF237-C8A1-4CB8-903D-13C5907F2B94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 news prompts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A64A25-7E8A-4766-9BDD-B29619C65EC4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Diverse topical domains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2DA965-7CA3-48B1-8860-008AD5CF95F1}"/>
              </a:ext>
            </a:extLst>
          </p:cNvPr>
          <p:cNvSpPr>
            <a:spLocks noGrp="1"/>
          </p:cNvSpPr>
          <p:nvPr/>
        </p:nvSpPr>
        <p:spPr>
          <a:xfrm>
            <a:off x="2133600" y="2724150"/>
            <a:ext cx="2667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D5AB21-7314-410D-833C-45D54E6068C0}"/>
              </a:ext>
            </a:extLst>
          </p:cNvPr>
          <p:cNvSpPr>
            <a:spLocks noGrp="1"/>
          </p:cNvSpPr>
          <p:nvPr/>
        </p:nvSpPr>
        <p:spPr>
          <a:xfrm>
            <a:off x="2400300" y="2686050"/>
            <a:ext cx="76200" cy="952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43BCEB-4FE9-49D7-9D95-755296722536}"/>
              </a:ext>
            </a:extLst>
          </p:cNvPr>
          <p:cNvSpPr>
            <a:spLocks noGrp="1"/>
          </p:cNvSpPr>
          <p:nvPr/>
        </p:nvSpPr>
        <p:spPr>
          <a:xfrm>
            <a:off x="24765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AF2488-BBAF-4161-B3FE-39914EDD2616}"/>
              </a:ext>
            </a:extLst>
          </p:cNvPr>
          <p:cNvSpPr>
            <a:spLocks noGrp="1"/>
          </p:cNvSpPr>
          <p:nvPr/>
        </p:nvSpPr>
        <p:spPr>
          <a:xfrm>
            <a:off x="2476500" y="2171700"/>
            <a:ext cx="1314450" cy="571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824143-F90E-4F3B-9AAE-0EC2D070D2A9}"/>
              </a:ext>
            </a:extLst>
          </p:cNvPr>
          <p:cNvSpPr>
            <a:spLocks noGrp="1"/>
          </p:cNvSpPr>
          <p:nvPr/>
        </p:nvSpPr>
        <p:spPr>
          <a:xfrm>
            <a:off x="26098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Qwen2.5-1.5B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639166-C95C-4337-9722-444BD57E0DA9}"/>
              </a:ext>
            </a:extLst>
          </p:cNvPr>
          <p:cNvSpPr>
            <a:spLocks noGrp="1"/>
          </p:cNvSpPr>
          <p:nvPr/>
        </p:nvSpPr>
        <p:spPr>
          <a:xfrm>
            <a:off x="26098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Instruct model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709EA7-0D0B-4D0E-89B0-E4FF11528C67}"/>
              </a:ext>
            </a:extLst>
          </p:cNvPr>
          <p:cNvSpPr>
            <a:spLocks noGrp="1"/>
          </p:cNvSpPr>
          <p:nvPr/>
        </p:nvSpPr>
        <p:spPr>
          <a:xfrm>
            <a:off x="3886200" y="2724150"/>
            <a:ext cx="2667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67F9C6-37C4-4130-9952-8506925E7BF5}"/>
              </a:ext>
            </a:extLst>
          </p:cNvPr>
          <p:cNvSpPr>
            <a:spLocks noGrp="1"/>
          </p:cNvSpPr>
          <p:nvPr/>
        </p:nvSpPr>
        <p:spPr>
          <a:xfrm>
            <a:off x="4152900" y="2686050"/>
            <a:ext cx="76200" cy="952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2FD0C0-BD07-45E9-9684-6498B46506FE}"/>
              </a:ext>
            </a:extLst>
          </p:cNvPr>
          <p:cNvSpPr>
            <a:spLocks noGrp="1"/>
          </p:cNvSpPr>
          <p:nvPr/>
        </p:nvSpPr>
        <p:spPr>
          <a:xfrm>
            <a:off x="42291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C25582-EB00-4F02-8F90-F08FC971946F}"/>
              </a:ext>
            </a:extLst>
          </p:cNvPr>
          <p:cNvSpPr>
            <a:spLocks noGrp="1"/>
          </p:cNvSpPr>
          <p:nvPr/>
        </p:nvSpPr>
        <p:spPr>
          <a:xfrm>
            <a:off x="4229100" y="2171700"/>
            <a:ext cx="1314450" cy="571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E3A3A5-26D3-4ADA-8A51-86A3D509C4DE}"/>
              </a:ext>
            </a:extLst>
          </p:cNvPr>
          <p:cNvSpPr>
            <a:spLocks noGrp="1"/>
          </p:cNvSpPr>
          <p:nvPr/>
        </p:nvSpPr>
        <p:spPr>
          <a:xfrm>
            <a:off x="43624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200-token generation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AEE818-CD81-46EF-AD55-5D8DCD3BA472}"/>
              </a:ext>
            </a:extLst>
          </p:cNvPr>
          <p:cNvSpPr>
            <a:spLocks noGrp="1"/>
          </p:cNvSpPr>
          <p:nvPr/>
        </p:nvSpPr>
        <p:spPr>
          <a:xfrm>
            <a:off x="43624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Natural + watermarked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2BEB6C-6AD4-4178-A534-551B0C7E21D5}"/>
              </a:ext>
            </a:extLst>
          </p:cNvPr>
          <p:cNvSpPr>
            <a:spLocks noGrp="1"/>
          </p:cNvSpPr>
          <p:nvPr/>
        </p:nvSpPr>
        <p:spPr>
          <a:xfrm>
            <a:off x="5638800" y="2724150"/>
            <a:ext cx="2667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2FA69F-8197-487E-96ED-3968133F6A6A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76200" cy="952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39A4526-AB90-4E47-A95A-47272EBB525A}"/>
              </a:ext>
            </a:extLst>
          </p:cNvPr>
          <p:cNvSpPr>
            <a:spLocks noGrp="1"/>
          </p:cNvSpPr>
          <p:nvPr/>
        </p:nvSpPr>
        <p:spPr>
          <a:xfrm>
            <a:off x="59817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765773-67E3-40A8-A6C7-0772C70BCEF0}"/>
              </a:ext>
            </a:extLst>
          </p:cNvPr>
          <p:cNvSpPr>
            <a:spLocks noGrp="1"/>
          </p:cNvSpPr>
          <p:nvPr/>
        </p:nvSpPr>
        <p:spPr>
          <a:xfrm>
            <a:off x="5981700" y="2171700"/>
            <a:ext cx="1314450" cy="571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DF7A95-ADA9-49AA-807B-5606FCB7BC5A}"/>
              </a:ext>
            </a:extLst>
          </p:cNvPr>
          <p:cNvSpPr>
            <a:spLocks noGrp="1"/>
          </p:cNvSpPr>
          <p:nvPr/>
        </p:nvSpPr>
        <p:spPr>
          <a:xfrm>
            <a:off x="61150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Detector pass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E6E072-1F91-4D7B-AE8D-EE55CF2915B0}"/>
              </a:ext>
            </a:extLst>
          </p:cNvPr>
          <p:cNvSpPr>
            <a:spLocks noGrp="1"/>
          </p:cNvSpPr>
          <p:nvPr/>
        </p:nvSpPr>
        <p:spPr>
          <a:xfrm>
            <a:off x="61150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TPR, FPR, score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A627DE-17E9-481E-BA60-28571E2FAB9C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2667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F20BA9-9520-476C-88CD-A37B561BB59C}"/>
              </a:ext>
            </a:extLst>
          </p:cNvPr>
          <p:cNvSpPr>
            <a:spLocks noGrp="1"/>
          </p:cNvSpPr>
          <p:nvPr/>
        </p:nvSpPr>
        <p:spPr>
          <a:xfrm>
            <a:off x="7658100" y="2686050"/>
            <a:ext cx="76200" cy="952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6EF2D7-BF24-4A9C-BCF5-DE500B181B21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16EA10-62E9-46BD-A43B-CF8AC95E958E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1314450" cy="571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01CB513-3427-412F-A8E3-8E060D35B7DE}"/>
              </a:ext>
            </a:extLst>
          </p:cNvPr>
          <p:cNvSpPr>
            <a:spLocks noGrp="1"/>
          </p:cNvSpPr>
          <p:nvPr/>
        </p:nvSpPr>
        <p:spPr>
          <a:xfrm>
            <a:off x="78676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Word-level attacks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A08AEB-B63B-4142-A732-A31FB5035AB7}"/>
              </a:ext>
            </a:extLst>
          </p:cNvPr>
          <p:cNvSpPr>
            <a:spLocks noGrp="1"/>
          </p:cNvSpPr>
          <p:nvPr/>
        </p:nvSpPr>
        <p:spPr>
          <a:xfrm>
            <a:off x="78676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Word-S and Word-D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94D147-FFEB-4E8C-87C8-9BAB560AC3CB}"/>
              </a:ext>
            </a:extLst>
          </p:cNvPr>
          <p:cNvSpPr>
            <a:spLocks noGrp="1"/>
          </p:cNvSpPr>
          <p:nvPr/>
        </p:nvSpPr>
        <p:spPr>
          <a:xfrm>
            <a:off x="9144000" y="2724150"/>
            <a:ext cx="2667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3693607-B42D-4BDB-A7D8-3F9A61CFF6F0}"/>
              </a:ext>
            </a:extLst>
          </p:cNvPr>
          <p:cNvSpPr>
            <a:spLocks noGrp="1"/>
          </p:cNvSpPr>
          <p:nvPr/>
        </p:nvSpPr>
        <p:spPr>
          <a:xfrm>
            <a:off x="9410700" y="2686050"/>
            <a:ext cx="76200" cy="952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3F6A9A9-29E7-430A-AE4B-8333A23100DF}"/>
              </a:ext>
            </a:extLst>
          </p:cNvPr>
          <p:cNvSpPr>
            <a:spLocks noGrp="1"/>
          </p:cNvSpPr>
          <p:nvPr/>
        </p:nvSpPr>
        <p:spPr>
          <a:xfrm>
            <a:off x="9486900" y="2171700"/>
            <a:ext cx="1314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A76155E-23D2-4952-AD60-562644BD9474}"/>
              </a:ext>
            </a:extLst>
          </p:cNvPr>
          <p:cNvSpPr>
            <a:spLocks noGrp="1"/>
          </p:cNvSpPr>
          <p:nvPr/>
        </p:nvSpPr>
        <p:spPr>
          <a:xfrm>
            <a:off x="9486900" y="2171700"/>
            <a:ext cx="1314450" cy="571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9F0AE4-177D-4CB8-AB97-8A5AE21C3848}"/>
              </a:ext>
            </a:extLst>
          </p:cNvPr>
          <p:cNvSpPr>
            <a:spLocks noGrp="1"/>
          </p:cNvSpPr>
          <p:nvPr/>
        </p:nvSpPr>
        <p:spPr>
          <a:xfrm>
            <a:off x="9620250" y="2400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Metric readout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DCAC093-CDEE-4AA6-810B-EB43A5B86AE0}"/>
              </a:ext>
            </a:extLst>
          </p:cNvPr>
          <p:cNvSpPr>
            <a:spLocks noGrp="1"/>
          </p:cNvSpPr>
          <p:nvPr/>
        </p:nvSpPr>
        <p:spPr>
          <a:xfrm>
            <a:off x="9620250" y="2800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PPL and robustness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4B93A4-6994-4835-A649-E41E8015B3F6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4724400" cy="1295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8B49C91-C98A-4172-9FBB-72B8A2641496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Default method settings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5B21416-32C1-47AE-B16E-38277C151DC5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704850" cy="266700"/>
          </a:xfrm>
          <a:prstGeom prst="rect">
            <a:avLst/>
          </a:prstGeom>
          <a:solidFill>
            <a:srgbClr val="DCEBE4"/>
          </a:solidFill>
          <a:ln w="9525">
            <a:solidFill>
              <a:srgbClr val="26705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A90B450-BF5C-4FBE-8B2C-75B9C1BBAEDF}"/>
              </a:ext>
            </a:extLst>
          </p:cNvPr>
          <p:cNvSpPr>
            <a:spLocks noGrp="1"/>
          </p:cNvSpPr>
          <p:nvPr/>
        </p:nvSpPr>
        <p:spPr>
          <a:xfrm>
            <a:off x="1085850" y="461962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AF0AAD-5BB6-4D44-B07A-51A2D2A2606D}"/>
              </a:ext>
            </a:extLst>
          </p:cNvPr>
          <p:cNvSpPr>
            <a:spLocks noGrp="1"/>
          </p:cNvSpPr>
          <p:nvPr/>
        </p:nvSpPr>
        <p:spPr>
          <a:xfrm>
            <a:off x="1847850" y="45910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gamma = 0.5, delta = 1.0, z-threshold = 4.0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ACF39C5-8164-4421-ABAB-9E2507E67EFA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704850" cy="26670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4212EB-2D28-4AD1-A263-3D4C0C5D068B}"/>
              </a:ext>
            </a:extLst>
          </p:cNvPr>
          <p:cNvSpPr>
            <a:spLocks noGrp="1"/>
          </p:cNvSpPr>
          <p:nvPr/>
        </p:nvSpPr>
        <p:spPr>
          <a:xfrm>
            <a:off x="1085850" y="494347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66C1E88-492B-4DCA-9839-E2686E119254}"/>
              </a:ext>
            </a:extLst>
          </p:cNvPr>
          <p:cNvSpPr>
            <a:spLocks noGrp="1"/>
          </p:cNvSpPr>
          <p:nvPr/>
        </p:nvSpPr>
        <p:spPr>
          <a:xfrm>
            <a:off x="1847850" y="491490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 = 4, detection threshold tau = 1e-6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DC3E4D8-CDEB-4F08-BBF2-C63BA58D6A48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4572000" cy="1295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CE56839-F9E6-4810-8DD6-DF6E3D8264C6}"/>
              </a:ext>
            </a:extLst>
          </p:cNvPr>
          <p:cNvSpPr>
            <a:spLocks noGrp="1"/>
          </p:cNvSpPr>
          <p:nvPr/>
        </p:nvSpPr>
        <p:spPr>
          <a:xfrm>
            <a:off x="6267450" y="41719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Controlled comparison boundary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EDF37A9-12EC-45B3-AC1F-59CCA8B1B573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3752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Each condition uses the same prompt set and measurement frame; robustness is limited to two word-level paraphrasing attacks.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61F45F-B901-423A-90EE-F0CC5E5E5D7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4DE8BDD-0A8E-414D-B36C-A102444DEBB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Section 4.1.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0DA4594-B202-4296-86BE-8BC6D7E7B80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048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3249A55F-37F2-4EC0-B1F3-7215F734F6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BBFFD6B4-027A-4174-AE41-15335A884A3F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B1664366-8D8A-469A-AD84-7ADBD7085F09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E53515-F279-4EE1-A976-9683FC59ECA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EXP creates clearer baseline detection separation than KGW.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F975AF-FB10-4D8C-B097-F922CF0A106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4ACB28-79FF-42B2-8563-BF259C84FE5F}"/>
              </a:ext>
            </a:extLst>
          </p:cNvPr>
          <p:cNvSpPr>
            <a:spLocks noGrp="1"/>
          </p:cNvSpPr>
          <p:nvPr/>
        </p:nvSpPr>
        <p:spPr>
          <a:xfrm>
            <a:off x="1047750" y="4705350"/>
            <a:ext cx="3429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3D5871-6395-4BE4-9BF7-52E8772BA0D9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1276350" cy="213360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5E0DD3-A77D-47B2-8037-F513B9871867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DE7516-14A4-4AAE-92E1-D700CA35A7D5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1428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</a:t>
            </a:r>
          </a:p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TPR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4B6A5C-4B41-4E21-9B32-14DADB025849}"/>
              </a:ext>
            </a:extLst>
          </p:cNvPr>
          <p:cNvSpPr>
            <a:spLocks noGrp="1"/>
          </p:cNvSpPr>
          <p:nvPr/>
        </p:nvSpPr>
        <p:spPr>
          <a:xfrm>
            <a:off x="3200400" y="2998470"/>
            <a:ext cx="1276350" cy="170688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A56BEA-29CD-4A2D-AF44-56C648E22DE6}"/>
              </a:ext>
            </a:extLst>
          </p:cNvPr>
          <p:cNvSpPr>
            <a:spLocks noGrp="1"/>
          </p:cNvSpPr>
          <p:nvPr/>
        </p:nvSpPr>
        <p:spPr>
          <a:xfrm>
            <a:off x="3200400" y="2731770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E7734D-A017-4041-B7A9-2A8F7A3D7401}"/>
              </a:ext>
            </a:extLst>
          </p:cNvPr>
          <p:cNvSpPr>
            <a:spLocks noGrp="1"/>
          </p:cNvSpPr>
          <p:nvPr/>
        </p:nvSpPr>
        <p:spPr>
          <a:xfrm>
            <a:off x="3124200" y="4800600"/>
            <a:ext cx="1428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</a:t>
            </a:r>
          </a:p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TPR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D57E3F-726E-4CF9-B478-D139CEF44E6E}"/>
              </a:ext>
            </a:extLst>
          </p:cNvPr>
          <p:cNvSpPr>
            <a:spLocks noGrp="1"/>
          </p:cNvSpPr>
          <p:nvPr/>
        </p:nvSpPr>
        <p:spPr>
          <a:xfrm>
            <a:off x="1047750" y="21336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True positive rate under default settings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7A7098-85C0-4F83-87E4-7030A89E9720}"/>
              </a:ext>
            </a:extLst>
          </p:cNvPr>
          <p:cNvSpPr>
            <a:spLocks noGrp="1"/>
          </p:cNvSpPr>
          <p:nvPr/>
        </p:nvSpPr>
        <p:spPr>
          <a:xfrm>
            <a:off x="5219700" y="2247900"/>
            <a:ext cx="18669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75A3C3-AA5F-492C-845A-45EB98AC7277}"/>
              </a:ext>
            </a:extLst>
          </p:cNvPr>
          <p:cNvSpPr>
            <a:spLocks noGrp="1"/>
          </p:cNvSpPr>
          <p:nvPr/>
        </p:nvSpPr>
        <p:spPr>
          <a:xfrm>
            <a:off x="5372100" y="2381250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 FPR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6A4F73-952C-48B2-A701-05921008DCD4}"/>
              </a:ext>
            </a:extLst>
          </p:cNvPr>
          <p:cNvSpPr>
            <a:spLocks noGrp="1"/>
          </p:cNvSpPr>
          <p:nvPr/>
        </p:nvSpPr>
        <p:spPr>
          <a:xfrm>
            <a:off x="5372100" y="26098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0.000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F68F9E-ED7B-48DD-9D4F-800516219497}"/>
              </a:ext>
            </a:extLst>
          </p:cNvPr>
          <p:cNvSpPr>
            <a:spLocks noGrp="1"/>
          </p:cNvSpPr>
          <p:nvPr/>
        </p:nvSpPr>
        <p:spPr>
          <a:xfrm>
            <a:off x="5372100" y="2990850"/>
            <a:ext cx="1562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No natural sample is flagged.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18DA39-480B-4C6F-8198-5A5EF25F3B11}"/>
              </a:ext>
            </a:extLst>
          </p:cNvPr>
          <p:cNvSpPr>
            <a:spLocks noGrp="1"/>
          </p:cNvSpPr>
          <p:nvPr/>
        </p:nvSpPr>
        <p:spPr>
          <a:xfrm>
            <a:off x="5219700" y="3695700"/>
            <a:ext cx="186690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26705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1DD09D-8B6F-4C52-9880-F949A7F2F1E9}"/>
              </a:ext>
            </a:extLst>
          </p:cNvPr>
          <p:cNvSpPr>
            <a:spLocks noGrp="1"/>
          </p:cNvSpPr>
          <p:nvPr/>
        </p:nvSpPr>
        <p:spPr>
          <a:xfrm>
            <a:off x="5372100" y="3829050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KGW FPR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08B71D-02F8-4344-AA43-56C1EF32098B}"/>
              </a:ext>
            </a:extLst>
          </p:cNvPr>
          <p:cNvSpPr>
            <a:spLocks noGrp="1"/>
          </p:cNvSpPr>
          <p:nvPr/>
        </p:nvSpPr>
        <p:spPr>
          <a:xfrm>
            <a:off x="5372100" y="4057650"/>
            <a:ext cx="1562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6705A"/>
                </a:solidFill>
                <a:latin typeface="Aptos Display"/>
                <a:ea typeface="Aptos Display"/>
                <a:cs typeface="Aptos Display"/>
              </a:rPr>
              <a:t>0.000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50C511-2BC4-400A-9B9D-2F8F7A58F577}"/>
              </a:ext>
            </a:extLst>
          </p:cNvPr>
          <p:cNvSpPr>
            <a:spLocks noGrp="1"/>
          </p:cNvSpPr>
          <p:nvPr/>
        </p:nvSpPr>
        <p:spPr>
          <a:xfrm>
            <a:off x="5372100" y="4438650"/>
            <a:ext cx="1562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False positives are controlled in this sample.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04F4BF-D322-4F6E-B93E-73E95662E481}"/>
              </a:ext>
            </a:extLst>
          </p:cNvPr>
          <p:cNvSpPr>
            <a:spLocks noGrp="1"/>
          </p:cNvSpPr>
          <p:nvPr/>
        </p:nvSpPr>
        <p:spPr>
          <a:xfrm>
            <a:off x="7715250" y="2190750"/>
            <a:ext cx="38100" cy="87630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72FFEF-1159-4B2D-AD0E-6C90C15A9B48}"/>
              </a:ext>
            </a:extLst>
          </p:cNvPr>
          <p:cNvSpPr>
            <a:spLocks noGrp="1"/>
          </p:cNvSpPr>
          <p:nvPr/>
        </p:nvSpPr>
        <p:spPr>
          <a:xfrm>
            <a:off x="7867650" y="226695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EXP separation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4203D0-0F4A-4566-8AD7-98367D76E432}"/>
              </a:ext>
            </a:extLst>
          </p:cNvPr>
          <p:cNvSpPr>
            <a:spLocks noGrp="1"/>
          </p:cNvSpPr>
          <p:nvPr/>
        </p:nvSpPr>
        <p:spPr>
          <a:xfrm>
            <a:off x="7867650" y="2514600"/>
            <a:ext cx="2819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Watermarked p-values cluster near zero, with mean p-value reported around 1e-30.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F22EF4-5028-4D45-8AA7-4401AF33D313}"/>
              </a:ext>
            </a:extLst>
          </p:cNvPr>
          <p:cNvSpPr>
            <a:spLocks noGrp="1"/>
          </p:cNvSpPr>
          <p:nvPr/>
        </p:nvSpPr>
        <p:spPr>
          <a:xfrm>
            <a:off x="7715250" y="3371850"/>
            <a:ext cx="38100" cy="99060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E09556-0117-44BD-9C46-8789CE7A911E}"/>
              </a:ext>
            </a:extLst>
          </p:cNvPr>
          <p:cNvSpPr>
            <a:spLocks noGrp="1"/>
          </p:cNvSpPr>
          <p:nvPr/>
        </p:nvSpPr>
        <p:spPr>
          <a:xfrm>
            <a:off x="7867650" y="344805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KGW overlap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92BBFE-0BF4-4FD8-8412-B20AEE7612DB}"/>
              </a:ext>
            </a:extLst>
          </p:cNvPr>
          <p:cNvSpPr>
            <a:spLocks noGrp="1"/>
          </p:cNvSpPr>
          <p:nvPr/>
        </p:nvSpPr>
        <p:spPr>
          <a:xfrm>
            <a:off x="7867650" y="3695700"/>
            <a:ext cx="2819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Watermarked mean z-score is 0.80 versus -0.43 for natural text, leaving partial overlap.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2E49010-B09E-4689-BFAD-6004B22CD6B4}"/>
              </a:ext>
            </a:extLst>
          </p:cNvPr>
          <p:cNvSpPr>
            <a:spLocks noGrp="1"/>
          </p:cNvSpPr>
          <p:nvPr/>
        </p:nvSpPr>
        <p:spPr>
          <a:xfrm>
            <a:off x="7734300" y="47244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7D238-AF8A-479E-89A8-F0D4BF2A0F16}"/>
              </a:ext>
            </a:extLst>
          </p:cNvPr>
          <p:cNvSpPr>
            <a:spLocks noGrp="1"/>
          </p:cNvSpPr>
          <p:nvPr/>
        </p:nvSpPr>
        <p:spPr>
          <a:xfrm>
            <a:off x="7734300" y="5010150"/>
            <a:ext cx="2914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Both methods avoid false positives here, but EXP produces a much stronger statistical separation under benign conditions.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E9E3B1-6963-4EAD-B87C-103A4715D48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00EB8F6-70EE-44CB-A693-84B6EB3645A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Table 2 and Figures 4-5.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C3B6FB-67A6-4751-86D5-DE81EC2AC10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854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ED8A9E8E-8931-4B40-AA84-09657DE27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D48CFAFC-E145-4284-ADA7-FBF30F7FEEC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91A75440-F648-49DF-B087-928791554A52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A6B66C-217F-4AC9-85C6-B9C748CEBF1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Lower PPL improves fluency, but also signals reduced lexical diversity.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5A6B56-70C5-46C3-8048-6F3E7FACC25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39BE65-7A02-49C7-AD9F-B4535BF2036D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Mean perplexity, lower is more predictable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836E91-4729-49F2-A215-D6D053F51494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B2F68D-0CD8-41BD-865D-D1EDBD6454B3}"/>
              </a:ext>
            </a:extLst>
          </p:cNvPr>
          <p:cNvSpPr>
            <a:spLocks noGrp="1"/>
          </p:cNvSpPr>
          <p:nvPr/>
        </p:nvSpPr>
        <p:spPr>
          <a:xfrm>
            <a:off x="2686050" y="260985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53B106-A88F-4EE6-A751-E49AAC977C7C}"/>
              </a:ext>
            </a:extLst>
          </p:cNvPr>
          <p:cNvSpPr>
            <a:spLocks noGrp="1"/>
          </p:cNvSpPr>
          <p:nvPr/>
        </p:nvSpPr>
        <p:spPr>
          <a:xfrm>
            <a:off x="2686050" y="2505075"/>
            <a:ext cx="964353" cy="2095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9098F4-33EF-42ED-AF62-D3E6E99028B7}"/>
              </a:ext>
            </a:extLst>
          </p:cNvPr>
          <p:cNvSpPr>
            <a:spLocks noGrp="1"/>
          </p:cNvSpPr>
          <p:nvPr/>
        </p:nvSpPr>
        <p:spPr>
          <a:xfrm>
            <a:off x="3745653" y="25146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5.36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FDEA49-61D7-40E5-9574-0A14A1A9A3F7}"/>
              </a:ext>
            </a:extLst>
          </p:cNvPr>
          <p:cNvSpPr>
            <a:spLocks noGrp="1"/>
          </p:cNvSpPr>
          <p:nvPr/>
        </p:nvSpPr>
        <p:spPr>
          <a:xfrm>
            <a:off x="876300" y="32385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B3C57C-40FF-416F-BC12-1A372328F30B}"/>
              </a:ext>
            </a:extLst>
          </p:cNvPr>
          <p:cNvSpPr>
            <a:spLocks noGrp="1"/>
          </p:cNvSpPr>
          <p:nvPr/>
        </p:nvSpPr>
        <p:spPr>
          <a:xfrm>
            <a:off x="2686050" y="333375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2E90C-48D4-4797-9BCB-F7285BD02A36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2072640" cy="2095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5B1958-1A17-44D3-8054-53791C8FD0D5}"/>
              </a:ext>
            </a:extLst>
          </p:cNvPr>
          <p:cNvSpPr>
            <a:spLocks noGrp="1"/>
          </p:cNvSpPr>
          <p:nvPr/>
        </p:nvSpPr>
        <p:spPr>
          <a:xfrm>
            <a:off x="4853940" y="32385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11.52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466E55-A952-4B69-B8E8-98F72E5FD1D6}"/>
              </a:ext>
            </a:extLst>
          </p:cNvPr>
          <p:cNvSpPr>
            <a:spLocks noGrp="1"/>
          </p:cNvSpPr>
          <p:nvPr/>
        </p:nvSpPr>
        <p:spPr>
          <a:xfrm>
            <a:off x="876300" y="39624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Natural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8ABF14-19CC-4F81-AFF2-34503E47AA34}"/>
              </a:ext>
            </a:extLst>
          </p:cNvPr>
          <p:cNvSpPr>
            <a:spLocks noGrp="1"/>
          </p:cNvSpPr>
          <p:nvPr/>
        </p:nvSpPr>
        <p:spPr>
          <a:xfrm>
            <a:off x="2686050" y="405765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B8618F2-C964-44C2-9199-557903D19B9E}"/>
              </a:ext>
            </a:extLst>
          </p:cNvPr>
          <p:cNvSpPr>
            <a:spLocks noGrp="1"/>
          </p:cNvSpPr>
          <p:nvPr/>
        </p:nvSpPr>
        <p:spPr>
          <a:xfrm>
            <a:off x="2686050" y="3952875"/>
            <a:ext cx="3105362" cy="209550"/>
          </a:xfrm>
          <a:prstGeom prst="rect">
            <a:avLst/>
          </a:prstGeom>
          <a:solidFill>
            <a:srgbClr val="5A64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2B9404-53B5-436D-9D11-E0B8B6F3D992}"/>
              </a:ext>
            </a:extLst>
          </p:cNvPr>
          <p:cNvSpPr>
            <a:spLocks noGrp="1"/>
          </p:cNvSpPr>
          <p:nvPr/>
        </p:nvSpPr>
        <p:spPr>
          <a:xfrm>
            <a:off x="5886662" y="396240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17.26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04F9D4-C6D3-4AE5-A047-8D2478428924}"/>
              </a:ext>
            </a:extLst>
          </p:cNvPr>
          <p:cNvSpPr>
            <a:spLocks noGrp="1"/>
          </p:cNvSpPr>
          <p:nvPr/>
        </p:nvSpPr>
        <p:spPr>
          <a:xfrm>
            <a:off x="5067300" y="22669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18 PPL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99B18F-F87E-4DD7-BDFD-B893B3E21D8D}"/>
              </a:ext>
            </a:extLst>
          </p:cNvPr>
          <p:cNvSpPr>
            <a:spLocks noGrp="1"/>
          </p:cNvSpPr>
          <p:nvPr/>
        </p:nvSpPr>
        <p:spPr>
          <a:xfrm>
            <a:off x="7162800" y="2171700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B94F0C-BD2B-47A8-A59F-FFCECE20F987}"/>
              </a:ext>
            </a:extLst>
          </p:cNvPr>
          <p:cNvSpPr>
            <a:spLocks noGrp="1"/>
          </p:cNvSpPr>
          <p:nvPr/>
        </p:nvSpPr>
        <p:spPr>
          <a:xfrm>
            <a:off x="7162800" y="2171700"/>
            <a:ext cx="76200" cy="2476500"/>
          </a:xfrm>
          <a:prstGeom prst="rect">
            <a:avLst/>
          </a:prstGeom>
          <a:solidFill>
            <a:srgbClr val="B789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D7D56A-3768-4070-8FC9-29AE73846393}"/>
              </a:ext>
            </a:extLst>
          </p:cNvPr>
          <p:cNvSpPr>
            <a:spLocks noGrp="1"/>
          </p:cNvSpPr>
          <p:nvPr/>
        </p:nvSpPr>
        <p:spPr>
          <a:xfrm>
            <a:off x="7429500" y="24003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Stealth reading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E76B7A-530F-4D99-A11E-9BF104298084}"/>
              </a:ext>
            </a:extLst>
          </p:cNvPr>
          <p:cNvSpPr>
            <a:spLocks noGrp="1"/>
          </p:cNvSpPr>
          <p:nvPr/>
        </p:nvSpPr>
        <p:spPr>
          <a:xfrm>
            <a:off x="7429500" y="2819400"/>
            <a:ext cx="23812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paper treats lower PPL as fluency, but warns that both watermarks steer generation toward high-probability tokens.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7AEFF-B9C3-4343-8523-96B1290FC15B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23622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BF4682-FD3C-435B-A521-82E5C0C7E09C}"/>
              </a:ext>
            </a:extLst>
          </p:cNvPr>
          <p:cNvSpPr>
            <a:spLocks noGrp="1"/>
          </p:cNvSpPr>
          <p:nvPr/>
        </p:nvSpPr>
        <p:spPr>
          <a:xfrm>
            <a:off x="7429500" y="3943350"/>
            <a:ext cx="2362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Implication: over-predictability can become a statistical clue even without the watermark key.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0E98F18-2D5B-4718-AD76-16A1AE84D420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38100" cy="76200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2455DB-AB35-4312-9767-810E234C4404}"/>
              </a:ext>
            </a:extLst>
          </p:cNvPr>
          <p:cNvSpPr>
            <a:spLocks noGrp="1"/>
          </p:cNvSpPr>
          <p:nvPr/>
        </p:nvSpPr>
        <p:spPr>
          <a:xfrm>
            <a:off x="1028700" y="523875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Observed deltas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12BF4B-3F9A-4753-BC63-B1D72212DEEE}"/>
              </a:ext>
            </a:extLst>
          </p:cNvPr>
          <p:cNvSpPr>
            <a:spLocks noGrp="1"/>
          </p:cNvSpPr>
          <p:nvPr/>
        </p:nvSpPr>
        <p:spPr>
          <a:xfrm>
            <a:off x="1028700" y="5486400"/>
            <a:ext cx="4724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EXP: -11.90 PPL versus natural baseline. KGW: -5.74 PPL versus natural baseline.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992823-E066-4090-A474-D1FFCEA8C94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634D29B-5959-405D-BA07-448EFA30F07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Table 3 and Section 5.3.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69F205-1411-4F10-826C-CDE18798230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450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4560662-2FF0-4B23-9B1F-5BCE7E15CC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FD44F097-E5BA-4D21-B5C4-848B94FEE9F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C7FF7AFF-3065-4FAA-9696-9DC79D2AC250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EEBD3C-84E0-4AE6-B744-E4DD21220F0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KGW exposes a sharp detectability-quality tradeoff.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64457E-7BCB-4BCB-9788-AAF5671C921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2C7FD7-37F0-45C2-99F6-179412270F4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47625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FB2C08-3470-4BED-AA8F-5F362F70F3D2}"/>
              </a:ext>
            </a:extLst>
          </p:cNvPr>
          <p:cNvSpPr>
            <a:spLocks noGrp="1"/>
          </p:cNvSpPr>
          <p:nvPr/>
        </p:nvSpPr>
        <p:spPr>
          <a:xfrm>
            <a:off x="952500" y="2114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Watermark strength delta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784120-87CE-4F09-B34A-4A9BCD4F9151}"/>
              </a:ext>
            </a:extLst>
          </p:cNvPr>
          <p:cNvSpPr>
            <a:spLocks noGrp="1"/>
          </p:cNvSpPr>
          <p:nvPr/>
        </p:nvSpPr>
        <p:spPr>
          <a:xfrm>
            <a:off x="1047750" y="4457700"/>
            <a:ext cx="3714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C1977C-D876-470F-87BC-FDF479F487DF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575310" cy="190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C5D624-FCEF-490C-9722-02666CA11721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57531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4EA257-3332-4312-9E92-CE00AD707860}"/>
              </a:ext>
            </a:extLst>
          </p:cNvPr>
          <p:cNvSpPr>
            <a:spLocks noGrp="1"/>
          </p:cNvSpPr>
          <p:nvPr/>
        </p:nvSpPr>
        <p:spPr>
          <a:xfrm>
            <a:off x="971550" y="4552950"/>
            <a:ext cx="72771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5A7A38-F03C-47AD-992C-7FB154A3A65A}"/>
              </a:ext>
            </a:extLst>
          </p:cNvPr>
          <p:cNvSpPr>
            <a:spLocks noGrp="1"/>
          </p:cNvSpPr>
          <p:nvPr/>
        </p:nvSpPr>
        <p:spPr>
          <a:xfrm>
            <a:off x="1832610" y="4438650"/>
            <a:ext cx="575310" cy="190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0221CE-0573-4C88-B43A-983FEBB26A51}"/>
              </a:ext>
            </a:extLst>
          </p:cNvPr>
          <p:cNvSpPr>
            <a:spLocks noGrp="1"/>
          </p:cNvSpPr>
          <p:nvPr/>
        </p:nvSpPr>
        <p:spPr>
          <a:xfrm>
            <a:off x="1832610" y="4171950"/>
            <a:ext cx="57531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D6A040-3157-4378-B387-96147C558BFA}"/>
              </a:ext>
            </a:extLst>
          </p:cNvPr>
          <p:cNvSpPr>
            <a:spLocks noGrp="1"/>
          </p:cNvSpPr>
          <p:nvPr/>
        </p:nvSpPr>
        <p:spPr>
          <a:xfrm>
            <a:off x="1756410" y="4552950"/>
            <a:ext cx="72771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2F6CF5-C29C-412A-B5B5-AF9F74B7AB75}"/>
              </a:ext>
            </a:extLst>
          </p:cNvPr>
          <p:cNvSpPr>
            <a:spLocks noGrp="1"/>
          </p:cNvSpPr>
          <p:nvPr/>
        </p:nvSpPr>
        <p:spPr>
          <a:xfrm>
            <a:off x="2617470" y="4171950"/>
            <a:ext cx="575310" cy="2857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7889AE-637F-442D-85C8-19C9D89A880C}"/>
              </a:ext>
            </a:extLst>
          </p:cNvPr>
          <p:cNvSpPr>
            <a:spLocks noGrp="1"/>
          </p:cNvSpPr>
          <p:nvPr/>
        </p:nvSpPr>
        <p:spPr>
          <a:xfrm>
            <a:off x="2617470" y="3905250"/>
            <a:ext cx="57531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009D19-DF19-4237-89EA-D88F188F1263}"/>
              </a:ext>
            </a:extLst>
          </p:cNvPr>
          <p:cNvSpPr>
            <a:spLocks noGrp="1"/>
          </p:cNvSpPr>
          <p:nvPr/>
        </p:nvSpPr>
        <p:spPr>
          <a:xfrm>
            <a:off x="2541270" y="4552950"/>
            <a:ext cx="72771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80AD78-5557-46BF-892B-1725C9C05BB0}"/>
              </a:ext>
            </a:extLst>
          </p:cNvPr>
          <p:cNvSpPr>
            <a:spLocks noGrp="1"/>
          </p:cNvSpPr>
          <p:nvPr/>
        </p:nvSpPr>
        <p:spPr>
          <a:xfrm>
            <a:off x="3402330" y="3600450"/>
            <a:ext cx="575310" cy="8572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CD35A7-3A29-409C-9781-6BB8B6D20516}"/>
              </a:ext>
            </a:extLst>
          </p:cNvPr>
          <p:cNvSpPr>
            <a:spLocks noGrp="1"/>
          </p:cNvSpPr>
          <p:nvPr/>
        </p:nvSpPr>
        <p:spPr>
          <a:xfrm>
            <a:off x="3402330" y="3333750"/>
            <a:ext cx="57531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1D0D66-29F7-470F-A0AC-60915271AA0C}"/>
              </a:ext>
            </a:extLst>
          </p:cNvPr>
          <p:cNvSpPr>
            <a:spLocks noGrp="1"/>
          </p:cNvSpPr>
          <p:nvPr/>
        </p:nvSpPr>
        <p:spPr>
          <a:xfrm>
            <a:off x="3326130" y="4552950"/>
            <a:ext cx="72771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D16EA4-7489-4A31-9463-6D26662F1EE8}"/>
              </a:ext>
            </a:extLst>
          </p:cNvPr>
          <p:cNvSpPr>
            <a:spLocks noGrp="1"/>
          </p:cNvSpPr>
          <p:nvPr/>
        </p:nvSpPr>
        <p:spPr>
          <a:xfrm>
            <a:off x="4187190" y="3028950"/>
            <a:ext cx="575310" cy="14287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004A03-152A-48AC-8E95-18EB42E32185}"/>
              </a:ext>
            </a:extLst>
          </p:cNvPr>
          <p:cNvSpPr>
            <a:spLocks noGrp="1"/>
          </p:cNvSpPr>
          <p:nvPr/>
        </p:nvSpPr>
        <p:spPr>
          <a:xfrm>
            <a:off x="4187190" y="2762250"/>
            <a:ext cx="57531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511D07-EED5-4B2A-8821-15C4B0A164C3}"/>
              </a:ext>
            </a:extLst>
          </p:cNvPr>
          <p:cNvSpPr>
            <a:spLocks noGrp="1"/>
          </p:cNvSpPr>
          <p:nvPr/>
        </p:nvSpPr>
        <p:spPr>
          <a:xfrm>
            <a:off x="4110990" y="4552950"/>
            <a:ext cx="72771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2.0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C2E79D-6F03-4C8F-A197-BF8590FD918B}"/>
              </a:ext>
            </a:extLst>
          </p:cNvPr>
          <p:cNvSpPr>
            <a:spLocks noGrp="1"/>
          </p:cNvSpPr>
          <p:nvPr/>
        </p:nvSpPr>
        <p:spPr>
          <a:xfrm>
            <a:off x="1066800" y="4914900"/>
            <a:ext cx="371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PPL: 10.76   10.61   11.17   11.03   13.89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A8688D-B6BF-4CB9-8CE8-E7A3A6321AA2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Detection reaches 1.00 only at delta = 2.0, where PPL jumps to 13.89.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B9CB31C-B999-4A24-85BC-224C2A887849}"/>
              </a:ext>
            </a:extLst>
          </p:cNvPr>
          <p:cNvSpPr>
            <a:spLocks noGrp="1"/>
          </p:cNvSpPr>
          <p:nvPr/>
        </p:nvSpPr>
        <p:spPr>
          <a:xfrm>
            <a:off x="6057900" y="1885950"/>
            <a:ext cx="47625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DE84ED2-277F-454B-9693-D162A971C376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Green-list ratio gamma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5188E2-D43C-40CD-B0BB-74716DDA1156}"/>
              </a:ext>
            </a:extLst>
          </p:cNvPr>
          <p:cNvSpPr>
            <a:spLocks noGrp="1"/>
          </p:cNvSpPr>
          <p:nvPr/>
        </p:nvSpPr>
        <p:spPr>
          <a:xfrm>
            <a:off x="6591300" y="4457700"/>
            <a:ext cx="31432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E7B393-A7E3-482D-9EA3-B92B344C0666}"/>
              </a:ext>
            </a:extLst>
          </p:cNvPr>
          <p:cNvSpPr>
            <a:spLocks noGrp="1"/>
          </p:cNvSpPr>
          <p:nvPr/>
        </p:nvSpPr>
        <p:spPr>
          <a:xfrm>
            <a:off x="6591300" y="3529013"/>
            <a:ext cx="768350" cy="928688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64AFA5D-4AE4-472A-B9EB-5ED5B05F6640}"/>
              </a:ext>
            </a:extLst>
          </p:cNvPr>
          <p:cNvSpPr>
            <a:spLocks noGrp="1"/>
          </p:cNvSpPr>
          <p:nvPr/>
        </p:nvSpPr>
        <p:spPr>
          <a:xfrm>
            <a:off x="6591300" y="3262313"/>
            <a:ext cx="76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EDE843F-F646-4AD1-A988-E80E4E9947E9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92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DDFE6-027B-41D8-8ED8-4533F8BB7950}"/>
              </a:ext>
            </a:extLst>
          </p:cNvPr>
          <p:cNvSpPr>
            <a:spLocks noGrp="1"/>
          </p:cNvSpPr>
          <p:nvPr/>
        </p:nvSpPr>
        <p:spPr>
          <a:xfrm>
            <a:off x="7778750" y="3457575"/>
            <a:ext cx="768350" cy="1000125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3FBBF39-9D63-4E20-A894-87C8D8BE9DDB}"/>
              </a:ext>
            </a:extLst>
          </p:cNvPr>
          <p:cNvSpPr>
            <a:spLocks noGrp="1"/>
          </p:cNvSpPr>
          <p:nvPr/>
        </p:nvSpPr>
        <p:spPr>
          <a:xfrm>
            <a:off x="7778750" y="3190875"/>
            <a:ext cx="76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AE0C9E-593D-447B-8B0B-128A80894F72}"/>
              </a:ext>
            </a:extLst>
          </p:cNvPr>
          <p:cNvSpPr>
            <a:spLocks noGrp="1"/>
          </p:cNvSpPr>
          <p:nvPr/>
        </p:nvSpPr>
        <p:spPr>
          <a:xfrm>
            <a:off x="7702550" y="4552950"/>
            <a:ext cx="92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52F865B-BD1F-43BD-950A-B1A25C538158}"/>
              </a:ext>
            </a:extLst>
          </p:cNvPr>
          <p:cNvSpPr>
            <a:spLocks noGrp="1"/>
          </p:cNvSpPr>
          <p:nvPr/>
        </p:nvSpPr>
        <p:spPr>
          <a:xfrm>
            <a:off x="8966200" y="4438650"/>
            <a:ext cx="768350" cy="190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72818A-3F7A-48AB-A260-7F64DB94DB55}"/>
              </a:ext>
            </a:extLst>
          </p:cNvPr>
          <p:cNvSpPr>
            <a:spLocks noGrp="1"/>
          </p:cNvSpPr>
          <p:nvPr/>
        </p:nvSpPr>
        <p:spPr>
          <a:xfrm>
            <a:off x="8966200" y="4171950"/>
            <a:ext cx="76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B09B4E-C372-4262-8F64-7B43876E9A53}"/>
              </a:ext>
            </a:extLst>
          </p:cNvPr>
          <p:cNvSpPr>
            <a:spLocks noGrp="1"/>
          </p:cNvSpPr>
          <p:nvPr/>
        </p:nvSpPr>
        <p:spPr>
          <a:xfrm>
            <a:off x="8890000" y="4552950"/>
            <a:ext cx="920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CFD7EC-6620-4AF2-AF6A-24389DF36868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3733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PPL remains in a narrow 11.0-12.0 band, so quality degradation is driven mainly by delta.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FB8CDC-0C0D-4079-A0F2-5F3F45B0828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68D02BA-3A7E-4D76-A8E3-016B2331E4E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Tables 4-5 and Figures 7-8.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0C3C32-3C4B-46D5-83B9-7DCC6C66421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296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8A63ECDA-6A06-4945-9E94-9AB5821F8C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9443F431-AED9-4BA0-9B33-C8DCA32C0A68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D5B90806-6B30-46B3-A667-618741E35142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5A6F8D-75D9-40A5-83B6-8275993E22C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EXP is comparatively insensitive to reasonable threshold and prefix choices.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5CD7BB-C60C-45D5-BC30-6A3B86694F3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B41FF9-3A5C-4339-ABE6-6CD1EFC75B83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43434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BED438-A9EB-44DD-BA00-BE29394FCE19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Detection threshold tau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F496DF-A11B-43A2-B32D-E115AFBD4612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FPR = 0.000 throughout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DD9627-7C1E-432D-B87A-F437D8BFFE11}"/>
              </a:ext>
            </a:extLst>
          </p:cNvPr>
          <p:cNvSpPr>
            <a:spLocks noGrp="1"/>
          </p:cNvSpPr>
          <p:nvPr/>
        </p:nvSpPr>
        <p:spPr>
          <a:xfrm>
            <a:off x="1181100" y="4457700"/>
            <a:ext cx="3048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A2861E-1B89-4B37-8ADF-D86A5F318450}"/>
              </a:ext>
            </a:extLst>
          </p:cNvPr>
          <p:cNvSpPr>
            <a:spLocks noGrp="1"/>
          </p:cNvSpPr>
          <p:nvPr/>
        </p:nvSpPr>
        <p:spPr>
          <a:xfrm>
            <a:off x="1181100" y="3240405"/>
            <a:ext cx="749300" cy="1217295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2E9FB6-2C32-4E0F-8711-4EB213A8E643}"/>
              </a:ext>
            </a:extLst>
          </p:cNvPr>
          <p:cNvSpPr>
            <a:spLocks noGrp="1"/>
          </p:cNvSpPr>
          <p:nvPr/>
        </p:nvSpPr>
        <p:spPr>
          <a:xfrm>
            <a:off x="1181100" y="2973705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1C9355-0E09-494D-8B17-47F1262F63EE}"/>
              </a:ext>
            </a:extLst>
          </p:cNvPr>
          <p:cNvSpPr>
            <a:spLocks noGrp="1"/>
          </p:cNvSpPr>
          <p:nvPr/>
        </p:nvSpPr>
        <p:spPr>
          <a:xfrm>
            <a:off x="110490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3706BD-D665-47E9-946F-FAE1F31521D0}"/>
              </a:ext>
            </a:extLst>
          </p:cNvPr>
          <p:cNvSpPr>
            <a:spLocks noGrp="1"/>
          </p:cNvSpPr>
          <p:nvPr/>
        </p:nvSpPr>
        <p:spPr>
          <a:xfrm>
            <a:off x="2330450" y="3172778"/>
            <a:ext cx="749300" cy="1284923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BC3DB6-F0B0-4A81-BB0D-10134998F1B8}"/>
              </a:ext>
            </a:extLst>
          </p:cNvPr>
          <p:cNvSpPr>
            <a:spLocks noGrp="1"/>
          </p:cNvSpPr>
          <p:nvPr/>
        </p:nvSpPr>
        <p:spPr>
          <a:xfrm>
            <a:off x="2330450" y="2906078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9FCE49-3BAE-4D92-ABB5-1B70348537F8}"/>
              </a:ext>
            </a:extLst>
          </p:cNvPr>
          <p:cNvSpPr>
            <a:spLocks noGrp="1"/>
          </p:cNvSpPr>
          <p:nvPr/>
        </p:nvSpPr>
        <p:spPr>
          <a:xfrm>
            <a:off x="225425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403704-C18C-4554-8CA6-24DBBAD307D2}"/>
              </a:ext>
            </a:extLst>
          </p:cNvPr>
          <p:cNvSpPr>
            <a:spLocks noGrp="1"/>
          </p:cNvSpPr>
          <p:nvPr/>
        </p:nvSpPr>
        <p:spPr>
          <a:xfrm>
            <a:off x="3479800" y="3172778"/>
            <a:ext cx="749300" cy="1284923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D9CFC2-13B4-4D3F-89D9-09E1D5015F8C}"/>
              </a:ext>
            </a:extLst>
          </p:cNvPr>
          <p:cNvSpPr>
            <a:spLocks noGrp="1"/>
          </p:cNvSpPr>
          <p:nvPr/>
        </p:nvSpPr>
        <p:spPr>
          <a:xfrm>
            <a:off x="3479800" y="2906078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3A5820-A40D-47D0-95C2-464560FFADA5}"/>
              </a:ext>
            </a:extLst>
          </p:cNvPr>
          <p:cNvSpPr>
            <a:spLocks noGrp="1"/>
          </p:cNvSpPr>
          <p:nvPr/>
        </p:nvSpPr>
        <p:spPr>
          <a:xfrm>
            <a:off x="340360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32A40C-3CFD-4A43-AFC6-CE09D6D9A98A}"/>
              </a:ext>
            </a:extLst>
          </p:cNvPr>
          <p:cNvSpPr>
            <a:spLocks noGrp="1"/>
          </p:cNvSpPr>
          <p:nvPr/>
        </p:nvSpPr>
        <p:spPr>
          <a:xfrm>
            <a:off x="5810250" y="2000250"/>
            <a:ext cx="4343400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5E0A30-E3DC-403D-8315-2112B5E5CE48}"/>
              </a:ext>
            </a:extLst>
          </p:cNvPr>
          <p:cNvSpPr>
            <a:spLocks noGrp="1"/>
          </p:cNvSpPr>
          <p:nvPr/>
        </p:nvSpPr>
        <p:spPr>
          <a:xfrm>
            <a:off x="6096000" y="2247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Prefix length 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8A57D9-71D0-4EA8-872D-BCFAD3EA0EA2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Variation stays within 0.05 TPR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D80A5F-C2FE-4CA2-A89A-0C101572A08C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3048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94F12-9D67-4BEC-87F1-897D1A9E03B1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749300" cy="13525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2636CB-422C-434E-BDAE-BD4F95F82A98}"/>
              </a:ext>
            </a:extLst>
          </p:cNvPr>
          <p:cNvSpPr>
            <a:spLocks noGrp="1"/>
          </p:cNvSpPr>
          <p:nvPr/>
        </p:nvSpPr>
        <p:spPr>
          <a:xfrm>
            <a:off x="6191250" y="2838450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B5023A-727D-4892-8E37-A5E9737C15FC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k=1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5A7811-ACB5-4041-831F-972FDD7A2CA3}"/>
              </a:ext>
            </a:extLst>
          </p:cNvPr>
          <p:cNvSpPr>
            <a:spLocks noGrp="1"/>
          </p:cNvSpPr>
          <p:nvPr/>
        </p:nvSpPr>
        <p:spPr>
          <a:xfrm>
            <a:off x="7340600" y="3172778"/>
            <a:ext cx="749300" cy="1284923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E6BBC5-8837-4FCE-8296-6E5569F969FC}"/>
              </a:ext>
            </a:extLst>
          </p:cNvPr>
          <p:cNvSpPr>
            <a:spLocks noGrp="1"/>
          </p:cNvSpPr>
          <p:nvPr/>
        </p:nvSpPr>
        <p:spPr>
          <a:xfrm>
            <a:off x="7340600" y="2906078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42C63B-869E-40AD-9074-0BE313665B0C}"/>
              </a:ext>
            </a:extLst>
          </p:cNvPr>
          <p:cNvSpPr>
            <a:spLocks noGrp="1"/>
          </p:cNvSpPr>
          <p:nvPr/>
        </p:nvSpPr>
        <p:spPr>
          <a:xfrm>
            <a:off x="726440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k=4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232E232-5FF9-41FA-B924-1068144D9E10}"/>
              </a:ext>
            </a:extLst>
          </p:cNvPr>
          <p:cNvSpPr>
            <a:spLocks noGrp="1"/>
          </p:cNvSpPr>
          <p:nvPr/>
        </p:nvSpPr>
        <p:spPr>
          <a:xfrm>
            <a:off x="8489950" y="3105150"/>
            <a:ext cx="749300" cy="13525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69F698B-245B-41CB-BDE3-75C973D85A7C}"/>
              </a:ext>
            </a:extLst>
          </p:cNvPr>
          <p:cNvSpPr>
            <a:spLocks noGrp="1"/>
          </p:cNvSpPr>
          <p:nvPr/>
        </p:nvSpPr>
        <p:spPr>
          <a:xfrm>
            <a:off x="8489950" y="2838450"/>
            <a:ext cx="749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CC00EDC-CD2C-45C5-B07C-C1FA7830EECC}"/>
              </a:ext>
            </a:extLst>
          </p:cNvPr>
          <p:cNvSpPr>
            <a:spLocks noGrp="1"/>
          </p:cNvSpPr>
          <p:nvPr/>
        </p:nvSpPr>
        <p:spPr>
          <a:xfrm>
            <a:off x="8413750" y="4552950"/>
            <a:ext cx="9017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k=8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7132CFD-0C42-4079-8F79-A04B501D6CC2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22860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DF7A04A-638D-4D3B-BB77-4052F764BB43}"/>
              </a:ext>
            </a:extLst>
          </p:cNvPr>
          <p:cNvSpPr>
            <a:spLocks noGrp="1"/>
          </p:cNvSpPr>
          <p:nvPr/>
        </p:nvSpPr>
        <p:spPr>
          <a:xfrm>
            <a:off x="1200150" y="533400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REPORTED SIGNAL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3A1746-6EE8-4A5D-B393-334FC4F3A3E4}"/>
              </a:ext>
            </a:extLst>
          </p:cNvPr>
          <p:cNvSpPr>
            <a:spLocks noGrp="1"/>
          </p:cNvSpPr>
          <p:nvPr/>
        </p:nvSpPr>
        <p:spPr>
          <a:xfrm>
            <a:off x="1200150" y="5581650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1e-20 to 1e-103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24A2FF-3C5E-48E1-A779-D5EAC21CCC34}"/>
              </a:ext>
            </a:extLst>
          </p:cNvPr>
          <p:cNvSpPr>
            <a:spLocks noGrp="1"/>
          </p:cNvSpPr>
          <p:nvPr/>
        </p:nvSpPr>
        <p:spPr>
          <a:xfrm>
            <a:off x="1200150" y="59245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Typical watermarked p-value range.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E3A06B7-1D71-45E3-AF05-AB68FE4C7BDB}"/>
              </a:ext>
            </a:extLst>
          </p:cNvPr>
          <p:cNvSpPr>
            <a:spLocks noGrp="1"/>
          </p:cNvSpPr>
          <p:nvPr/>
        </p:nvSpPr>
        <p:spPr>
          <a:xfrm>
            <a:off x="3829050" y="5219700"/>
            <a:ext cx="38100" cy="106680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1E4F6B-2C71-4021-827A-C15C8F0F1622}"/>
              </a:ext>
            </a:extLst>
          </p:cNvPr>
          <p:cNvSpPr>
            <a:spLocks noGrp="1"/>
          </p:cNvSpPr>
          <p:nvPr/>
        </p:nvSpPr>
        <p:spPr>
          <a:xfrm>
            <a:off x="3981450" y="5295900"/>
            <a:ext cx="438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6A7CED-4F75-471B-AD51-BDD845F7D6FC}"/>
              </a:ext>
            </a:extLst>
          </p:cNvPr>
          <p:cNvSpPr>
            <a:spLocks noGrp="1"/>
          </p:cNvSpPr>
          <p:nvPr/>
        </p:nvSpPr>
        <p:spPr>
          <a:xfrm>
            <a:off x="3981450" y="5543550"/>
            <a:ext cx="438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The EXP signal sits far below tested thresholds, so deployment requires less parameter tuning than KGW in benign settings.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B802F1A-0278-4B8A-9BE1-A6557B181F7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AA9004B-B9E0-404D-867C-8CF556D8BF4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Section 4.4.3 and Figures 9-10.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8C719-A143-4834-B50A-5C0A5C58D4C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580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12149FC-A666-4686-BED0-DBA361CD41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3D6AA6D2-0D50-427D-A943-46211510C0B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B6AAE750-588D-4128-BB1A-E1E2789ED8F8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883DB-3E93-42CD-ACAC-689124A56BE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Word-level attacks erase almost all detectable signal in both methods.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49A5B-E1BF-4A1F-A026-ADC7B910F89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52AB98-A543-4803-BA04-1D0F7AD42662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6762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6DE9A3-82DF-439D-B17C-62FD6A4DBD58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TPR after attack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39A70A-E1E0-40AC-952D-8C99B590FB0F}"/>
              </a:ext>
            </a:extLst>
          </p:cNvPr>
          <p:cNvSpPr>
            <a:spLocks noGrp="1"/>
          </p:cNvSpPr>
          <p:nvPr/>
        </p:nvSpPr>
        <p:spPr>
          <a:xfrm>
            <a:off x="1276350" y="2686050"/>
            <a:ext cx="514350" cy="21907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458A2-B204-47DA-8C64-477AF8B6C8FD}"/>
              </a:ext>
            </a:extLst>
          </p:cNvPr>
          <p:cNvSpPr>
            <a:spLocks noGrp="1"/>
          </p:cNvSpPr>
          <p:nvPr/>
        </p:nvSpPr>
        <p:spPr>
          <a:xfrm>
            <a:off x="1885950" y="3124200"/>
            <a:ext cx="514350" cy="175260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6928F4-8D24-4BB6-A4F2-E9AEC8861DF7}"/>
              </a:ext>
            </a:extLst>
          </p:cNvPr>
          <p:cNvSpPr>
            <a:spLocks noGrp="1"/>
          </p:cNvSpPr>
          <p:nvPr/>
        </p:nvSpPr>
        <p:spPr>
          <a:xfrm>
            <a:off x="1276350" y="24574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D5B640-9DE6-429A-94CB-CED36DCCB613}"/>
              </a:ext>
            </a:extLst>
          </p:cNvPr>
          <p:cNvSpPr>
            <a:spLocks noGrp="1"/>
          </p:cNvSpPr>
          <p:nvPr/>
        </p:nvSpPr>
        <p:spPr>
          <a:xfrm>
            <a:off x="1885950" y="28956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4C9281-4B91-423C-92E1-932E20A7B4B3}"/>
              </a:ext>
            </a:extLst>
          </p:cNvPr>
          <p:cNvSpPr>
            <a:spLocks noGrp="1"/>
          </p:cNvSpPr>
          <p:nvPr/>
        </p:nvSpPr>
        <p:spPr>
          <a:xfrm>
            <a:off x="1009650" y="5010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attack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F8F716-3C55-4B63-8C2E-C024FDF620BB}"/>
              </a:ext>
            </a:extLst>
          </p:cNvPr>
          <p:cNvSpPr>
            <a:spLocks noGrp="1"/>
          </p:cNvSpPr>
          <p:nvPr/>
        </p:nvSpPr>
        <p:spPr>
          <a:xfrm>
            <a:off x="3743325" y="4767263"/>
            <a:ext cx="514350" cy="109538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90440A-F053-473F-9F18-82C8AA92EFB6}"/>
              </a:ext>
            </a:extLst>
          </p:cNvPr>
          <p:cNvSpPr>
            <a:spLocks noGrp="1"/>
          </p:cNvSpPr>
          <p:nvPr/>
        </p:nvSpPr>
        <p:spPr>
          <a:xfrm>
            <a:off x="4352925" y="4767263"/>
            <a:ext cx="514350" cy="109538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41571B-ADAA-4B8C-80A8-F75DF292B29A}"/>
              </a:ext>
            </a:extLst>
          </p:cNvPr>
          <p:cNvSpPr>
            <a:spLocks noGrp="1"/>
          </p:cNvSpPr>
          <p:nvPr/>
        </p:nvSpPr>
        <p:spPr>
          <a:xfrm>
            <a:off x="3743325" y="4538663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CA2947-5F61-4960-BA03-2115AF26CFED}"/>
              </a:ext>
            </a:extLst>
          </p:cNvPr>
          <p:cNvSpPr>
            <a:spLocks noGrp="1"/>
          </p:cNvSpPr>
          <p:nvPr/>
        </p:nvSpPr>
        <p:spPr>
          <a:xfrm>
            <a:off x="4352925" y="4538663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5BEA37-3F72-48B7-B48D-A238A1442D80}"/>
              </a:ext>
            </a:extLst>
          </p:cNvPr>
          <p:cNvSpPr>
            <a:spLocks noGrp="1"/>
          </p:cNvSpPr>
          <p:nvPr/>
        </p:nvSpPr>
        <p:spPr>
          <a:xfrm>
            <a:off x="3476625" y="5010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C6431F-6F62-4CAD-A8D6-7ADDB8D0DCEA}"/>
              </a:ext>
            </a:extLst>
          </p:cNvPr>
          <p:cNvSpPr>
            <a:spLocks noGrp="1"/>
          </p:cNvSpPr>
          <p:nvPr/>
        </p:nvSpPr>
        <p:spPr>
          <a:xfrm>
            <a:off x="6210300" y="4857750"/>
            <a:ext cx="514350" cy="190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F356EA6-AAA6-4B88-9C4D-3036E7594905}"/>
              </a:ext>
            </a:extLst>
          </p:cNvPr>
          <p:cNvSpPr>
            <a:spLocks noGrp="1"/>
          </p:cNvSpPr>
          <p:nvPr/>
        </p:nvSpPr>
        <p:spPr>
          <a:xfrm>
            <a:off x="6819900" y="4657725"/>
            <a:ext cx="514350" cy="219075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C694A5-9CC1-42E9-B9CA-F6C3AD8C23E5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6A9A8F-5F72-4394-8CDA-3FADF4BF5640}"/>
              </a:ext>
            </a:extLst>
          </p:cNvPr>
          <p:cNvSpPr>
            <a:spLocks noGrp="1"/>
          </p:cNvSpPr>
          <p:nvPr/>
        </p:nvSpPr>
        <p:spPr>
          <a:xfrm>
            <a:off x="6819900" y="4429125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32580F-604D-4FDE-96FE-6291A330730F}"/>
              </a:ext>
            </a:extLst>
          </p:cNvPr>
          <p:cNvSpPr>
            <a:spLocks noGrp="1"/>
          </p:cNvSpPr>
          <p:nvPr/>
        </p:nvSpPr>
        <p:spPr>
          <a:xfrm>
            <a:off x="5943600" y="5010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981DF7-BC99-402F-B716-D9B2CD303ECA}"/>
              </a:ext>
            </a:extLst>
          </p:cNvPr>
          <p:cNvSpPr>
            <a:spLocks noGrp="1"/>
          </p:cNvSpPr>
          <p:nvPr/>
        </p:nvSpPr>
        <p:spPr>
          <a:xfrm>
            <a:off x="4514850" y="2209800"/>
            <a:ext cx="133350" cy="1333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1DE312-F2F8-47F7-BCEC-411AA815F896}"/>
              </a:ext>
            </a:extLst>
          </p:cNvPr>
          <p:cNvSpPr>
            <a:spLocks noGrp="1"/>
          </p:cNvSpPr>
          <p:nvPr/>
        </p:nvSpPr>
        <p:spPr>
          <a:xfrm>
            <a:off x="4724400" y="21717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F46FC9-D707-4636-A217-D54DE00DF9FA}"/>
              </a:ext>
            </a:extLst>
          </p:cNvPr>
          <p:cNvSpPr>
            <a:spLocks noGrp="1"/>
          </p:cNvSpPr>
          <p:nvPr/>
        </p:nvSpPr>
        <p:spPr>
          <a:xfrm>
            <a:off x="5257800" y="2209800"/>
            <a:ext cx="133350" cy="1333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CCFA252-6D34-429F-979A-FA9CB11654E7}"/>
              </a:ext>
            </a:extLst>
          </p:cNvPr>
          <p:cNvSpPr>
            <a:spLocks noGrp="1"/>
          </p:cNvSpPr>
          <p:nvPr/>
        </p:nvSpPr>
        <p:spPr>
          <a:xfrm>
            <a:off x="5467350" y="217170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836A458-36BC-44C0-B8C4-2C475328A7C9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266700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9D9F01-41BA-4B14-B837-784E6ACC10CE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76200" cy="26479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06D724-402A-496B-8939-AA8F9F4FF6AA}"/>
              </a:ext>
            </a:extLst>
          </p:cNvPr>
          <p:cNvSpPr>
            <a:spLocks noGrp="1"/>
          </p:cNvSpPr>
          <p:nvPr/>
        </p:nvSpPr>
        <p:spPr>
          <a:xfrm>
            <a:off x="8496300" y="24384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64184E-A1D1-4282-A6B8-D4FBB3657258}"/>
              </a:ext>
            </a:extLst>
          </p:cNvPr>
          <p:cNvSpPr>
            <a:spLocks noGrp="1"/>
          </p:cNvSpPr>
          <p:nvPr/>
        </p:nvSpPr>
        <p:spPr>
          <a:xfrm>
            <a:off x="8496300" y="2876550"/>
            <a:ext cx="195262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Both watermark signals depend on exact generated token identities.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A986AF-0FF2-49FD-8337-BF3405406972}"/>
              </a:ext>
            </a:extLst>
          </p:cNvPr>
          <p:cNvSpPr>
            <a:spLocks noGrp="1"/>
          </p:cNvSpPr>
          <p:nvPr/>
        </p:nvSpPr>
        <p:spPr>
          <a:xfrm>
            <a:off x="8496300" y="3524250"/>
            <a:ext cx="1809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C78CFF-E756-4778-BA26-BC2BAB434074}"/>
              </a:ext>
            </a:extLst>
          </p:cNvPr>
          <p:cNvSpPr>
            <a:spLocks noGrp="1"/>
          </p:cNvSpPr>
          <p:nvPr/>
        </p:nvSpPr>
        <p:spPr>
          <a:xfrm>
            <a:off x="8496300" y="3771900"/>
            <a:ext cx="20383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Word-S changes token identities; Word-D removes scored positions. Either operation breaks the token-level evidence chain.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D23D9F-75DD-4ED7-8491-403859D1B69D}"/>
              </a:ext>
            </a:extLst>
          </p:cNvPr>
          <p:cNvSpPr>
            <a:spLocks noGrp="1"/>
          </p:cNvSpPr>
          <p:nvPr/>
        </p:nvSpPr>
        <p:spPr>
          <a:xfrm>
            <a:off x="895350" y="5353050"/>
            <a:ext cx="38100" cy="72390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8ED8E1-4584-42E1-8D30-7F379C6B2F45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643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Practical reading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66920C7-C959-4738-8CBD-D891BD1327FE}"/>
              </a:ext>
            </a:extLst>
          </p:cNvPr>
          <p:cNvSpPr>
            <a:spLocks noGrp="1"/>
          </p:cNvSpPr>
          <p:nvPr/>
        </p:nvSpPr>
        <p:spPr>
          <a:xfrm>
            <a:off x="1047750" y="5676900"/>
            <a:ext cx="6438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The marginal KGW advantage under Word-D is not enough for adversarial IP protection: both methods fail in 18-20 of 20 attacked cases.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6607A3-7967-448D-9529-272A0C03EA8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5997946-08F4-4F27-B513-FCBA87DF33A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Table 6 and Sections 4.5, 5.4.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BE30F6-2309-40E6-88C7-F5BF08D203F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611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32A95F11-9679-449C-915A-305378152E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DAB1F66C-6247-4CE4-B8EB-74FD9F22A79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49E152F6-83C4-4C0E-B35F-114EF0F66666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8F99EB-D0D9-43BB-B8DF-DA08A0C694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Deployment choice depends on threat model more than benign accuracy.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710E00-D30A-44CE-9B6E-8B36DF5B8AB3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9A09CE-330C-4F31-A1B2-1AC7DD96A96E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2000250" cy="51435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9B8704-2814-44FF-90FF-2462DF11FF3F}"/>
              </a:ext>
            </a:extLst>
          </p:cNvPr>
          <p:cNvSpPr>
            <a:spLocks noGrp="1"/>
          </p:cNvSpPr>
          <p:nvPr/>
        </p:nvSpPr>
        <p:spPr>
          <a:xfrm>
            <a:off x="819150" y="21145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E9618B-9AE3-4FAA-9248-E4DA79A570B8}"/>
              </a:ext>
            </a:extLst>
          </p:cNvPr>
          <p:cNvSpPr>
            <a:spLocks noGrp="1"/>
          </p:cNvSpPr>
          <p:nvPr/>
        </p:nvSpPr>
        <p:spPr>
          <a:xfrm>
            <a:off x="2724150" y="2038350"/>
            <a:ext cx="2381250" cy="51435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DDC8C9-83ED-45D0-B365-7E4B827E9ED0}"/>
              </a:ext>
            </a:extLst>
          </p:cNvPr>
          <p:cNvSpPr>
            <a:spLocks noGrp="1"/>
          </p:cNvSpPr>
          <p:nvPr/>
        </p:nvSpPr>
        <p:spPr>
          <a:xfrm>
            <a:off x="2819400" y="21145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60D14F-873D-4B6E-BFBD-0FAE2838F6FA}"/>
              </a:ext>
            </a:extLst>
          </p:cNvPr>
          <p:cNvSpPr>
            <a:spLocks noGrp="1"/>
          </p:cNvSpPr>
          <p:nvPr/>
        </p:nvSpPr>
        <p:spPr>
          <a:xfrm>
            <a:off x="5105400" y="2038350"/>
            <a:ext cx="2381250" cy="51435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5D8F49-AB83-49D8-BE31-4794DEBF9279}"/>
              </a:ext>
            </a:extLst>
          </p:cNvPr>
          <p:cNvSpPr>
            <a:spLocks noGrp="1"/>
          </p:cNvSpPr>
          <p:nvPr/>
        </p:nvSpPr>
        <p:spPr>
          <a:xfrm>
            <a:off x="5200650" y="21145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323CE0-1C8D-448D-B4BC-40C678904075}"/>
              </a:ext>
            </a:extLst>
          </p:cNvPr>
          <p:cNvSpPr>
            <a:spLocks noGrp="1"/>
          </p:cNvSpPr>
          <p:nvPr/>
        </p:nvSpPr>
        <p:spPr>
          <a:xfrm>
            <a:off x="7486650" y="2038350"/>
            <a:ext cx="2000250" cy="51435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CF6AD6-8B42-4501-890D-65C5E8FCD34A}"/>
              </a:ext>
            </a:extLst>
          </p:cNvPr>
          <p:cNvSpPr>
            <a:spLocks noGrp="1"/>
          </p:cNvSpPr>
          <p:nvPr/>
        </p:nvSpPr>
        <p:spPr>
          <a:xfrm>
            <a:off x="7581900" y="21145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38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8EAB59-193B-4104-8422-CA14442C3B10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491EC5-3324-40A9-8206-D1BE90EC8597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Benign detection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32D882-35DA-4A17-BD4A-DB1FDEA4CF7F}"/>
              </a:ext>
            </a:extLst>
          </p:cNvPr>
          <p:cNvSpPr>
            <a:spLocks noGrp="1"/>
          </p:cNvSpPr>
          <p:nvPr/>
        </p:nvSpPr>
        <p:spPr>
          <a:xfrm>
            <a:off x="2724150" y="25527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162B1C-64A7-4F70-934F-0FE1892070C5}"/>
              </a:ext>
            </a:extLst>
          </p:cNvPr>
          <p:cNvSpPr>
            <a:spLocks noGrp="1"/>
          </p:cNvSpPr>
          <p:nvPr/>
        </p:nvSpPr>
        <p:spPr>
          <a:xfrm>
            <a:off x="2819400" y="26289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1.00, FPR 0.00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03F050-B771-41F0-9C18-37CE8FCE96C0}"/>
              </a:ext>
            </a:extLst>
          </p:cNvPr>
          <p:cNvSpPr>
            <a:spLocks noGrp="1"/>
          </p:cNvSpPr>
          <p:nvPr/>
        </p:nvSpPr>
        <p:spPr>
          <a:xfrm>
            <a:off x="5105400" y="25527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96BA7BA-AA78-468A-846D-F07D600B91D6}"/>
              </a:ext>
            </a:extLst>
          </p:cNvPr>
          <p:cNvSpPr>
            <a:spLocks noGrp="1"/>
          </p:cNvSpPr>
          <p:nvPr/>
        </p:nvSpPr>
        <p:spPr>
          <a:xfrm>
            <a:off x="5200650" y="26289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0.80, FPR 0.00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4006B1-D68D-45C2-9D6C-ECE545F03615}"/>
              </a:ext>
            </a:extLst>
          </p:cNvPr>
          <p:cNvSpPr>
            <a:spLocks noGrp="1"/>
          </p:cNvSpPr>
          <p:nvPr/>
        </p:nvSpPr>
        <p:spPr>
          <a:xfrm>
            <a:off x="7486650" y="25527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5D3BD9-14DA-4FCA-AF0C-F3C6AD74EEC8}"/>
              </a:ext>
            </a:extLst>
          </p:cNvPr>
          <p:cNvSpPr>
            <a:spLocks noGrp="1"/>
          </p:cNvSpPr>
          <p:nvPr/>
        </p:nvSpPr>
        <p:spPr>
          <a:xfrm>
            <a:off x="7581900" y="26289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2C539D-2645-45F3-AEEF-A85B3B82EF76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2000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A80572-E9B7-48EB-B804-F1143A9F698F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quality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949C98-5E6C-4437-9DCE-9270BD411E58}"/>
              </a:ext>
            </a:extLst>
          </p:cNvPr>
          <p:cNvSpPr>
            <a:spLocks noGrp="1"/>
          </p:cNvSpPr>
          <p:nvPr/>
        </p:nvSpPr>
        <p:spPr>
          <a:xfrm>
            <a:off x="2724150" y="3067050"/>
            <a:ext cx="2381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D3C7F94-47FF-4FBE-9136-E6DBA8B8AB2A}"/>
              </a:ext>
            </a:extLst>
          </p:cNvPr>
          <p:cNvSpPr>
            <a:spLocks noGrp="1"/>
          </p:cNvSpPr>
          <p:nvPr/>
        </p:nvSpPr>
        <p:spPr>
          <a:xfrm>
            <a:off x="2819400" y="31432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5.36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FBD933-F6B4-44F4-9909-637F66E3BA3E}"/>
              </a:ext>
            </a:extLst>
          </p:cNvPr>
          <p:cNvSpPr>
            <a:spLocks noGrp="1"/>
          </p:cNvSpPr>
          <p:nvPr/>
        </p:nvSpPr>
        <p:spPr>
          <a:xfrm>
            <a:off x="5105400" y="3067050"/>
            <a:ext cx="2381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9457B8A-DF4D-4627-A611-EEE970B4F3EF}"/>
              </a:ext>
            </a:extLst>
          </p:cNvPr>
          <p:cNvSpPr>
            <a:spLocks noGrp="1"/>
          </p:cNvSpPr>
          <p:nvPr/>
        </p:nvSpPr>
        <p:spPr>
          <a:xfrm>
            <a:off x="5200650" y="31432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11.52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7C55A1-4488-4A32-B8C5-ED58ADCA5CBC}"/>
              </a:ext>
            </a:extLst>
          </p:cNvPr>
          <p:cNvSpPr>
            <a:spLocks noGrp="1"/>
          </p:cNvSpPr>
          <p:nvPr/>
        </p:nvSpPr>
        <p:spPr>
          <a:xfrm>
            <a:off x="7486650" y="3067050"/>
            <a:ext cx="2000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E560D40-DA7C-4485-8157-D767DD0DA704}"/>
              </a:ext>
            </a:extLst>
          </p:cNvPr>
          <p:cNvSpPr>
            <a:spLocks noGrp="1"/>
          </p:cNvSpPr>
          <p:nvPr/>
        </p:nvSpPr>
        <p:spPr>
          <a:xfrm>
            <a:off x="7581900" y="31432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985852-E0BF-4B08-8501-5462067E9DE4}"/>
              </a:ext>
            </a:extLst>
          </p:cNvPr>
          <p:cNvSpPr>
            <a:spLocks noGrp="1"/>
          </p:cNvSpPr>
          <p:nvPr/>
        </p:nvSpPr>
        <p:spPr>
          <a:xfrm>
            <a:off x="723900" y="35814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B27339D-4EFC-47EF-AEE6-3DBB3C151BD3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Hyperparameter stability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7F10D83-6D90-44B4-A58E-505221E3F205}"/>
              </a:ext>
            </a:extLst>
          </p:cNvPr>
          <p:cNvSpPr>
            <a:spLocks noGrp="1"/>
          </p:cNvSpPr>
          <p:nvPr/>
        </p:nvSpPr>
        <p:spPr>
          <a:xfrm>
            <a:off x="2724150" y="35814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A826B75-CD49-48D6-8FC0-10BFF0635101}"/>
              </a:ext>
            </a:extLst>
          </p:cNvPr>
          <p:cNvSpPr>
            <a:spLocks noGrp="1"/>
          </p:cNvSpPr>
          <p:nvPr/>
        </p:nvSpPr>
        <p:spPr>
          <a:xfrm>
            <a:off x="2819400" y="36576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sensitivity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28E374F-CA7E-4A9F-AE0A-848CC63FC7D9}"/>
              </a:ext>
            </a:extLst>
          </p:cNvPr>
          <p:cNvSpPr>
            <a:spLocks noGrp="1"/>
          </p:cNvSpPr>
          <p:nvPr/>
        </p:nvSpPr>
        <p:spPr>
          <a:xfrm>
            <a:off x="5105400" y="35814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23D116-9BFD-40F4-9E72-E63D6CDC2452}"/>
              </a:ext>
            </a:extLst>
          </p:cNvPr>
          <p:cNvSpPr>
            <a:spLocks noGrp="1"/>
          </p:cNvSpPr>
          <p:nvPr/>
        </p:nvSpPr>
        <p:spPr>
          <a:xfrm>
            <a:off x="5200650" y="36576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Sensitive to delta and gamma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07F0BA3-429B-4146-B4D3-A115580BA0DD}"/>
              </a:ext>
            </a:extLst>
          </p:cNvPr>
          <p:cNvSpPr>
            <a:spLocks noGrp="1"/>
          </p:cNvSpPr>
          <p:nvPr/>
        </p:nvSpPr>
        <p:spPr>
          <a:xfrm>
            <a:off x="7486650" y="35814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1E5C8C-278D-41CB-A083-047D33DD54CD}"/>
              </a:ext>
            </a:extLst>
          </p:cNvPr>
          <p:cNvSpPr>
            <a:spLocks noGrp="1"/>
          </p:cNvSpPr>
          <p:nvPr/>
        </p:nvSpPr>
        <p:spPr>
          <a:xfrm>
            <a:off x="7581900" y="36576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5FDA14-CB6E-40FA-86C1-769D3CEBEA53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000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0245795-DC06-4D1A-AA70-42FEE5EE97BE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Interpretability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B81A754-069F-424C-A511-3F58DB815B2B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2381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08AA6D1-3320-44E5-8883-D0301DA72678}"/>
              </a:ext>
            </a:extLst>
          </p:cNvPr>
          <p:cNvSpPr>
            <a:spLocks noGrp="1"/>
          </p:cNvSpPr>
          <p:nvPr/>
        </p:nvSpPr>
        <p:spPr>
          <a:xfrm>
            <a:off x="2819400" y="4171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Less intuitive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92EC2F8-F3DA-4FF2-B766-EC5BFD61D9EB}"/>
              </a:ext>
            </a:extLst>
          </p:cNvPr>
          <p:cNvSpPr>
            <a:spLocks noGrp="1"/>
          </p:cNvSpPr>
          <p:nvPr/>
        </p:nvSpPr>
        <p:spPr>
          <a:xfrm>
            <a:off x="5105400" y="4095750"/>
            <a:ext cx="2381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950C57-0F08-45D4-A1DB-0E222C06CDB6}"/>
              </a:ext>
            </a:extLst>
          </p:cNvPr>
          <p:cNvSpPr>
            <a:spLocks noGrp="1"/>
          </p:cNvSpPr>
          <p:nvPr/>
        </p:nvSpPr>
        <p:spPr>
          <a:xfrm>
            <a:off x="5200650" y="4171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Transparent green-list z-test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3B60138-F63D-48CE-8C49-0570866D2BFA}"/>
              </a:ext>
            </a:extLst>
          </p:cNvPr>
          <p:cNvSpPr>
            <a:spLocks noGrp="1"/>
          </p:cNvSpPr>
          <p:nvPr/>
        </p:nvSpPr>
        <p:spPr>
          <a:xfrm>
            <a:off x="7486650" y="4095750"/>
            <a:ext cx="2000250" cy="5143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3142B41-B4E2-49ED-82CD-2CA1ED326E06}"/>
              </a:ext>
            </a:extLst>
          </p:cNvPr>
          <p:cNvSpPr>
            <a:spLocks noGrp="1"/>
          </p:cNvSpPr>
          <p:nvPr/>
        </p:nvSpPr>
        <p:spPr>
          <a:xfrm>
            <a:off x="7581900" y="4171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A544CE4-322D-4844-88FA-4109E86E6A36}"/>
              </a:ext>
            </a:extLst>
          </p:cNvPr>
          <p:cNvSpPr>
            <a:spLocks noGrp="1"/>
          </p:cNvSpPr>
          <p:nvPr/>
        </p:nvSpPr>
        <p:spPr>
          <a:xfrm>
            <a:off x="723900" y="46101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C5DC94B-459D-496F-AA55-74E6CDF01BC0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7D58E62-DA76-4065-B5B2-EBF82EDDBF34}"/>
              </a:ext>
            </a:extLst>
          </p:cNvPr>
          <p:cNvSpPr>
            <a:spLocks noGrp="1"/>
          </p:cNvSpPr>
          <p:nvPr/>
        </p:nvSpPr>
        <p:spPr>
          <a:xfrm>
            <a:off x="2724150" y="46101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98F0AAB-2878-407B-BDB3-4E2D6F60CEBF}"/>
              </a:ext>
            </a:extLst>
          </p:cNvPr>
          <p:cNvSpPr>
            <a:spLocks noGrp="1"/>
          </p:cNvSpPr>
          <p:nvPr/>
        </p:nvSpPr>
        <p:spPr>
          <a:xfrm>
            <a:off x="2819400" y="46863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Fails under Word-S and Word-D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49E6A76-C2A0-467C-B6AD-406A8FA156C9}"/>
              </a:ext>
            </a:extLst>
          </p:cNvPr>
          <p:cNvSpPr>
            <a:spLocks noGrp="1"/>
          </p:cNvSpPr>
          <p:nvPr/>
        </p:nvSpPr>
        <p:spPr>
          <a:xfrm>
            <a:off x="5105400" y="46101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4C30AD7-8548-4118-9A85-AB8F52932B88}"/>
              </a:ext>
            </a:extLst>
          </p:cNvPr>
          <p:cNvSpPr>
            <a:spLocks noGrp="1"/>
          </p:cNvSpPr>
          <p:nvPr/>
        </p:nvSpPr>
        <p:spPr>
          <a:xfrm>
            <a:off x="5200650" y="46863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Fails, with tiny Word-D residue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98B9928-0F4B-4CBC-A34C-E9827324D2C6}"/>
              </a:ext>
            </a:extLst>
          </p:cNvPr>
          <p:cNvSpPr>
            <a:spLocks noGrp="1"/>
          </p:cNvSpPr>
          <p:nvPr/>
        </p:nvSpPr>
        <p:spPr>
          <a:xfrm>
            <a:off x="7486650" y="461010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76ACAE0-2E11-460C-99E1-8B21347E2013}"/>
              </a:ext>
            </a:extLst>
          </p:cNvPr>
          <p:cNvSpPr>
            <a:spLocks noGrp="1"/>
          </p:cNvSpPr>
          <p:nvPr/>
        </p:nvSpPr>
        <p:spPr>
          <a:xfrm>
            <a:off x="7581900" y="46863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Neither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1BEBC2F-D22D-45EB-BF1A-D0FB40970985}"/>
              </a:ext>
            </a:extLst>
          </p:cNvPr>
          <p:cNvSpPr>
            <a:spLocks noGrp="1"/>
          </p:cNvSpPr>
          <p:nvPr/>
        </p:nvSpPr>
        <p:spPr>
          <a:xfrm>
            <a:off x="9525000" y="2038350"/>
            <a:ext cx="142875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460366E-CE0E-4992-A256-3C6A008F98E9}"/>
              </a:ext>
            </a:extLst>
          </p:cNvPr>
          <p:cNvSpPr>
            <a:spLocks noGrp="1"/>
          </p:cNvSpPr>
          <p:nvPr/>
        </p:nvSpPr>
        <p:spPr>
          <a:xfrm>
            <a:off x="9525000" y="2038350"/>
            <a:ext cx="1428750" cy="57150"/>
          </a:xfrm>
          <a:prstGeom prst="rect">
            <a:avLst/>
          </a:prstGeom>
          <a:solidFill>
            <a:srgbClr val="B789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5734ED1-43D9-4B26-BE5F-5933B2783612}"/>
              </a:ext>
            </a:extLst>
          </p:cNvPr>
          <p:cNvSpPr>
            <a:spLocks noGrp="1"/>
          </p:cNvSpPr>
          <p:nvPr/>
        </p:nvSpPr>
        <p:spPr>
          <a:xfrm>
            <a:off x="9639300" y="23050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5E2C2CE-4D23-4B39-BB4C-0FAA369E989D}"/>
              </a:ext>
            </a:extLst>
          </p:cNvPr>
          <p:cNvSpPr>
            <a:spLocks noGrp="1"/>
          </p:cNvSpPr>
          <p:nvPr/>
        </p:nvSpPr>
        <p:spPr>
          <a:xfrm>
            <a:off x="9639300" y="2686050"/>
            <a:ext cx="1181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EXP when the threat model is benign provenance checking.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6FF5257-47E0-4E49-A203-4FF243652F71}"/>
              </a:ext>
            </a:extLst>
          </p:cNvPr>
          <p:cNvSpPr>
            <a:spLocks noGrp="1"/>
          </p:cNvSpPr>
          <p:nvPr/>
        </p:nvSpPr>
        <p:spPr>
          <a:xfrm>
            <a:off x="9639300" y="3543300"/>
            <a:ext cx="11811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KGW when interpretability and explicit tuning are priorities.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0E2173F-0071-44F3-BF17-CAD676FD5DE4}"/>
              </a:ext>
            </a:extLst>
          </p:cNvPr>
          <p:cNvSpPr>
            <a:spLocks noGrp="1"/>
          </p:cNvSpPr>
          <p:nvPr/>
        </p:nvSpPr>
        <p:spPr>
          <a:xfrm>
            <a:off x="9639300" y="449580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Use neither alone against paraphrasing.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C0397A6-491B-4B53-8209-1D5D09E529C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86C4E4B-5833-4EBA-97B1-A7B156F1C35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local paper, Table 7 and Section 5.5.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8D1F9DF-C5B9-49EF-AD5A-6791B151984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620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C51ADD3-67FB-4FC4-9DF0-16AB1B0680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079BA2-A104-4988-B62F-D2D071D8B359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3619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rPr>
              <a:t>Summary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A85A67-A4C0-4A74-B306-A45056AC1AE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85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DE3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3E8"/>
                </a:solidFill>
                <a:latin typeface="Aptos"/>
                <a:ea typeface="Aptos"/>
                <a:cs typeface="Aptos"/>
              </a:rPr>
              <a:t>The limiting challenge is robustness, not benign detection.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8E4378-0D49-469E-B852-C1B8D112C5E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714500" cy="19050"/>
          </a:xfrm>
          <a:prstGeom prst="rect">
            <a:avLst/>
          </a:prstGeom>
          <a:solidFill>
            <a:srgbClr val="B789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F8F378-3F61-498B-8392-7ADBC77D0BCA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552450" cy="552450"/>
          </a:xfrm>
          <a:prstGeom prst="rect">
            <a:avLst/>
          </a:prstGeom>
          <a:solidFill>
            <a:srgbClr val="245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070997-FF46-40FA-B3CD-3B66F6B52515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925EA5-B94D-47CB-A50C-0E5F4F1F12CD}"/>
              </a:ext>
            </a:extLst>
          </p:cNvPr>
          <p:cNvSpPr>
            <a:spLocks noGrp="1"/>
          </p:cNvSpPr>
          <p:nvPr/>
        </p:nvSpPr>
        <p:spPr>
          <a:xfrm>
            <a:off x="1524000" y="23241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EXP is stronger under benign conditions.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9D80ED-0340-4AFA-9841-1E27644FFB8C}"/>
              </a:ext>
            </a:extLst>
          </p:cNvPr>
          <p:cNvSpPr>
            <a:spLocks noGrp="1"/>
          </p:cNvSpPr>
          <p:nvPr/>
        </p:nvSpPr>
        <p:spPr>
          <a:xfrm>
            <a:off x="1524000" y="2686050"/>
            <a:ext cx="685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It reaches TPR 1.000 and FPR 0.000, with lower reported PPL than KGW.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6AC69-5ED0-4EE0-B8E2-FE34365B7357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552450" cy="552450"/>
          </a:xfrm>
          <a:prstGeom prst="rect">
            <a:avLst/>
          </a:prstGeom>
          <a:solidFill>
            <a:srgbClr val="2670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492DCE-6D02-4544-9034-5169DB915D46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E5A354-59DF-4FD9-8C7C-DA2EBA724058}"/>
              </a:ext>
            </a:extLst>
          </p:cNvPr>
          <p:cNvSpPr>
            <a:spLocks noGrp="1"/>
          </p:cNvSpPr>
          <p:nvPr/>
        </p:nvSpPr>
        <p:spPr>
          <a:xfrm>
            <a:off x="1524000" y="33147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KGW remains easier to interpret and tune.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1CC54C-2FE3-477C-8302-D0E5F47FC137}"/>
              </a:ext>
            </a:extLst>
          </p:cNvPr>
          <p:cNvSpPr>
            <a:spLocks noGrp="1"/>
          </p:cNvSpPr>
          <p:nvPr/>
        </p:nvSpPr>
        <p:spPr>
          <a:xfrm>
            <a:off x="1524000" y="3676650"/>
            <a:ext cx="685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Its green-list mechanism exposes a visible delta-gamma tradeoff, including signal dilution at gamma = 0.75.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F7A994-785B-4DE6-A69A-390019D8CE09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552450" cy="552450"/>
          </a:xfrm>
          <a:prstGeom prst="rect">
            <a:avLst/>
          </a:prstGeom>
          <a:solidFill>
            <a:srgbClr val="C763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F8917A-7ACA-4FEF-A758-C587C9AB4499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552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1761B1-A255-4AF6-8F26-D46DFC7F551E}"/>
              </a:ext>
            </a:extLst>
          </p:cNvPr>
          <p:cNvSpPr>
            <a:spLocks noGrp="1"/>
          </p:cNvSpPr>
          <p:nvPr/>
        </p:nvSpPr>
        <p:spPr>
          <a:xfrm>
            <a:off x="1524000" y="43053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Both token-level methods are fragile.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18D8AA-1A62-4C08-8C6D-328167417A98}"/>
              </a:ext>
            </a:extLst>
          </p:cNvPr>
          <p:cNvSpPr>
            <a:spLocks noGrp="1"/>
          </p:cNvSpPr>
          <p:nvPr/>
        </p:nvSpPr>
        <p:spPr>
          <a:xfrm>
            <a:off x="1524000" y="4667250"/>
            <a:ext cx="6858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Synonym substitution drops both methods to TPR 0.050; word deletion leaves no practical defense.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01480A-33E0-459F-90E9-44B5670937E7}"/>
              </a:ext>
            </a:extLst>
          </p:cNvPr>
          <p:cNvSpPr>
            <a:spLocks noGrp="1"/>
          </p:cNvSpPr>
          <p:nvPr/>
        </p:nvSpPr>
        <p:spPr>
          <a:xfrm>
            <a:off x="8667750" y="2343150"/>
            <a:ext cx="2095500" cy="2533650"/>
          </a:xfrm>
          <a:prstGeom prst="rect">
            <a:avLst/>
          </a:prstGeom>
          <a:solidFill>
            <a:srgbClr val="24313D"/>
          </a:solidFill>
          <a:ln w="9525">
            <a:solidFill>
              <a:srgbClr val="3B465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B8C2FD-8F9F-4AF7-89A7-175FF5F5CFC0}"/>
              </a:ext>
            </a:extLst>
          </p:cNvPr>
          <p:cNvSpPr>
            <a:spLocks noGrp="1"/>
          </p:cNvSpPr>
          <p:nvPr/>
        </p:nvSpPr>
        <p:spPr>
          <a:xfrm>
            <a:off x="8915400" y="26098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Next research direction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F58389-2564-4758-B79A-4EA45A82C700}"/>
              </a:ext>
            </a:extLst>
          </p:cNvPr>
          <p:cNvSpPr>
            <a:spLocks noGrp="1"/>
          </p:cNvSpPr>
          <p:nvPr/>
        </p:nvSpPr>
        <p:spPr>
          <a:xfrm>
            <a:off x="8915400" y="3276600"/>
            <a:ext cx="14668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3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3E8"/>
                </a:solidFill>
                <a:latin typeface="Aptos"/>
                <a:ea typeface="Aptos"/>
                <a:cs typeface="Aptos"/>
              </a:rPr>
              <a:t>Move beyond token identity toward semantic or structural watermark signals that survive meaning-preserving transformations.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FAE9B3-CB76-4AE2-A4EE-DE0FEA5A6AE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3641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921331-2566-4FDE-9DD3-4ACCD6F32EF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Source: local paper, Conclusion.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11F068-A328-4BB9-A8C6-9715107A207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7B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57016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Microsoft Office PowerPoint</Application>
  <DocSecurity>0</DocSecurity>
  <PresentationFormat>宽屏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.</cp:lastModifiedBy>
  <cp:revision>1</cp:revision>
  <dcterms:created xsi:type="dcterms:W3CDTF">2026-06-11T16:59:35Z</dcterms:created>
  <dcterms:modified xsi:type="dcterms:W3CDTF">2026-06-11T17:02:26Z</dcterms:modified>
</cp:coreProperties>
</file>